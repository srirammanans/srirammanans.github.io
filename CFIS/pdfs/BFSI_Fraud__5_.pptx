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6858000" cy="99472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337" cy="49872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5120" y="0"/>
            <a:ext cx="2971336" cy="49872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9448555"/>
            <a:ext cx="2971337" cy="49872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p1: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 name="Google Shape;58;p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2: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67" name="Google Shape;67;p2: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p3: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 name="Google Shape;75;p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81"/>
        <p:cNvGrpSpPr/>
        <p:nvPr/>
      </p:nvGrpSpPr>
      <p:grpSpPr>
        <a:xfrm>
          <a:off x="0" y="0"/>
          <a:ext cx="0" cy="0"/>
          <a:chOff x="0" y="0"/>
          <a:chExt cx="0" cy="0"/>
        </a:xfrm>
      </p:grpSpPr>
      <p:sp>
        <p:nvSpPr>
          <p:cNvPr id="82" name="Google Shape;82;p4: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 name="Google Shape;83;p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5: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 name="Google Shape;91;p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6: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 name="Google Shape;99;p6: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7: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 name="Google Shape;107;p7: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8: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5" name="Google Shape;115;p8: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9: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3" name="Google Shape;123;p9: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10: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1" name="Google Shape;131;p10: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11: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9" name="Google Shape;139;p1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p13: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7" name="Google Shape;147;p1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14: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1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15: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1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9" name="Shape 169"/>
        <p:cNvGrpSpPr/>
        <p:nvPr/>
      </p:nvGrpSpPr>
      <p:grpSpPr>
        <a:xfrm>
          <a:off x="0" y="0"/>
          <a:ext cx="0" cy="0"/>
          <a:chOff x="0" y="0"/>
          <a:chExt cx="0" cy="0"/>
        </a:xfrm>
      </p:grpSpPr>
      <p:sp>
        <p:nvSpPr>
          <p:cNvPr id="170" name="Google Shape;170;p16: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1" name="Google Shape;171;p16: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17: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9" name="Google Shape;179;p17: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8: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7" name="Google Shape;187;p18: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Google Shape;194;g8c80923173_0_0:notes"/>
          <p:cNvSpPr txBox="1"/>
          <p:nvPr>
            <p:ph type="body" idx="1"/>
          </p:nvPr>
        </p:nvSpPr>
        <p:spPr>
          <a:xfrm>
            <a:off x="685337" y="4787041"/>
            <a:ext cx="5487300" cy="3916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5" name="Google Shape;195;g8c80923173_0_0:notes"/>
          <p:cNvSpPr/>
          <p:nvPr>
            <p:ph type="sldImg" idx="2"/>
          </p:nvPr>
        </p:nvSpPr>
        <p:spPr>
          <a:xfrm>
            <a:off x="444500" y="1243013"/>
            <a:ext cx="5969100" cy="33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8" name="Google Shape;18;p2"/>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6" name="Shape 26"/>
        <p:cNvGrpSpPr/>
        <p:nvPr/>
      </p:nvGrpSpPr>
      <p:grpSpPr>
        <a:xfrm>
          <a:off x="0" y="0"/>
          <a:ext cx="0" cy="0"/>
          <a:chOff x="0" y="0"/>
          <a:chExt cx="0" cy="0"/>
        </a:xfrm>
      </p:grpSpPr>
      <p:sp>
        <p:nvSpPr>
          <p:cNvPr id="27" name="Google Shape;27;p4"/>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0" name="Shape 30"/>
        <p:cNvGrpSpPr/>
        <p:nvPr/>
      </p:nvGrpSpPr>
      <p:grpSpPr>
        <a:xfrm>
          <a:off x="0" y="0"/>
          <a:ext cx="0" cy="0"/>
          <a:chOff x="0" y="0"/>
          <a:chExt cx="0" cy="0"/>
        </a:xfrm>
      </p:grpSpPr>
      <p:sp>
        <p:nvSpPr>
          <p:cNvPr id="31" name="Google Shape;31;p5"/>
          <p:cNvSpPr txBox="1"/>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33" name="Google Shape;33;p5"/>
          <p:cNvSpPr txBox="1"/>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34" name="Google Shape;34;p5"/>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7" name="Shape 37"/>
        <p:cNvGrpSpPr/>
        <p:nvPr/>
      </p:nvGrpSpPr>
      <p:grpSpPr>
        <a:xfrm>
          <a:off x="0" y="0"/>
          <a:ext cx="0" cy="0"/>
          <a:chOff x="0" y="0"/>
          <a:chExt cx="0" cy="0"/>
        </a:xfrm>
      </p:grpSpPr>
      <p:sp>
        <p:nvSpPr>
          <p:cNvPr id="38" name="Google Shape;38;p6"/>
          <p:cNvSpPr txBox="1"/>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panose="020B0604020202020204"/>
              <a:buNone/>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560"/>
              </a:spcBef>
              <a:spcAft>
                <a:spcPts val="0"/>
              </a:spcAft>
              <a:buClr>
                <a:schemeClr val="dk1"/>
              </a:buClr>
              <a:buSzPts val="2800"/>
              <a:buFont typeface="Arial" panose="020B0604020202020204"/>
              <a:buNone/>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48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0" name="Google Shape;40;p6"/>
          <p:cNvSpPr txBox="1"/>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41" name="Google Shape;41;p6"/>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47" name="Google Shape;47;p7"/>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50" name="Shape 50"/>
        <p:cNvGrpSpPr/>
        <p:nvPr/>
      </p:nvGrpSpPr>
      <p:grpSpPr>
        <a:xfrm>
          <a:off x="0" y="0"/>
          <a:ext cx="0" cy="0"/>
          <a:chOff x="0" y="0"/>
          <a:chExt cx="0" cy="0"/>
        </a:xfrm>
      </p:grpSpPr>
      <p:sp>
        <p:nvSpPr>
          <p:cNvPr id="51" name="Google Shape;51;p8"/>
          <p:cNvSpPr txBox="1"/>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53" name="Google Shape;53;p8"/>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2000" b="1"/>
              <a:t>M.Sc. - Cyber Forensics &amp; Information Security</a:t>
            </a:r>
            <a:br>
              <a:rPr lang="en-IN" sz="1800"/>
            </a:br>
            <a:endParaRPr sz="1800"/>
          </a:p>
        </p:txBody>
      </p:sp>
      <p:sp>
        <p:nvSpPr>
          <p:cNvPr id="61" name="Google Shape;61;p9"/>
          <p:cNvSpPr txBox="1"/>
          <p:nvPr>
            <p:ph type="body" idx="1"/>
          </p:nvPr>
        </p:nvSpPr>
        <p:spPr>
          <a:xfrm>
            <a:off x="457200" y="849075"/>
            <a:ext cx="8229600" cy="41919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ctr" rtl="0">
              <a:lnSpc>
                <a:spcPct val="100000"/>
              </a:lnSpc>
              <a:spcBef>
                <a:spcPts val="360"/>
              </a:spcBef>
              <a:spcAft>
                <a:spcPts val="0"/>
              </a:spcAft>
              <a:buSzPts val="1800"/>
              <a:buNone/>
            </a:pPr>
            <a:r>
              <a:rPr lang="en-IN" sz="4000" b="1"/>
              <a:t>SESSION ON </a:t>
            </a:r>
            <a:endParaRPr lang="en-IN" sz="4000" b="1"/>
          </a:p>
          <a:p>
            <a:pPr marL="114300" lvl="0" indent="0" algn="ctr" rtl="0">
              <a:lnSpc>
                <a:spcPct val="100000"/>
              </a:lnSpc>
              <a:spcBef>
                <a:spcPts val="360"/>
              </a:spcBef>
              <a:spcAft>
                <a:spcPts val="0"/>
              </a:spcAft>
              <a:buSzPts val="1800"/>
              <a:buNone/>
            </a:pPr>
            <a:r>
              <a:rPr lang="en-IN" sz="4000" b="1"/>
              <a:t>BFSI FRAUDS &amp; COUNTERMEASURES</a:t>
            </a:r>
            <a:endParaRPr sz="4000" b="1"/>
          </a:p>
          <a:p>
            <a:pPr marL="114300" lvl="0" indent="0" algn="ctr" rtl="0">
              <a:lnSpc>
                <a:spcPct val="100000"/>
              </a:lnSpc>
              <a:spcBef>
                <a:spcPts val="360"/>
              </a:spcBef>
              <a:spcAft>
                <a:spcPts val="0"/>
              </a:spcAft>
              <a:buSzPts val="1800"/>
              <a:buNone/>
            </a:pPr>
            <a:endParaRPr sz="4000" b="1"/>
          </a:p>
          <a:p>
            <a:pPr marL="114300" lvl="0" indent="0" algn="l" rtl="0">
              <a:lnSpc>
                <a:spcPct val="100000"/>
              </a:lnSpc>
              <a:spcBef>
                <a:spcPts val="360"/>
              </a:spcBef>
              <a:spcAft>
                <a:spcPts val="0"/>
              </a:spcAft>
              <a:buSzPts val="1800"/>
              <a:buNone/>
            </a:pPr>
          </a:p>
          <a:p>
            <a:pPr marL="114300" lvl="0" indent="0" algn="l" rtl="0">
              <a:lnSpc>
                <a:spcPct val="100000"/>
              </a:lnSpc>
              <a:spcBef>
                <a:spcPts val="360"/>
              </a:spcBef>
              <a:spcAft>
                <a:spcPts val="0"/>
              </a:spcAft>
              <a:buSzPts val="1800"/>
              <a:buNone/>
            </a:pPr>
          </a:p>
          <a:p>
            <a:pPr marL="114300" lvl="0" indent="0" algn="l" rtl="0">
              <a:lnSpc>
                <a:spcPct val="100000"/>
              </a:lnSpc>
              <a:spcBef>
                <a:spcPts val="360"/>
              </a:spcBef>
              <a:spcAft>
                <a:spcPts val="0"/>
              </a:spcAft>
              <a:buSzPts val="1800"/>
              <a:buNone/>
            </a:pPr>
            <a:endParaRPr sz="1000" b="1"/>
          </a:p>
        </p:txBody>
      </p:sp>
      <p:sp>
        <p:nvSpPr>
          <p:cNvPr id="62" name="Google Shape;62;p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sp>
        <p:nvSpPr>
          <p:cNvPr id="69" name="Google Shape;69;p1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KNOW YOUR CUSTOMER – ANTI-MONEY LAUNDERING – COMBATING FINANCIAL TERRORISM</a:t>
            </a:r>
            <a:endParaRPr sz="1800"/>
          </a:p>
        </p:txBody>
      </p:sp>
      <p:sp>
        <p:nvSpPr>
          <p:cNvPr id="70" name="Google Shape;70;p10"/>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‘Know Your Customer’ (KYC) guidelines of the RBI </a:t>
            </a:r>
            <a:endParaRPr sz="1400" b="1"/>
          </a:p>
          <a:p>
            <a:pPr marL="114300" lvl="0" indent="0" algn="l" rtl="0">
              <a:lnSpc>
                <a:spcPct val="100000"/>
              </a:lnSpc>
              <a:spcBef>
                <a:spcPts val="360"/>
              </a:spcBef>
              <a:spcAft>
                <a:spcPts val="0"/>
              </a:spcAft>
              <a:buSzPts val="1800"/>
              <a:buNone/>
            </a:pPr>
            <a:endParaRPr sz="1400" b="1"/>
          </a:p>
          <a:p>
            <a:pPr marL="457200" lvl="0" indent="-342900" algn="l" rtl="0">
              <a:lnSpc>
                <a:spcPct val="100000"/>
              </a:lnSpc>
              <a:spcBef>
                <a:spcPts val="360"/>
              </a:spcBef>
              <a:spcAft>
                <a:spcPts val="0"/>
              </a:spcAft>
              <a:buClr>
                <a:schemeClr val="dk1"/>
              </a:buClr>
              <a:buSzPts val="1800"/>
              <a:buChar char="•"/>
            </a:pPr>
            <a:r>
              <a:rPr lang="en-IN" sz="1400"/>
              <a:t>In 2002, RBI directed all banks to comply with the procedure of ‘Know Your Customer’ (KYC) with respect to new and existing, domestic and non-resident customers. Strict adherence to these guidelines and the cash transaction norms by the banks has been stressed upon.</a:t>
            </a:r>
            <a:endParaRPr lang="en-IN" sz="1400"/>
          </a:p>
          <a:p>
            <a:pPr marL="457200" lvl="0" indent="-342900" algn="l" rtl="0">
              <a:lnSpc>
                <a:spcPct val="100000"/>
              </a:lnSpc>
              <a:spcBef>
                <a:spcPts val="360"/>
              </a:spcBef>
              <a:spcAft>
                <a:spcPts val="0"/>
              </a:spcAft>
              <a:buClr>
                <a:schemeClr val="dk1"/>
              </a:buClr>
              <a:buSzPts val="1800"/>
              <a:buChar char="•"/>
            </a:pPr>
            <a:r>
              <a:rPr lang="en-IN" sz="1400"/>
              <a:t>KYC establishes the identity and residential address of the customers by specified documentary evidence  </a:t>
            </a:r>
            <a:endParaRPr lang="en-IN" sz="1400"/>
          </a:p>
          <a:p>
            <a:pPr marL="114300" lvl="0" indent="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r>
              <a:rPr lang="en-IN" sz="1400" b="1"/>
              <a:t>Motives for KYC/AML/CFT Guidelines</a:t>
            </a:r>
            <a:r>
              <a:rPr lang="en-IN" sz="1200" b="1"/>
              <a:t>:</a:t>
            </a:r>
            <a:endParaRPr lang="en-IN" sz="1200" b="1"/>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400"/>
              <a:t>To prevent banks from being used, intentionally or unintentionally, by criminal elements for money laundering or terrorist financing activities</a:t>
            </a:r>
            <a:endParaRPr lang="en-IN" sz="1400"/>
          </a:p>
          <a:p>
            <a:pPr marL="457200" lvl="0" indent="-342900" algn="l" rtl="0">
              <a:lnSpc>
                <a:spcPct val="100000"/>
              </a:lnSpc>
              <a:spcBef>
                <a:spcPts val="360"/>
              </a:spcBef>
              <a:spcAft>
                <a:spcPts val="0"/>
              </a:spcAft>
              <a:buSzPts val="1800"/>
              <a:buChar char="•"/>
            </a:pPr>
            <a:r>
              <a:rPr lang="en-IN" sz="1400"/>
              <a:t>To know/understand the customers and their financial dealings better, which in turn help managing the risks prudently</a:t>
            </a:r>
            <a:endParaRPr lang="en-IN" sz="1400"/>
          </a:p>
          <a:p>
            <a:pPr marL="457200" lvl="0" indent="-342900" algn="l" rtl="0">
              <a:lnSpc>
                <a:spcPct val="100000"/>
              </a:lnSpc>
              <a:spcBef>
                <a:spcPts val="360"/>
              </a:spcBef>
              <a:spcAft>
                <a:spcPts val="0"/>
              </a:spcAft>
              <a:buSzPts val="1800"/>
              <a:buChar char="•"/>
            </a:pPr>
            <a:r>
              <a:rPr lang="en-IN" sz="1400"/>
              <a:t>To implement the recommendations proposed by the Financial Action Task Force (FATF) on Anti Money Laundering (AML) standards and Combating Financing of Terrorism (CFT)</a:t>
            </a:r>
            <a:endParaRPr lang="en-IN" sz="1400"/>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71" name="Google Shape;71;p1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6" name="Shape 76"/>
        <p:cNvGrpSpPr/>
        <p:nvPr/>
      </p:nvGrpSpPr>
      <p:grpSpPr>
        <a:xfrm>
          <a:off x="0" y="0"/>
          <a:ext cx="0" cy="0"/>
          <a:chOff x="0" y="0"/>
          <a:chExt cx="0" cy="0"/>
        </a:xfrm>
      </p:grpSpPr>
      <p:sp>
        <p:nvSpPr>
          <p:cNvPr id="77" name="Google Shape;77;p1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78" name="Google Shape;78;p11"/>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IN" sz="1400"/>
              <a:t>The Financial Action Task Force (FATF) is an inter-governmental body established in 1989 by the Ministers of its Member jurisdictions.  The objectives of the FATF are to set standards and promote effective implementation of legal, regulatory and operational measures for combating money laundering, terrorist financing and other related threats to the integrity of the international financial system.  The FATF is therefore a “policy-making body” which works to generate the necessary political will to bring about national legislative and regulatory reforms in these areas.</a:t>
            </a:r>
            <a:endParaRPr sz="1400"/>
          </a:p>
          <a:p>
            <a:pPr marL="457200" lvl="0" indent="-342900" algn="l" rtl="0">
              <a:lnSpc>
                <a:spcPct val="100000"/>
              </a:lnSpc>
              <a:spcBef>
                <a:spcPts val="360"/>
              </a:spcBef>
              <a:spcAft>
                <a:spcPts val="0"/>
              </a:spcAft>
              <a:buClr>
                <a:schemeClr val="dk1"/>
              </a:buClr>
              <a:buSzPts val="1800"/>
              <a:buChar char="•"/>
            </a:pPr>
            <a:r>
              <a:rPr lang="en-IN" sz="1400"/>
              <a:t>The FATF has developed a series of Recommendations that are recognised as the international standard for combating of money laundering and the financing of terrorism and proliferation of weapons of mass destruction.  They form the basis for a co-ordinated response to these threats to the integrity of the financial system and help ensure a level playing field.  First issued in 1990, the FATF Recommendations were revised in 1996, 2001, 2003 and most recently in 2012 to ensure that they remain up to date and relevant, and they are intended to be of universal application.</a:t>
            </a:r>
            <a:endParaRPr lang="en-IN" sz="1400"/>
          </a:p>
          <a:p>
            <a:pPr marL="457200" lvl="0" indent="-342900" algn="l" rtl="0">
              <a:lnSpc>
                <a:spcPct val="100000"/>
              </a:lnSpc>
              <a:spcBef>
                <a:spcPts val="360"/>
              </a:spcBef>
              <a:spcAft>
                <a:spcPts val="0"/>
              </a:spcAft>
              <a:buClr>
                <a:schemeClr val="dk1"/>
              </a:buClr>
              <a:buSzPts val="1800"/>
              <a:buChar char="•"/>
            </a:pPr>
            <a:r>
              <a:rPr lang="en-IN" sz="1400"/>
              <a:t>The FATF monitors the progress of its members in implementing necessary measures, reviews money laundering and terrorist financing techniques and counter-measures, and promotes the adoption and implementation of appropriate measures globally.  In collaboration with other international stakeholders, the FATF works to identify national-level vulnerabilities with the aim of protecting the international financial system from misuse.</a:t>
            </a:r>
            <a:endParaRPr sz="1400"/>
          </a:p>
          <a:p>
            <a:pPr marL="457200" lvl="0" indent="-342900" algn="l" rtl="0">
              <a:lnSpc>
                <a:spcPct val="100000"/>
              </a:lnSpc>
              <a:spcBef>
                <a:spcPts val="360"/>
              </a:spcBef>
              <a:spcAft>
                <a:spcPts val="0"/>
              </a:spcAft>
              <a:buClr>
                <a:schemeClr val="dk1"/>
              </a:buClr>
              <a:buSzPts val="1800"/>
              <a:buChar char="•"/>
            </a:pPr>
            <a:r>
              <a:rPr lang="en-IN" sz="1400"/>
              <a:t>FATF Headquarter is in Paris, France.</a:t>
            </a:r>
            <a:endParaRPr lang="en-IN" sz="1400"/>
          </a:p>
          <a:p>
            <a:pPr marL="457200" lvl="0" indent="-228600" algn="l" rtl="0">
              <a:lnSpc>
                <a:spcPct val="100000"/>
              </a:lnSpc>
              <a:spcBef>
                <a:spcPts val="360"/>
              </a:spcBef>
              <a:spcAft>
                <a:spcPts val="0"/>
              </a:spcAft>
              <a:buClr>
                <a:schemeClr val="dk1"/>
              </a:buClr>
              <a:buSzPts val="1800"/>
              <a:buNone/>
            </a:pPr>
            <a:endParaRPr sz="1400"/>
          </a:p>
          <a:p>
            <a:pPr marL="457200" lvl="0" indent="-228600" algn="l" rtl="0">
              <a:lnSpc>
                <a:spcPct val="100000"/>
              </a:lnSpc>
              <a:spcBef>
                <a:spcPts val="360"/>
              </a:spcBef>
              <a:spcAft>
                <a:spcPts val="0"/>
              </a:spcAft>
              <a:buSzPts val="1800"/>
              <a:buNone/>
            </a:pPr>
            <a:endParaRPr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p>
        </p:txBody>
      </p:sp>
      <p:sp>
        <p:nvSpPr>
          <p:cNvPr id="79" name="Google Shape;79;p1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4" name="Shape 84"/>
        <p:cNvGrpSpPr/>
        <p:nvPr/>
      </p:nvGrpSpPr>
      <p:grpSpPr>
        <a:xfrm>
          <a:off x="0" y="0"/>
          <a:ext cx="0" cy="0"/>
          <a:chOff x="0" y="0"/>
          <a:chExt cx="0" cy="0"/>
        </a:xfrm>
      </p:grpSpPr>
      <p:sp>
        <p:nvSpPr>
          <p:cNvPr id="85" name="Google Shape;85;p1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86" name="Google Shape;86;p12"/>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Member Countries</a:t>
            </a:r>
            <a:endParaRPr sz="1400"/>
          </a:p>
          <a:p>
            <a:pPr marL="457200" lvl="0" indent="-342900" algn="l" rtl="0">
              <a:lnSpc>
                <a:spcPct val="100000"/>
              </a:lnSpc>
              <a:spcBef>
                <a:spcPts val="360"/>
              </a:spcBef>
              <a:spcAft>
                <a:spcPts val="0"/>
              </a:spcAft>
              <a:buSzPts val="1800"/>
              <a:buFont typeface="Noto Sans Symbols"/>
              <a:buChar char="❑"/>
            </a:pPr>
            <a:r>
              <a:rPr lang="en-IN" sz="1400"/>
              <a:t>       Asia/Pacific Group on Money Laundering (APG)</a:t>
            </a:r>
            <a:endParaRPr lang="en-IN" sz="1400"/>
          </a:p>
          <a:p>
            <a:pPr marL="457200" lvl="0" indent="-342900" algn="l" rtl="0">
              <a:lnSpc>
                <a:spcPct val="100000"/>
              </a:lnSpc>
              <a:spcBef>
                <a:spcPts val="360"/>
              </a:spcBef>
              <a:spcAft>
                <a:spcPts val="0"/>
              </a:spcAft>
              <a:buSzPts val="1800"/>
              <a:buFont typeface="Noto Sans Symbols"/>
              <a:buChar char="❑"/>
            </a:pPr>
            <a:r>
              <a:rPr lang="en-IN" sz="1400"/>
              <a:t>       Caribbean </a:t>
            </a:r>
            <a:r>
              <a:rPr lang="en-IN" sz="1400" b="1"/>
              <a:t>Financial Action Task Force</a:t>
            </a:r>
            <a:r>
              <a:rPr lang="en-IN" sz="1400"/>
              <a:t> (CFATF)</a:t>
            </a:r>
            <a:endParaRPr lang="en-IN" sz="1400"/>
          </a:p>
          <a:p>
            <a:pPr marL="457200" lvl="0" indent="-342900" algn="l" rtl="0">
              <a:lnSpc>
                <a:spcPct val="100000"/>
              </a:lnSpc>
              <a:spcBef>
                <a:spcPts val="360"/>
              </a:spcBef>
              <a:spcAft>
                <a:spcPts val="0"/>
              </a:spcAft>
              <a:buSzPts val="1800"/>
              <a:buFont typeface="Noto Sans Symbols"/>
              <a:buChar char="❑"/>
            </a:pPr>
            <a:r>
              <a:rPr lang="en-IN" sz="1400"/>
              <a:t>       Eastern and Southern Africa Anti-Money Laundering Group (ESAAMLG)</a:t>
            </a:r>
            <a:endParaRPr lang="en-IN" sz="1400"/>
          </a:p>
          <a:p>
            <a:pPr marL="457200" lvl="0" indent="-342900" algn="l" rtl="0">
              <a:lnSpc>
                <a:spcPct val="100000"/>
              </a:lnSpc>
              <a:spcBef>
                <a:spcPts val="360"/>
              </a:spcBef>
              <a:spcAft>
                <a:spcPts val="0"/>
              </a:spcAft>
              <a:buSzPts val="1800"/>
              <a:buFont typeface="Noto Sans Symbols"/>
              <a:buChar char="❑"/>
            </a:pPr>
            <a:r>
              <a:rPr lang="en-IN" sz="1400"/>
              <a:t>       Eurasian Group (EAG)</a:t>
            </a:r>
            <a:endParaRPr sz="1400"/>
          </a:p>
          <a:p>
            <a:pPr marL="457200" lvl="0" indent="-342900" algn="l" rtl="0">
              <a:lnSpc>
                <a:spcPct val="100000"/>
              </a:lnSpc>
              <a:spcBef>
                <a:spcPts val="360"/>
              </a:spcBef>
              <a:spcAft>
                <a:spcPts val="0"/>
              </a:spcAft>
              <a:buSzPts val="1800"/>
              <a:buFont typeface="Noto Sans Symbols"/>
              <a:buChar char="❑"/>
            </a:pPr>
            <a:r>
              <a:rPr lang="en-IN" sz="1400"/>
              <a:t>       There are 37 countries and 2 more Regional Centres</a:t>
            </a:r>
            <a:endParaRPr lang="en-IN" sz="1400"/>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Font typeface="Noto Sans Symbols"/>
              <a:buChar char="❖"/>
            </a:pPr>
            <a:r>
              <a:rPr lang="en-IN" sz="1400"/>
              <a:t>India was an observer from 2006 and only admitted as a member in June 2010.  </a:t>
            </a:r>
            <a:endParaRPr lang="en-IN" sz="1400"/>
          </a:p>
          <a:p>
            <a:pPr marL="457200" lvl="0" indent="-228600" algn="l" rtl="0">
              <a:lnSpc>
                <a:spcPct val="100000"/>
              </a:lnSpc>
              <a:spcBef>
                <a:spcPts val="360"/>
              </a:spcBef>
              <a:spcAft>
                <a:spcPts val="0"/>
              </a:spcAft>
              <a:buSzPts val="1800"/>
              <a:buFont typeface="Noto Sans Symbols"/>
              <a:buNone/>
            </a:pPr>
            <a:endParaRPr sz="1400"/>
          </a:p>
          <a:p>
            <a:pPr marL="457200" lvl="0" indent="-342900" algn="l" rtl="0">
              <a:lnSpc>
                <a:spcPct val="100000"/>
              </a:lnSpc>
              <a:spcBef>
                <a:spcPts val="360"/>
              </a:spcBef>
              <a:spcAft>
                <a:spcPts val="0"/>
              </a:spcAft>
              <a:buSzPts val="1800"/>
              <a:buFont typeface="Noto Sans Symbols"/>
              <a:buChar char="❖"/>
            </a:pPr>
            <a:r>
              <a:rPr lang="en-IN" sz="1400"/>
              <a:t>There were around 40 Recommendations and further more too.</a:t>
            </a:r>
            <a:endParaRPr lang="en-IN" sz="1400"/>
          </a:p>
          <a:p>
            <a:pPr marL="457200" lvl="0" indent="-228600" algn="l" rtl="0">
              <a:lnSpc>
                <a:spcPct val="100000"/>
              </a:lnSpc>
              <a:spcBef>
                <a:spcPts val="360"/>
              </a:spcBef>
              <a:spcAft>
                <a:spcPts val="0"/>
              </a:spcAft>
              <a:buClr>
                <a:schemeClr val="dk1"/>
              </a:buClr>
              <a:buSzPts val="1800"/>
              <a:buNone/>
            </a:pPr>
            <a:endParaRPr sz="1400"/>
          </a:p>
          <a:p>
            <a:pPr marL="457200" lvl="0" indent="-228600" algn="l" rtl="0">
              <a:lnSpc>
                <a:spcPct val="100000"/>
              </a:lnSpc>
              <a:spcBef>
                <a:spcPts val="360"/>
              </a:spcBef>
              <a:spcAft>
                <a:spcPts val="0"/>
              </a:spcAft>
              <a:buSzPts val="1800"/>
              <a:buNone/>
            </a:pPr>
            <a:endParaRPr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p>
        </p:txBody>
      </p:sp>
      <p:sp>
        <p:nvSpPr>
          <p:cNvPr id="87" name="Google Shape;87;p1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94" name="Google Shape;94;p13"/>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Certain Recommendations</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To implement the recommendations on Customer Due Diligence (CDD) for the bank by the Basel Committee on Banking Supervision</a:t>
            </a:r>
            <a:endParaRPr sz="1400"/>
          </a:p>
          <a:p>
            <a:pPr marL="457200" lvl="0" indent="-342900" algn="l" rtl="0">
              <a:lnSpc>
                <a:spcPct val="100000"/>
              </a:lnSpc>
              <a:spcBef>
                <a:spcPts val="360"/>
              </a:spcBef>
              <a:spcAft>
                <a:spcPts val="0"/>
              </a:spcAft>
              <a:buSzPts val="1800"/>
              <a:buChar char="•"/>
            </a:pPr>
            <a:r>
              <a:rPr lang="en-IN" sz="1400"/>
              <a:t>Ultimately to ensure that the Bank is not used as a tool, knowingly or unknowingly, for money laundering and terrorist financing </a:t>
            </a:r>
            <a:endParaRPr lang="en-IN" sz="1400"/>
          </a:p>
          <a:p>
            <a:pPr marL="457200" lvl="0" indent="-342900" algn="l" rtl="0">
              <a:lnSpc>
                <a:spcPct val="100000"/>
              </a:lnSpc>
              <a:spcBef>
                <a:spcPts val="360"/>
              </a:spcBef>
              <a:spcAft>
                <a:spcPts val="0"/>
              </a:spcAft>
              <a:buSzPts val="1800"/>
              <a:buChar char="•"/>
            </a:pPr>
            <a:r>
              <a:rPr lang="en-IN" sz="1400"/>
              <a:t>To understand the level of risk each account/transaction bears and ways to manage them </a:t>
            </a:r>
            <a:endParaRPr lang="en-IN" sz="1400"/>
          </a:p>
          <a:p>
            <a:pPr marL="457200" lvl="0" indent="-342900" algn="l" rtl="0">
              <a:lnSpc>
                <a:spcPct val="100000"/>
              </a:lnSpc>
              <a:spcBef>
                <a:spcPts val="360"/>
              </a:spcBef>
              <a:spcAft>
                <a:spcPts val="0"/>
              </a:spcAft>
              <a:buSzPts val="1800"/>
              <a:buChar char="•"/>
            </a:pPr>
            <a:r>
              <a:rPr lang="en-IN" sz="1400"/>
              <a:t>To manage the risk aligned with each account and each customer and thereby safeguard the reputation of the Bank </a:t>
            </a:r>
            <a:endParaRPr lang="en-IN" sz="1400"/>
          </a:p>
          <a:p>
            <a:pPr marL="457200" lvl="0" indent="-342900" algn="l" rtl="0">
              <a:lnSpc>
                <a:spcPct val="100000"/>
              </a:lnSpc>
              <a:spcBef>
                <a:spcPts val="360"/>
              </a:spcBef>
              <a:spcAft>
                <a:spcPts val="0"/>
              </a:spcAft>
              <a:buSzPts val="1800"/>
              <a:buChar char="•"/>
            </a:pPr>
            <a:r>
              <a:rPr lang="en-IN" sz="1400"/>
              <a:t>To know and understand its customers fully </a:t>
            </a:r>
            <a:r>
              <a:rPr lang="en-IN" sz="1400" b="1"/>
              <a:t>in terms of identity and activity </a:t>
            </a:r>
            <a:r>
              <a:rPr lang="en-IN" sz="1400"/>
              <a:t>in order to establish the credentials of the customer for extending better service</a:t>
            </a:r>
            <a:endParaRPr lang="en-IN" sz="1400"/>
          </a:p>
          <a:p>
            <a:pPr marL="114300" lvl="0" indent="0" algn="l" rtl="0">
              <a:lnSpc>
                <a:spcPct val="100000"/>
              </a:lnSpc>
              <a:spcBef>
                <a:spcPts val="360"/>
              </a:spcBef>
              <a:spcAft>
                <a:spcPts val="0"/>
              </a:spcAft>
              <a:buSzPts val="1800"/>
              <a:buNone/>
            </a:pPr>
          </a:p>
        </p:txBody>
      </p:sp>
      <p:sp>
        <p:nvSpPr>
          <p:cNvPr id="95" name="Google Shape;95;p1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14"/>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02" name="Google Shape;102;p14"/>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r>
              <a:rPr lang="en-IN" sz="1400" b="1"/>
              <a:t>General Guidelines</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To maintain confidentiality of details</a:t>
            </a:r>
            <a:endParaRPr lang="en-IN" sz="1400"/>
          </a:p>
          <a:p>
            <a:pPr marL="457200" lvl="0" indent="-342900" algn="l" rtl="0">
              <a:lnSpc>
                <a:spcPct val="100000"/>
              </a:lnSpc>
              <a:spcBef>
                <a:spcPts val="360"/>
              </a:spcBef>
              <a:spcAft>
                <a:spcPts val="0"/>
              </a:spcAft>
              <a:buSzPts val="1800"/>
              <a:buChar char="•"/>
            </a:pPr>
            <a:r>
              <a:rPr lang="en-IN" sz="1400"/>
              <a:t>To upkeep customer confidentiality, and not utilise their details for cross-selling without their consent</a:t>
            </a:r>
            <a:endParaRPr lang="en-IN" sz="1400"/>
          </a:p>
          <a:p>
            <a:pPr marL="457200" lvl="0" indent="-342900" algn="l" rtl="0">
              <a:lnSpc>
                <a:spcPct val="100000"/>
              </a:lnSpc>
              <a:spcBef>
                <a:spcPts val="360"/>
              </a:spcBef>
              <a:spcAft>
                <a:spcPts val="0"/>
              </a:spcAft>
              <a:buSzPts val="1800"/>
              <a:buChar char="•"/>
            </a:pPr>
            <a:r>
              <a:rPr lang="en-IN" sz="1400"/>
              <a:t>To refrain from asking intrusive or unwarranted questions</a:t>
            </a:r>
            <a:endParaRPr lang="en-IN" sz="1400"/>
          </a:p>
          <a:p>
            <a:pPr marL="457200" lvl="0" indent="-342900" algn="l" rtl="0">
              <a:lnSpc>
                <a:spcPct val="100000"/>
              </a:lnSpc>
              <a:spcBef>
                <a:spcPts val="360"/>
              </a:spcBef>
              <a:spcAft>
                <a:spcPts val="0"/>
              </a:spcAft>
              <a:buSzPts val="1800"/>
              <a:buChar char="•"/>
            </a:pPr>
            <a:r>
              <a:rPr lang="en-IN" sz="1400"/>
              <a:t>To refrain from accepting cash of INR 50,000 and above for remittances/issue of DD </a:t>
            </a:r>
            <a:endParaRPr lang="en-IN" sz="1400"/>
          </a:p>
          <a:p>
            <a:pPr marL="457200" lvl="0" indent="-342900" algn="l" rtl="0">
              <a:lnSpc>
                <a:spcPct val="100000"/>
              </a:lnSpc>
              <a:spcBef>
                <a:spcPts val="360"/>
              </a:spcBef>
              <a:spcAft>
                <a:spcPts val="0"/>
              </a:spcAft>
              <a:buSzPts val="1800"/>
              <a:buChar char="•"/>
            </a:pPr>
            <a:r>
              <a:rPr lang="en-IN" sz="1400"/>
              <a:t>To refrain from making payments of cheques/drafts/pay orders/banker’s cheques if they are presented beyond the period of three months from the date of issue</a:t>
            </a:r>
            <a:endParaRPr lang="en-IN" sz="1400"/>
          </a:p>
          <a:p>
            <a:pPr marL="457200" lvl="0" indent="-342900" algn="l" rtl="0">
              <a:lnSpc>
                <a:spcPct val="100000"/>
              </a:lnSpc>
              <a:spcBef>
                <a:spcPts val="360"/>
              </a:spcBef>
              <a:spcAft>
                <a:spcPts val="0"/>
              </a:spcAft>
              <a:buSzPts val="1800"/>
              <a:buChar char="•"/>
            </a:pPr>
            <a:r>
              <a:rPr lang="en-IN" sz="1400"/>
              <a:t>Provisions of Foreign Contribution (Regulation) Act, 2010, wherever applicable </a:t>
            </a:r>
            <a:endParaRPr sz="1400"/>
          </a:p>
          <a:p>
            <a:pPr marL="114300" lvl="0" indent="0" algn="l" rtl="0">
              <a:lnSpc>
                <a:spcPct val="100000"/>
              </a:lnSpc>
              <a:spcBef>
                <a:spcPts val="360"/>
              </a:spcBef>
              <a:spcAft>
                <a:spcPts val="0"/>
              </a:spcAft>
              <a:buSzPts val="1800"/>
              <a:buNone/>
            </a:pPr>
          </a:p>
        </p:txBody>
      </p:sp>
      <p:sp>
        <p:nvSpPr>
          <p:cNvPr id="103" name="Google Shape;103;p1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10" name="Google Shape;110;p15"/>
          <p:cNvSpPr txBox="1"/>
          <p:nvPr>
            <p:ph type="body" idx="1"/>
          </p:nvPr>
        </p:nvSpPr>
        <p:spPr>
          <a:xfrm>
            <a:off x="457200" y="643799"/>
            <a:ext cx="8229600" cy="44997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Guidelines on refusal of account opening</a:t>
            </a:r>
            <a:endParaRPr lang="en-IN" sz="1400" b="1"/>
          </a:p>
          <a:p>
            <a:pPr marL="457200" lvl="0" indent="-342900" algn="l" rtl="0">
              <a:lnSpc>
                <a:spcPct val="100000"/>
              </a:lnSpc>
              <a:spcBef>
                <a:spcPts val="360"/>
              </a:spcBef>
              <a:spcAft>
                <a:spcPts val="0"/>
              </a:spcAft>
              <a:buSzPts val="1800"/>
              <a:buChar char="•"/>
            </a:pPr>
            <a:r>
              <a:rPr lang="en-IN" sz="1400"/>
              <a:t>The account is opened under an anonymous or fictitious name. The prospective customer is uncooperative and unreliable in terms of data/information provided to the bank </a:t>
            </a:r>
            <a:endParaRPr sz="1400"/>
          </a:p>
          <a:p>
            <a:pPr marL="457200" lvl="0" indent="-342900" algn="l" rtl="0">
              <a:lnSpc>
                <a:spcPct val="100000"/>
              </a:lnSpc>
              <a:spcBef>
                <a:spcPts val="360"/>
              </a:spcBef>
              <a:spcAft>
                <a:spcPts val="0"/>
              </a:spcAft>
              <a:buSzPts val="1800"/>
              <a:buChar char="•"/>
            </a:pPr>
            <a:r>
              <a:rPr lang="en-IN" sz="1400"/>
              <a:t>The prospective customer matches a person with known criminal activity or background </a:t>
            </a:r>
            <a:endParaRPr sz="1400"/>
          </a:p>
          <a:p>
            <a:pPr marL="457200" lvl="0" indent="-342900" algn="l" rtl="0">
              <a:lnSpc>
                <a:spcPct val="100000"/>
              </a:lnSpc>
              <a:spcBef>
                <a:spcPts val="360"/>
              </a:spcBef>
              <a:spcAft>
                <a:spcPts val="0"/>
              </a:spcAft>
              <a:buSzPts val="1800"/>
              <a:buChar char="•"/>
            </a:pPr>
            <a:r>
              <a:rPr lang="en-IN" sz="1400"/>
              <a:t>The prospective customer matches with a person who is engaged in banned entities or terrorist Organisations</a:t>
            </a:r>
            <a:endParaRPr sz="1400"/>
          </a:p>
          <a:p>
            <a:pPr marL="114300" lvl="0" indent="0" algn="l" rtl="0">
              <a:lnSpc>
                <a:spcPct val="100000"/>
              </a:lnSpc>
              <a:spcBef>
                <a:spcPts val="360"/>
              </a:spcBef>
              <a:spcAft>
                <a:spcPts val="0"/>
              </a:spcAft>
              <a:buSzPts val="1800"/>
              <a:buNone/>
            </a:pPr>
            <a:r>
              <a:rPr lang="en-IN" sz="1400" b="1"/>
              <a:t>Unique Customer ID</a:t>
            </a:r>
            <a:endParaRPr lang="en-IN" sz="1400" b="1"/>
          </a:p>
          <a:p>
            <a:pPr marL="457200" lvl="0" indent="-342900" algn="l" rtl="0">
              <a:lnSpc>
                <a:spcPct val="100000"/>
              </a:lnSpc>
              <a:spcBef>
                <a:spcPts val="360"/>
              </a:spcBef>
              <a:spcAft>
                <a:spcPts val="0"/>
              </a:spcAft>
              <a:buSzPts val="1800"/>
              <a:buChar char="•"/>
            </a:pPr>
            <a:r>
              <a:rPr lang="en-IN" sz="1400"/>
              <a:t>The increasing complexity and volume of financial transactions necessitate that customers do not have multiple identities within a bank</a:t>
            </a:r>
            <a:endParaRPr sz="1400"/>
          </a:p>
          <a:p>
            <a:pPr marL="457200" lvl="0" indent="-342900" algn="l" rtl="0">
              <a:lnSpc>
                <a:spcPct val="100000"/>
              </a:lnSpc>
              <a:spcBef>
                <a:spcPts val="360"/>
              </a:spcBef>
              <a:spcAft>
                <a:spcPts val="0"/>
              </a:spcAft>
              <a:buSzPts val="1800"/>
              <a:buChar char="•"/>
            </a:pPr>
            <a:r>
              <a:rPr lang="en-IN" sz="1400"/>
              <a:t>The Unique Customer Identification Code (UCIC) will help banks to identify customers, track the facilities availed, monitor financial transactions </a:t>
            </a:r>
            <a:endParaRPr sz="1400"/>
          </a:p>
          <a:p>
            <a:pPr marL="457200" lvl="0" indent="-342900" algn="l" rtl="0">
              <a:lnSpc>
                <a:spcPct val="100000"/>
              </a:lnSpc>
              <a:spcBef>
                <a:spcPts val="360"/>
              </a:spcBef>
              <a:spcAft>
                <a:spcPts val="0"/>
              </a:spcAft>
              <a:buSzPts val="1800"/>
              <a:buChar char="•"/>
            </a:pPr>
            <a:r>
              <a:rPr lang="en-IN" sz="1400"/>
              <a:t>It would enable the bank to have a better approach to risk profiling of customers </a:t>
            </a:r>
            <a:endParaRPr sz="1400"/>
          </a:p>
          <a:p>
            <a:pPr marL="457200" lvl="0" indent="-342900" algn="l" rtl="0">
              <a:lnSpc>
                <a:spcPct val="100000"/>
              </a:lnSpc>
              <a:spcBef>
                <a:spcPts val="360"/>
              </a:spcBef>
              <a:spcAft>
                <a:spcPts val="0"/>
              </a:spcAft>
              <a:buSzPts val="1800"/>
              <a:buChar char="•"/>
            </a:pPr>
            <a:r>
              <a:rPr lang="en-IN" sz="1400"/>
              <a:t>It would also smoothen banking operations for the customers </a:t>
            </a:r>
            <a:endParaRPr sz="1400"/>
          </a:p>
          <a:p>
            <a:pPr marL="457200" lvl="0" indent="-342900" algn="l" rtl="0">
              <a:lnSpc>
                <a:spcPct val="100000"/>
              </a:lnSpc>
              <a:spcBef>
                <a:spcPts val="360"/>
              </a:spcBef>
              <a:spcAft>
                <a:spcPts val="0"/>
              </a:spcAft>
              <a:buSzPts val="1800"/>
              <a:buChar char="•"/>
            </a:pPr>
            <a:r>
              <a:rPr lang="en-IN" sz="1400"/>
              <a:t>No customer is provided with more than one Customer ID in the Bank</a:t>
            </a:r>
            <a:endParaRPr lang="en-IN" sz="1400"/>
          </a:p>
          <a:p>
            <a:pPr marL="457200" lvl="0" indent="-342900" algn="l" rtl="0">
              <a:lnSpc>
                <a:spcPct val="100000"/>
              </a:lnSpc>
              <a:spcBef>
                <a:spcPts val="360"/>
              </a:spcBef>
              <a:spcAft>
                <a:spcPts val="0"/>
              </a:spcAft>
              <a:buSzPts val="1800"/>
              <a:buChar char="•"/>
            </a:pPr>
            <a:r>
              <a:rPr lang="en-IN" sz="1400"/>
              <a:t>Across all Financial Institutions and related activities CERSAI is also giving Unique ID</a:t>
            </a:r>
            <a:endParaRPr sz="1400"/>
          </a:p>
          <a:p>
            <a:pPr marL="457200" lvl="0" indent="-228600" algn="l" rtl="0">
              <a:lnSpc>
                <a:spcPct val="100000"/>
              </a:lnSpc>
              <a:spcBef>
                <a:spcPts val="360"/>
              </a:spcBef>
              <a:spcAft>
                <a:spcPts val="0"/>
              </a:spcAft>
              <a:buSzPts val="1800"/>
              <a:buNone/>
            </a:pPr>
            <a:endParaRPr sz="1400"/>
          </a:p>
        </p:txBody>
      </p:sp>
      <p:sp>
        <p:nvSpPr>
          <p:cNvPr id="111" name="Google Shape;111;p1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18" name="Google Shape;118;p16"/>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Customer Identification Procedure:</a:t>
            </a:r>
            <a:endParaRPr sz="1400"/>
          </a:p>
          <a:p>
            <a:pPr marL="114300" lvl="0" indent="0" algn="l" rtl="0">
              <a:lnSpc>
                <a:spcPct val="100000"/>
              </a:lnSpc>
              <a:spcBef>
                <a:spcPts val="360"/>
              </a:spcBef>
              <a:spcAft>
                <a:spcPts val="0"/>
              </a:spcAft>
              <a:buSzPts val="1800"/>
              <a:buNone/>
            </a:pPr>
            <a:r>
              <a:rPr lang="en-IN" sz="1400"/>
              <a:t> </a:t>
            </a:r>
            <a:endParaRPr sz="1400"/>
          </a:p>
          <a:p>
            <a:pPr marL="457200" lvl="0" indent="-342900" algn="l" rtl="0">
              <a:lnSpc>
                <a:spcPct val="100000"/>
              </a:lnSpc>
              <a:spcBef>
                <a:spcPts val="360"/>
              </a:spcBef>
              <a:spcAft>
                <a:spcPts val="0"/>
              </a:spcAft>
              <a:buClr>
                <a:schemeClr val="dk1"/>
              </a:buClr>
              <a:buSzPts val="1800"/>
              <a:buChar char="•"/>
            </a:pPr>
            <a:r>
              <a:rPr lang="en-IN" sz="1400"/>
              <a:t>Customer identification involves verifying documents proving customer’s identity with ID and address proof.  There are specific Officially Valid Documents recognised in Anti-Money Laundering Act 2002</a:t>
            </a:r>
            <a:endParaRPr sz="1400"/>
          </a:p>
          <a:p>
            <a:pPr marL="457200" lvl="0" indent="-342900" algn="l" rtl="0">
              <a:lnSpc>
                <a:spcPct val="100000"/>
              </a:lnSpc>
              <a:spcBef>
                <a:spcPts val="360"/>
              </a:spcBef>
              <a:spcAft>
                <a:spcPts val="0"/>
              </a:spcAft>
              <a:buClr>
                <a:schemeClr val="dk1"/>
              </a:buClr>
              <a:buSzPts val="1800"/>
              <a:buChar char="•"/>
            </a:pPr>
            <a:r>
              <a:rPr lang="en-IN" sz="1400"/>
              <a:t>Anyone among the following for can be accepted:</a:t>
            </a:r>
            <a:endParaRPr sz="1400"/>
          </a:p>
          <a:p>
            <a:pPr marL="457200" lvl="0" indent="-342900" algn="l" rtl="0">
              <a:lnSpc>
                <a:spcPct val="100000"/>
              </a:lnSpc>
              <a:spcBef>
                <a:spcPts val="360"/>
              </a:spcBef>
              <a:spcAft>
                <a:spcPts val="0"/>
              </a:spcAft>
              <a:buSzPts val="1800"/>
              <a:buChar char="•"/>
            </a:pPr>
            <a:r>
              <a:rPr lang="en-IN" sz="1400"/>
              <a:t>Passport</a:t>
            </a:r>
            <a:endParaRPr sz="1400"/>
          </a:p>
          <a:p>
            <a:pPr marL="457200" lvl="0" indent="-342900" algn="l" rtl="0">
              <a:lnSpc>
                <a:spcPct val="100000"/>
              </a:lnSpc>
              <a:spcBef>
                <a:spcPts val="360"/>
              </a:spcBef>
              <a:spcAft>
                <a:spcPts val="0"/>
              </a:spcAft>
              <a:buSzPts val="1800"/>
              <a:buChar char="•"/>
            </a:pPr>
            <a:r>
              <a:rPr lang="en-IN" sz="1400"/>
              <a:t>Driving License</a:t>
            </a:r>
            <a:endParaRPr sz="1400"/>
          </a:p>
          <a:p>
            <a:pPr marL="457200" lvl="0" indent="-342900" algn="l" rtl="0">
              <a:lnSpc>
                <a:spcPct val="100000"/>
              </a:lnSpc>
              <a:spcBef>
                <a:spcPts val="360"/>
              </a:spcBef>
              <a:spcAft>
                <a:spcPts val="0"/>
              </a:spcAft>
              <a:buSzPts val="1800"/>
              <a:buChar char="•"/>
            </a:pPr>
            <a:r>
              <a:rPr lang="en-IN" sz="1400"/>
              <a:t>PAN card*</a:t>
            </a:r>
            <a:endParaRPr sz="1400"/>
          </a:p>
          <a:p>
            <a:pPr marL="457200" lvl="0" indent="-342900" algn="l" rtl="0">
              <a:lnSpc>
                <a:spcPct val="100000"/>
              </a:lnSpc>
              <a:spcBef>
                <a:spcPts val="360"/>
              </a:spcBef>
              <a:spcAft>
                <a:spcPts val="0"/>
              </a:spcAft>
              <a:buSzPts val="1800"/>
              <a:buChar char="•"/>
            </a:pPr>
            <a:r>
              <a:rPr lang="en-IN" sz="1400"/>
              <a:t>Voter’s id card</a:t>
            </a:r>
            <a:endParaRPr sz="1400"/>
          </a:p>
          <a:p>
            <a:pPr marL="457200" lvl="0" indent="-342900" algn="l" rtl="0">
              <a:lnSpc>
                <a:spcPct val="100000"/>
              </a:lnSpc>
              <a:spcBef>
                <a:spcPts val="360"/>
              </a:spcBef>
              <a:spcAft>
                <a:spcPts val="0"/>
              </a:spcAft>
              <a:buSzPts val="1800"/>
              <a:buChar char="•"/>
            </a:pPr>
            <a:r>
              <a:rPr lang="en-IN" sz="1400"/>
              <a:t>Job card issued by MNREGA</a:t>
            </a:r>
            <a:endParaRPr sz="1400"/>
          </a:p>
          <a:p>
            <a:pPr marL="457200" lvl="0" indent="-342900" algn="l" rtl="0">
              <a:lnSpc>
                <a:spcPct val="100000"/>
              </a:lnSpc>
              <a:spcBef>
                <a:spcPts val="360"/>
              </a:spcBef>
              <a:spcAft>
                <a:spcPts val="0"/>
              </a:spcAft>
              <a:buSzPts val="1800"/>
              <a:buChar char="•"/>
            </a:pPr>
            <a:r>
              <a:rPr lang="en-IN" sz="1400"/>
              <a:t>Aaadhaar card or letter</a:t>
            </a:r>
            <a:endParaRPr sz="1400"/>
          </a:p>
          <a:p>
            <a:pPr marL="457200" lvl="0" indent="-342900" algn="l" rtl="0">
              <a:lnSpc>
                <a:spcPct val="100000"/>
              </a:lnSpc>
              <a:spcBef>
                <a:spcPts val="360"/>
              </a:spcBef>
              <a:spcAft>
                <a:spcPts val="0"/>
              </a:spcAft>
              <a:buClr>
                <a:schemeClr val="dk1"/>
              </a:buClr>
              <a:buSzPts val="1800"/>
              <a:buChar char="•"/>
            </a:pPr>
            <a:r>
              <a:rPr lang="en-IN" sz="1400"/>
              <a:t>Proof of address also from one among above PAN card* serves as only id proof and requires one more address proof, while others serve as both id and address proof</a:t>
            </a:r>
            <a:endParaRPr sz="1400"/>
          </a:p>
          <a:p>
            <a:pPr marL="457200" lvl="0" indent="-228600" algn="l" rtl="0">
              <a:lnSpc>
                <a:spcPct val="100000"/>
              </a:lnSpc>
              <a:spcBef>
                <a:spcPts val="360"/>
              </a:spcBef>
              <a:spcAft>
                <a:spcPts val="0"/>
              </a:spcAft>
              <a:buSzPts val="1800"/>
              <a:buNone/>
            </a:pPr>
            <a:endParaRPr sz="1400"/>
          </a:p>
        </p:txBody>
      </p:sp>
      <p:sp>
        <p:nvSpPr>
          <p:cNvPr id="119" name="Google Shape;119;p1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26" name="Google Shape;126;p17"/>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Simplified Procedure for Low-Risk accounts</a:t>
            </a:r>
            <a:endParaRPr lang="en-IN" sz="1400" b="1"/>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400" b="1">
                <a:solidFill>
                  <a:srgbClr val="00B050"/>
                </a:solidFill>
              </a:rPr>
              <a:t>Explain about High, Medium, Low-Risk Customers</a:t>
            </a:r>
            <a:endParaRPr sz="1400">
              <a:solidFill>
                <a:srgbClr val="00B050"/>
              </a:solidFill>
            </a:endParaRPr>
          </a:p>
          <a:p>
            <a:pPr marL="114300" lvl="0" indent="0" algn="l" rtl="0">
              <a:lnSpc>
                <a:spcPct val="100000"/>
              </a:lnSpc>
              <a:spcBef>
                <a:spcPts val="360"/>
              </a:spcBef>
              <a:spcAft>
                <a:spcPts val="0"/>
              </a:spcAft>
              <a:buSzPts val="1800"/>
              <a:buNone/>
            </a:pPr>
            <a:r>
              <a:rPr lang="en-IN" sz="1400" b="1"/>
              <a:t> </a:t>
            </a:r>
            <a:endParaRPr sz="1400"/>
          </a:p>
          <a:p>
            <a:pPr marL="114300" lvl="0" indent="0" algn="l" rtl="0">
              <a:lnSpc>
                <a:spcPct val="100000"/>
              </a:lnSpc>
              <a:spcBef>
                <a:spcPts val="360"/>
              </a:spcBef>
              <a:spcAft>
                <a:spcPts val="0"/>
              </a:spcAft>
              <a:buSzPts val="1800"/>
              <a:buNone/>
            </a:pPr>
            <a:r>
              <a:rPr lang="en-IN" sz="1400" b="1"/>
              <a:t>Other Officially Valid Documents for Low-Risk Customers:</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Id cards issued by State/Central Govt, Statutory/Regulatory authorities, PSU, Scheduled Banks, Public Financial institutions</a:t>
            </a:r>
            <a:endParaRPr sz="1400"/>
          </a:p>
          <a:p>
            <a:pPr marL="457200" lvl="0" indent="-342900" algn="l" rtl="0">
              <a:lnSpc>
                <a:spcPct val="100000"/>
              </a:lnSpc>
              <a:spcBef>
                <a:spcPts val="360"/>
              </a:spcBef>
              <a:spcAft>
                <a:spcPts val="0"/>
              </a:spcAft>
              <a:buSzPts val="1800"/>
              <a:buChar char="•"/>
            </a:pPr>
            <a:r>
              <a:rPr lang="en-IN" sz="1400"/>
              <a:t>Letter issued by Gazette Officers, attesting the photo of the person</a:t>
            </a:r>
            <a:endParaRPr sz="1400"/>
          </a:p>
          <a:p>
            <a:pPr marL="457200" lvl="0" indent="-342900" algn="l" rtl="0">
              <a:lnSpc>
                <a:spcPct val="100000"/>
              </a:lnSpc>
              <a:spcBef>
                <a:spcPts val="360"/>
              </a:spcBef>
              <a:spcAft>
                <a:spcPts val="0"/>
              </a:spcAft>
              <a:buSzPts val="1800"/>
              <a:buChar char="•"/>
            </a:pPr>
            <a:r>
              <a:rPr lang="en-IN" sz="1400"/>
              <a:t>Bank for genuine reasons may allow 12 months from date of opening, for production of valid documents and convert the account as full-fledged KYC compliant account </a:t>
            </a:r>
            <a:endParaRPr sz="1400"/>
          </a:p>
        </p:txBody>
      </p:sp>
      <p:sp>
        <p:nvSpPr>
          <p:cNvPr id="127" name="Google Shape;127;p1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34" name="Google Shape;134;p18"/>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Simplified Procedure for Low Risk (only for address proof):</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2 months old utility bill, EB, Telephone, postpaid mobile, piped gas, water bills, etc.</a:t>
            </a:r>
            <a:endParaRPr sz="1400"/>
          </a:p>
          <a:p>
            <a:pPr marL="457200" lvl="0" indent="-342900" algn="l" rtl="0">
              <a:lnSpc>
                <a:spcPct val="100000"/>
              </a:lnSpc>
              <a:spcBef>
                <a:spcPts val="360"/>
              </a:spcBef>
              <a:spcAft>
                <a:spcPts val="0"/>
              </a:spcAft>
              <a:buSzPts val="1800"/>
              <a:buChar char="•"/>
            </a:pPr>
            <a:r>
              <a:rPr lang="en-IN" sz="1400"/>
              <a:t>Property/Municipal tax receipt</a:t>
            </a:r>
            <a:endParaRPr sz="1400"/>
          </a:p>
          <a:p>
            <a:pPr marL="457200" lvl="0" indent="-342900" algn="l" rtl="0">
              <a:lnSpc>
                <a:spcPct val="100000"/>
              </a:lnSpc>
              <a:spcBef>
                <a:spcPts val="360"/>
              </a:spcBef>
              <a:spcAft>
                <a:spcPts val="0"/>
              </a:spcAft>
              <a:buSzPts val="1800"/>
              <a:buChar char="•"/>
            </a:pPr>
            <a:r>
              <a:rPr lang="en-IN" sz="1400"/>
              <a:t>Bank account/post office savings a/c</a:t>
            </a:r>
            <a:endParaRPr sz="1400"/>
          </a:p>
          <a:p>
            <a:pPr marL="457200" lvl="0" indent="-342900" algn="l" rtl="0">
              <a:lnSpc>
                <a:spcPct val="100000"/>
              </a:lnSpc>
              <a:spcBef>
                <a:spcPts val="360"/>
              </a:spcBef>
              <a:spcAft>
                <a:spcPts val="0"/>
              </a:spcAft>
              <a:buSzPts val="1800"/>
              <a:buChar char="•"/>
            </a:pPr>
            <a:r>
              <a:rPr lang="en-IN" sz="1400"/>
              <a:t>Govt/PSU Pension/Family pension Payment Order (PPO) </a:t>
            </a:r>
            <a:endParaRPr sz="1400"/>
          </a:p>
          <a:p>
            <a:pPr marL="457200" lvl="0" indent="-342900" algn="l" rtl="0">
              <a:lnSpc>
                <a:spcPct val="100000"/>
              </a:lnSpc>
              <a:spcBef>
                <a:spcPts val="360"/>
              </a:spcBef>
              <a:spcAft>
                <a:spcPts val="0"/>
              </a:spcAft>
              <a:buSzPts val="1800"/>
              <a:buChar char="•"/>
            </a:pPr>
            <a:r>
              <a:rPr lang="en-IN" sz="1400"/>
              <a:t>Accommodation Allotment letter from Govt, PSU, Scheduled Banks, FIs, listed companies</a:t>
            </a:r>
            <a:endParaRPr sz="1400"/>
          </a:p>
          <a:p>
            <a:pPr marL="457200" lvl="0" indent="-342900" algn="l" rtl="0">
              <a:lnSpc>
                <a:spcPct val="100000"/>
              </a:lnSpc>
              <a:spcBef>
                <a:spcPts val="360"/>
              </a:spcBef>
              <a:spcAft>
                <a:spcPts val="0"/>
              </a:spcAft>
              <a:buSzPts val="1800"/>
              <a:buChar char="•"/>
            </a:pPr>
            <a:r>
              <a:rPr lang="en-IN" sz="1400"/>
              <a:t>Letter issued by foreign embassy/mission in India </a:t>
            </a:r>
            <a:endParaRPr sz="1400"/>
          </a:p>
          <a:p>
            <a:pPr marL="457200" lvl="0" indent="-22860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r>
              <a:rPr lang="en-IN" sz="1400"/>
              <a:t>Whenever Accounts are transferred from one Branch to another due to various reasons, the Customer ID would be retained and Local Address Proof may be taken </a:t>
            </a:r>
            <a:r>
              <a:rPr lang="en-IN" sz="1400">
                <a:solidFill>
                  <a:srgbClr val="FF0000"/>
                </a:solidFill>
              </a:rPr>
              <a:t>(except the last item)</a:t>
            </a:r>
            <a:endParaRPr sz="1400">
              <a:solidFill>
                <a:srgbClr val="FF0000"/>
              </a:solidFill>
            </a:endParaRPr>
          </a:p>
        </p:txBody>
      </p:sp>
      <p:sp>
        <p:nvSpPr>
          <p:cNvPr id="135" name="Google Shape;135;p1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42" name="Google Shape;142;p19"/>
          <p:cNvSpPr txBox="1"/>
          <p:nvPr>
            <p:ph type="body" idx="1"/>
          </p:nvPr>
        </p:nvSpPr>
        <p:spPr>
          <a:xfrm>
            <a:off x="457200" y="643799"/>
            <a:ext cx="8229600" cy="43974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Stages of Money Laundering</a:t>
            </a:r>
            <a:endParaRPr sz="1400"/>
          </a:p>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r>
              <a:rPr lang="en-IN" sz="1400"/>
              <a:t>There are </a:t>
            </a:r>
            <a:r>
              <a:rPr lang="en-IN" sz="1400" b="1"/>
              <a:t>three stages</a:t>
            </a:r>
            <a:r>
              <a:rPr lang="en-IN" sz="1400"/>
              <a:t> involved in </a:t>
            </a:r>
            <a:r>
              <a:rPr lang="en-IN" sz="1400" b="1"/>
              <a:t>money laundering</a:t>
            </a:r>
            <a:r>
              <a:rPr lang="en-IN" sz="1400"/>
              <a:t>:  </a:t>
            </a:r>
            <a:endParaRPr sz="1400"/>
          </a:p>
          <a:p>
            <a:pPr marL="457200" lvl="0" indent="-342900" algn="l" rtl="0">
              <a:lnSpc>
                <a:spcPct val="100000"/>
              </a:lnSpc>
              <a:spcBef>
                <a:spcPts val="360"/>
              </a:spcBef>
              <a:spcAft>
                <a:spcPts val="0"/>
              </a:spcAft>
              <a:buSzPts val="1800"/>
              <a:buChar char="•"/>
            </a:pPr>
            <a:r>
              <a:rPr lang="en-IN" sz="1400"/>
              <a:t>Placement, </a:t>
            </a:r>
            <a:endParaRPr sz="1400"/>
          </a:p>
          <a:p>
            <a:pPr marL="457200" lvl="0" indent="-342900" algn="l" rtl="0">
              <a:lnSpc>
                <a:spcPct val="100000"/>
              </a:lnSpc>
              <a:spcBef>
                <a:spcPts val="360"/>
              </a:spcBef>
              <a:spcAft>
                <a:spcPts val="0"/>
              </a:spcAft>
              <a:buSzPts val="1800"/>
              <a:buChar char="•"/>
            </a:pPr>
            <a:r>
              <a:rPr lang="en-IN" sz="1400"/>
              <a:t>Layering &amp; </a:t>
            </a:r>
            <a:endParaRPr sz="1400"/>
          </a:p>
          <a:p>
            <a:pPr marL="457200" lvl="0" indent="-342900" algn="l" rtl="0">
              <a:lnSpc>
                <a:spcPct val="100000"/>
              </a:lnSpc>
              <a:spcBef>
                <a:spcPts val="360"/>
              </a:spcBef>
              <a:spcAft>
                <a:spcPts val="0"/>
              </a:spcAft>
              <a:buSzPts val="1800"/>
              <a:buChar char="•"/>
            </a:pPr>
            <a:r>
              <a:rPr lang="en-IN" sz="1400"/>
              <a:t>Structuring - Integration</a:t>
            </a:r>
            <a:endParaRPr sz="1400"/>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400" b="1"/>
              <a:t>Placement     </a:t>
            </a:r>
            <a:r>
              <a:rPr lang="en-IN" sz="1400"/>
              <a:t>This is the movement of cash from its source. On occasion the source can be easily disguised or misrepresented</a:t>
            </a:r>
            <a:endParaRPr sz="1400"/>
          </a:p>
          <a:p>
            <a:pPr marL="114300" lvl="0" indent="0" algn="l" rtl="0">
              <a:lnSpc>
                <a:spcPct val="100000"/>
              </a:lnSpc>
              <a:spcBef>
                <a:spcPts val="360"/>
              </a:spcBef>
              <a:spcAft>
                <a:spcPts val="0"/>
              </a:spcAft>
              <a:buSzPts val="1800"/>
              <a:buNone/>
            </a:pPr>
            <a:r>
              <a:rPr lang="en-IN" sz="1400"/>
              <a:t> </a:t>
            </a:r>
            <a:endParaRPr sz="1400"/>
          </a:p>
          <a:p>
            <a:pPr marL="114300" lvl="0" indent="0" algn="l" rtl="0">
              <a:lnSpc>
                <a:spcPct val="100000"/>
              </a:lnSpc>
              <a:spcBef>
                <a:spcPts val="360"/>
              </a:spcBef>
              <a:spcAft>
                <a:spcPts val="0"/>
              </a:spcAft>
              <a:buSzPts val="1800"/>
              <a:buNone/>
            </a:pPr>
            <a:r>
              <a:rPr lang="en-IN" sz="1400" b="1"/>
              <a:t>Layering         </a:t>
            </a:r>
            <a:r>
              <a:rPr lang="en-IN" sz="1400"/>
              <a:t>Involves carrying out complex financial transactions to camouflage the illegal source of the cash ("</a:t>
            </a:r>
            <a:r>
              <a:rPr lang="en-IN" sz="1400" b="1"/>
              <a:t>layering</a:t>
            </a:r>
            <a:r>
              <a:rPr lang="en-IN" sz="1400"/>
              <a:t>") .  </a:t>
            </a:r>
            <a:r>
              <a:rPr lang="en-IN" sz="1600" b="1">
                <a:solidFill>
                  <a:srgbClr val="C00000"/>
                </a:solidFill>
              </a:rPr>
              <a:t>Conversion – Benami – Syndicate etc.  Explain in detail</a:t>
            </a:r>
            <a:r>
              <a:rPr lang="en-IN" sz="1400"/>
              <a:t> </a:t>
            </a:r>
            <a:endParaRPr sz="1400"/>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400" b="1"/>
              <a:t>Structuring - Integration    </a:t>
            </a:r>
            <a:r>
              <a:rPr lang="en-IN" sz="1400"/>
              <a:t>The final stage of the money laundering process is termed as the integration stage.  It is at the </a:t>
            </a:r>
            <a:r>
              <a:rPr lang="en-IN" sz="1400" b="1"/>
              <a:t>integration stage</a:t>
            </a:r>
            <a:r>
              <a:rPr lang="en-IN" sz="1400"/>
              <a:t> where the </a:t>
            </a:r>
            <a:r>
              <a:rPr lang="en-IN" sz="1400" b="1"/>
              <a:t>money is returned to the criminal from what seem to be legitimate sources</a:t>
            </a:r>
            <a:r>
              <a:rPr lang="en-IN" sz="1400"/>
              <a:t>.</a:t>
            </a:r>
            <a:endParaRPr sz="1400"/>
          </a:p>
        </p:txBody>
      </p:sp>
      <p:sp>
        <p:nvSpPr>
          <p:cNvPr id="143" name="Google Shape;143;p1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50" name="Google Shape;150;p20"/>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Stages of Money Laundering</a:t>
            </a:r>
            <a:endParaRPr sz="1400"/>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b="1"/>
              <a:t>Money laundering</a:t>
            </a:r>
            <a:r>
              <a:rPr lang="en-IN" sz="1400"/>
              <a:t> has three stages: placement, layering, and integration. In the placement stage, the launderer introduces the illegal profit into the financial system. In the layering stage, the launderer engages in a series of conversions or movements of the funds to distance them from their source.</a:t>
            </a:r>
            <a:endParaRPr lang="en-IN" sz="1400"/>
          </a:p>
          <a:p>
            <a:pPr marL="457200" lvl="0" indent="-228600" algn="l" rtl="0">
              <a:lnSpc>
                <a:spcPct val="100000"/>
              </a:lnSpc>
              <a:spcBef>
                <a:spcPts val="360"/>
              </a:spcBef>
              <a:spcAft>
                <a:spcPts val="0"/>
              </a:spcAft>
              <a:buClr>
                <a:schemeClr val="dk1"/>
              </a:buClr>
              <a:buSzPts val="1800"/>
              <a:buNone/>
            </a:pPr>
            <a:endParaRPr sz="1400"/>
          </a:p>
          <a:p>
            <a:pPr marL="114300" lvl="0" indent="0" algn="l" rtl="0">
              <a:lnSpc>
                <a:spcPct val="100000"/>
              </a:lnSpc>
              <a:spcBef>
                <a:spcPts val="360"/>
              </a:spcBef>
              <a:spcAft>
                <a:spcPts val="0"/>
              </a:spcAft>
              <a:buSzPts val="1800"/>
              <a:buNone/>
            </a:pPr>
            <a:r>
              <a:rPr lang="en-IN" sz="1400" b="1"/>
              <a:t>Money Laundering Red Flag Indicators: Recognising Suspicious Behaviours</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Placement is the process of introducing 'dirty' money into the financial system.</a:t>
            </a:r>
            <a:endParaRPr lang="en-IN" sz="1400"/>
          </a:p>
          <a:p>
            <a:pPr marL="457200" lvl="0" indent="-342900" algn="l" rtl="0">
              <a:lnSpc>
                <a:spcPct val="100000"/>
              </a:lnSpc>
              <a:spcBef>
                <a:spcPts val="360"/>
              </a:spcBef>
              <a:spcAft>
                <a:spcPts val="0"/>
              </a:spcAft>
              <a:buSzPts val="1800"/>
              <a:buChar char="•"/>
            </a:pPr>
            <a:r>
              <a:rPr lang="en-IN" sz="1400"/>
              <a:t>Layering is the process of using several financial transactions to separate funds from an illegal source. </a:t>
            </a:r>
            <a:endParaRPr lang="en-IN" sz="1400"/>
          </a:p>
          <a:p>
            <a:pPr marL="457200" lvl="0" indent="-342900" algn="l" rtl="0">
              <a:lnSpc>
                <a:spcPct val="100000"/>
              </a:lnSpc>
              <a:spcBef>
                <a:spcPts val="360"/>
              </a:spcBef>
              <a:spcAft>
                <a:spcPts val="0"/>
              </a:spcAft>
              <a:buSzPts val="1800"/>
              <a:buChar char="•"/>
            </a:pPr>
            <a:r>
              <a:rPr lang="en-IN" sz="1400"/>
              <a:t>Integration.</a:t>
            </a:r>
            <a:endParaRPr lang="en-IN" sz="1400"/>
          </a:p>
          <a:p>
            <a:pPr marL="457200" lvl="0" indent="-228600" algn="l" rtl="0">
              <a:lnSpc>
                <a:spcPct val="100000"/>
              </a:lnSpc>
              <a:spcBef>
                <a:spcPts val="360"/>
              </a:spcBef>
              <a:spcAft>
                <a:spcPts val="0"/>
              </a:spcAft>
              <a:buClr>
                <a:schemeClr val="dk1"/>
              </a:buClr>
              <a:buSzPts val="1800"/>
              <a:buNone/>
            </a:pPr>
            <a:endParaRPr sz="1400"/>
          </a:p>
        </p:txBody>
      </p:sp>
      <p:sp>
        <p:nvSpPr>
          <p:cNvPr id="151" name="Google Shape;151;p2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58" name="Google Shape;158;p21"/>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Money laundering red flags: (19 Red Flags)</a:t>
            </a:r>
            <a:endParaRPr sz="1600" b="1"/>
          </a:p>
          <a:p>
            <a:pPr marL="457200" lvl="0" indent="-342900" algn="l" rtl="0">
              <a:lnSpc>
                <a:spcPct val="100000"/>
              </a:lnSpc>
              <a:spcBef>
                <a:spcPts val="360"/>
              </a:spcBef>
              <a:spcAft>
                <a:spcPts val="0"/>
              </a:spcAft>
              <a:buSzPts val="1800"/>
              <a:buFont typeface="Courier New" panose="02070309020205020404"/>
              <a:buChar char="o"/>
            </a:pPr>
            <a:r>
              <a:rPr lang="en-IN" sz="1400"/>
              <a:t>The client provides minimal, vague or fictitious information that cannot be readily verified.</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buyer’s agent is especially guarded about his or her client.</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client is in an undue hurry to complete the purchase.</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purchase is made without anyone viewing the property; the buyer shows no interest in the features of the property.</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sale price is abnormally high or low.</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client has an unusual lack of concern regarding commissions or other transaction costs.</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A 100 percent cash deal. The buyer brings a paper bag full of cash to the closing.</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property is purchased without a mortgage, and that behavior does not match the characteristics of the buyer.</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client is not able to account for the source of payment from his or her income or assets.</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client tells you that funds are coming from one source, and at the last minute the source changes.</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Payments arrive from a number of individuals or sources, and remember that payments made through the mainstream banking system are not guaranteed to be clean.</a:t>
            </a:r>
            <a:endParaRPr lang="en-IN" sz="1400"/>
          </a:p>
        </p:txBody>
      </p:sp>
      <p:sp>
        <p:nvSpPr>
          <p:cNvPr id="159" name="Google Shape;159;p2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66" name="Google Shape;166;p22"/>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Money laundering red flags: (19 Red Flags)</a:t>
            </a:r>
            <a:endParaRPr sz="1600" b="1"/>
          </a:p>
          <a:p>
            <a:pPr marL="457200" lvl="0" indent="-342900" algn="l" rtl="0">
              <a:lnSpc>
                <a:spcPct val="100000"/>
              </a:lnSpc>
              <a:spcBef>
                <a:spcPts val="360"/>
              </a:spcBef>
              <a:spcAft>
                <a:spcPts val="0"/>
              </a:spcAft>
              <a:buSzPts val="1800"/>
              <a:buFont typeface="Courier New" panose="02070309020205020404"/>
              <a:buChar char="o"/>
            </a:pPr>
            <a:r>
              <a:rPr lang="en-IN" sz="1400"/>
              <a:t>The client makes payments using various monetary instruments. If those instruments are sequentially numbered or if their value falls just beneath the $10,000 reporting threshold, something is fishy.</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You discover, or suspect, that cash has changed hands directly between the seller and the buyer.</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client requests an unusual or non-customary way to handle the transaction.</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client requests to settle the sale through means outside of a recognized clearing system.</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A residential property is titled in the name of a third party.</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purchased property is immediately resold, and the resale entails a significant increase or decrease in the purchase price.</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The transaction involves a recently created legal entity, and in your estimation, the sale amount is large compared to new entity’s assets.</a:t>
            </a:r>
            <a:endParaRPr lang="en-IN" sz="1400"/>
          </a:p>
          <a:p>
            <a:pPr marL="457200" lvl="0" indent="-342900" algn="l" rtl="0">
              <a:lnSpc>
                <a:spcPct val="100000"/>
              </a:lnSpc>
              <a:spcBef>
                <a:spcPts val="360"/>
              </a:spcBef>
              <a:spcAft>
                <a:spcPts val="0"/>
              </a:spcAft>
              <a:buSzPts val="1800"/>
              <a:buFont typeface="Courier New" panose="02070309020205020404"/>
              <a:buChar char="o"/>
            </a:pPr>
            <a:r>
              <a:rPr lang="en-IN" sz="1400"/>
              <a:t>Or if you witness any other weirdness. You’ve been in the business long enough to know what is considered usual and customary and what is not. Anything unusual is a red flag.</a:t>
            </a:r>
            <a:endParaRPr lang="en-IN" sz="1400"/>
          </a:p>
        </p:txBody>
      </p:sp>
      <p:sp>
        <p:nvSpPr>
          <p:cNvPr id="167" name="Google Shape;167;p2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sp>
        <p:nvSpPr>
          <p:cNvPr id="173" name="Google Shape;173;p2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74" name="Google Shape;174;p23"/>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Char char="•"/>
            </a:pPr>
            <a:r>
              <a:rPr lang="en-IN" sz="1400" b="1"/>
              <a:t>Finance, for inter-alia, collecting, analysing, disseminating information in respect of financial transactions:</a:t>
            </a:r>
            <a:r>
              <a:rPr lang="en-IN" sz="1200" b="1"/>
              <a:t> </a:t>
            </a:r>
            <a:endParaRPr sz="1200"/>
          </a:p>
          <a:p>
            <a:pPr marL="114300" lvl="0" indent="0" algn="l" rtl="0">
              <a:lnSpc>
                <a:spcPct val="100000"/>
              </a:lnSpc>
              <a:spcBef>
                <a:spcPts val="360"/>
              </a:spcBef>
              <a:spcAft>
                <a:spcPts val="0"/>
              </a:spcAft>
              <a:buSzPts val="1800"/>
              <a:buNone/>
            </a:pPr>
            <a:endParaRPr sz="1200"/>
          </a:p>
          <a:p>
            <a:pPr marL="914400" lvl="1" indent="-342900" algn="l" rtl="0">
              <a:lnSpc>
                <a:spcPct val="100000"/>
              </a:lnSpc>
              <a:spcBef>
                <a:spcPts val="360"/>
              </a:spcBef>
              <a:spcAft>
                <a:spcPts val="0"/>
              </a:spcAft>
              <a:buSzPts val="1800"/>
              <a:buFont typeface="Noto Sans Symbols"/>
              <a:buChar char="▪"/>
            </a:pPr>
            <a:r>
              <a:rPr lang="en-IN" sz="1200"/>
              <a:t>Cash Transactions Reports (CTRs)-(for Cash transactions of Rs.10 lacs or its equivalent and above and over) </a:t>
            </a:r>
            <a:endParaRPr lang="en-IN" sz="1200"/>
          </a:p>
          <a:p>
            <a:pPr marL="914400" lvl="1" indent="-342900" algn="l" rtl="0">
              <a:lnSpc>
                <a:spcPct val="100000"/>
              </a:lnSpc>
              <a:spcBef>
                <a:spcPts val="360"/>
              </a:spcBef>
              <a:spcAft>
                <a:spcPts val="0"/>
              </a:spcAft>
              <a:buSzPts val="1800"/>
              <a:buFont typeface="Noto Sans Symbols"/>
              <a:buChar char="▪"/>
            </a:pPr>
            <a:r>
              <a:rPr lang="en-IN" sz="1200"/>
              <a:t>Counterfeit Currency Reports (CCRs) </a:t>
            </a:r>
            <a:endParaRPr lang="en-IN" sz="1200"/>
          </a:p>
          <a:p>
            <a:pPr marL="914400" lvl="1" indent="-342900" algn="l" rtl="0">
              <a:lnSpc>
                <a:spcPct val="100000"/>
              </a:lnSpc>
              <a:spcBef>
                <a:spcPts val="360"/>
              </a:spcBef>
              <a:spcAft>
                <a:spcPts val="0"/>
              </a:spcAft>
              <a:buSzPts val="1800"/>
              <a:buFont typeface="Noto Sans Symbols"/>
              <a:buChar char="▪"/>
            </a:pPr>
            <a:r>
              <a:rPr lang="en-IN" sz="1200"/>
              <a:t>Suspicious Transactions Reports (STRs)- irrespective of any amount but abnormal to the profile of the Customer or enquiry </a:t>
            </a:r>
            <a:endParaRPr lang="en-IN" sz="1200"/>
          </a:p>
          <a:p>
            <a:pPr marL="914400" lvl="1" indent="-342900" algn="l" rtl="0">
              <a:lnSpc>
                <a:spcPct val="100000"/>
              </a:lnSpc>
              <a:spcBef>
                <a:spcPts val="360"/>
              </a:spcBef>
              <a:spcAft>
                <a:spcPts val="0"/>
              </a:spcAft>
              <a:buSzPts val="1800"/>
              <a:buFont typeface="Noto Sans Symbols"/>
              <a:buChar char="▪"/>
            </a:pPr>
            <a:r>
              <a:rPr lang="en-IN" sz="1200"/>
              <a:t>Non Profit Organisations Transactions Report (NTRs)-(of receipts of Rs. 10 lacs or its equivalent and above) </a:t>
            </a:r>
            <a:endParaRPr lang="en-IN" sz="1200"/>
          </a:p>
          <a:p>
            <a:pPr marL="914400" lvl="1" indent="-342900" algn="l" rtl="0">
              <a:lnSpc>
                <a:spcPct val="100000"/>
              </a:lnSpc>
              <a:spcBef>
                <a:spcPts val="360"/>
              </a:spcBef>
              <a:spcAft>
                <a:spcPts val="0"/>
              </a:spcAft>
              <a:buSzPts val="1800"/>
              <a:buFont typeface="Noto Sans Symbols"/>
              <a:buChar char="▪"/>
            </a:pPr>
            <a:r>
              <a:rPr lang="en-IN" sz="1200"/>
              <a:t>Cross Border Wire Transaction Reports</a:t>
            </a:r>
            <a:endParaRPr lang="en-IN" sz="1200"/>
          </a:p>
          <a:p>
            <a:pPr marL="571500" lvl="1" indent="0" algn="l" rtl="0">
              <a:lnSpc>
                <a:spcPct val="100000"/>
              </a:lnSpc>
              <a:spcBef>
                <a:spcPts val="360"/>
              </a:spcBef>
              <a:spcAft>
                <a:spcPts val="0"/>
              </a:spcAft>
              <a:buSzPts val="1800"/>
              <a:buNone/>
            </a:pPr>
            <a:endParaRPr sz="1200"/>
          </a:p>
          <a:p>
            <a:pPr marL="571500" lvl="1"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400" b="1"/>
              <a:t>Risk Management: </a:t>
            </a:r>
            <a:endParaRPr sz="1400" b="1"/>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Each Bank has identified a Top Management official to oversee the compliance of the AML/KYC guidelines/policies of the Bank and report to appropriate authorities (FATF, FIU-IND, RBI), in time.</a:t>
            </a:r>
            <a:endParaRPr lang="en-IN" sz="1200"/>
          </a:p>
          <a:p>
            <a:pPr marL="914400" lvl="1" indent="-228600" algn="l" rtl="0">
              <a:lnSpc>
                <a:spcPct val="100000"/>
              </a:lnSpc>
              <a:spcBef>
                <a:spcPts val="360"/>
              </a:spcBef>
              <a:spcAft>
                <a:spcPts val="0"/>
              </a:spcAft>
              <a:buSzPts val="1800"/>
              <a:buNone/>
            </a:pPr>
            <a:endParaRPr sz="1200"/>
          </a:p>
        </p:txBody>
      </p:sp>
      <p:sp>
        <p:nvSpPr>
          <p:cNvPr id="175" name="Google Shape;175;p2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sp>
        <p:nvSpPr>
          <p:cNvPr id="181" name="Google Shape;181;p24"/>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82" name="Google Shape;182;p24"/>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KYC must be carried out while</a:t>
            </a:r>
            <a:r>
              <a:rPr lang="en-IN" sz="1400" b="1"/>
              <a:t> </a:t>
            </a:r>
            <a:endParaRPr sz="1400" b="1"/>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400" b="1"/>
              <a:t>(a) Opening a new customer account; </a:t>
            </a:r>
            <a:endParaRPr sz="1400"/>
          </a:p>
          <a:p>
            <a:pPr marL="114300" lvl="0" indent="0" algn="l" rtl="0">
              <a:lnSpc>
                <a:spcPct val="100000"/>
              </a:lnSpc>
              <a:spcBef>
                <a:spcPts val="360"/>
              </a:spcBef>
              <a:spcAft>
                <a:spcPts val="0"/>
              </a:spcAft>
              <a:buSzPts val="1800"/>
              <a:buNone/>
            </a:pPr>
            <a:r>
              <a:rPr lang="en-IN" sz="1400" b="1"/>
              <a:t>(b) Existing accounts for which KYC was not done</a:t>
            </a:r>
            <a:endParaRPr sz="1400"/>
          </a:p>
          <a:p>
            <a:pPr marL="114300" lvl="0" indent="0" algn="l" rtl="0">
              <a:lnSpc>
                <a:spcPct val="100000"/>
              </a:lnSpc>
              <a:spcBef>
                <a:spcPts val="360"/>
              </a:spcBef>
              <a:spcAft>
                <a:spcPts val="0"/>
              </a:spcAft>
              <a:buSzPts val="1800"/>
              <a:buNone/>
            </a:pPr>
            <a:r>
              <a:rPr lang="en-IN" sz="1400" b="1"/>
              <a:t>(c) While granting other banking facilities, such as locker access </a:t>
            </a:r>
            <a:endParaRPr sz="1400"/>
          </a:p>
          <a:p>
            <a:pPr marL="114300" lvl="0" indent="0" algn="l" rtl="0">
              <a:lnSpc>
                <a:spcPct val="100000"/>
              </a:lnSpc>
              <a:spcBef>
                <a:spcPts val="360"/>
              </a:spcBef>
              <a:spcAft>
                <a:spcPts val="0"/>
              </a:spcAft>
              <a:buSzPts val="1800"/>
              <a:buNone/>
            </a:pPr>
            <a:r>
              <a:rPr lang="en-IN" sz="1400" b="1"/>
              <a:t>(d) When there are significant changes in signatories, mandate holders and beneficial owners </a:t>
            </a:r>
            <a:endParaRPr sz="1400"/>
          </a:p>
          <a:p>
            <a:pPr marL="114300" lvl="0" indent="0" algn="l" rtl="0">
              <a:lnSpc>
                <a:spcPct val="100000"/>
              </a:lnSpc>
              <a:spcBef>
                <a:spcPts val="360"/>
              </a:spcBef>
              <a:spcAft>
                <a:spcPts val="0"/>
              </a:spcAft>
              <a:buSzPts val="1800"/>
              <a:buNone/>
            </a:pPr>
            <a:r>
              <a:rPr lang="en-IN" sz="1400" b="1"/>
              <a:t>(e) When non-account holders approach the Bank for one of transactions</a:t>
            </a:r>
            <a:endParaRPr lang="en-IN" sz="1400" b="1"/>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600" b="1"/>
              <a:t>Key Point for Remittance</a:t>
            </a:r>
            <a:endParaRPr lang="en-IN" sz="1600" b="1"/>
          </a:p>
          <a:p>
            <a:pPr marL="114300" lvl="0" indent="0" algn="l" rtl="0">
              <a:lnSpc>
                <a:spcPct val="100000"/>
              </a:lnSpc>
              <a:spcBef>
                <a:spcPts val="360"/>
              </a:spcBef>
              <a:spcAft>
                <a:spcPts val="0"/>
              </a:spcAft>
              <a:buSzPts val="1800"/>
              <a:buNone/>
            </a:pPr>
            <a:endParaRPr sz="1600"/>
          </a:p>
          <a:p>
            <a:pPr marL="114300" lvl="0" indent="0" algn="l" rtl="0">
              <a:lnSpc>
                <a:spcPct val="100000"/>
              </a:lnSpc>
              <a:spcBef>
                <a:spcPts val="360"/>
              </a:spcBef>
              <a:spcAft>
                <a:spcPts val="0"/>
              </a:spcAft>
              <a:buSzPts val="1800"/>
              <a:buNone/>
            </a:pPr>
            <a:r>
              <a:rPr lang="en-IN" sz="1400" b="1"/>
              <a:t>Remittance of funds by way of Demand Drafts, NEFT, RTGS or any other mode and issue of Foreign Traveller’s Cheque (TCs) for value of Rs. 50,000/- &amp; above is effected by DEBIT to Customer’s Account or Against Cheque, </a:t>
            </a:r>
            <a:r>
              <a:rPr lang="en-IN" sz="1400" b="1">
                <a:solidFill>
                  <a:srgbClr val="FF0000"/>
                </a:solidFill>
              </a:rPr>
              <a:t>BUT NOT AGAINST CASH</a:t>
            </a:r>
            <a:endParaRPr lang="en-IN" sz="1400" b="1">
              <a:solidFill>
                <a:srgbClr val="FF0000"/>
              </a:solidFill>
            </a:endParaRPr>
          </a:p>
          <a:p>
            <a:pPr marL="114300" lvl="0" indent="0" algn="l" rtl="0">
              <a:lnSpc>
                <a:spcPct val="100000"/>
              </a:lnSpc>
              <a:spcBef>
                <a:spcPts val="360"/>
              </a:spcBef>
              <a:spcAft>
                <a:spcPts val="0"/>
              </a:spcAft>
              <a:buSzPts val="1800"/>
              <a:buNone/>
            </a:pPr>
            <a:endParaRPr sz="1400"/>
          </a:p>
        </p:txBody>
      </p:sp>
      <p:sp>
        <p:nvSpPr>
          <p:cNvPr id="183" name="Google Shape;183;p2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KYC – AML - CFT</a:t>
            </a:r>
            <a:endParaRPr sz="1800"/>
          </a:p>
        </p:txBody>
      </p:sp>
      <p:sp>
        <p:nvSpPr>
          <p:cNvPr id="190" name="Google Shape;190;p25"/>
          <p:cNvSpPr txBox="1"/>
          <p:nvPr>
            <p:ph type="body" idx="1"/>
          </p:nvPr>
        </p:nvSpPr>
        <p:spPr>
          <a:xfrm>
            <a:off x="457200" y="643799"/>
            <a:ext cx="8229600" cy="43974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t>OTHER MEASURES OF ANTI-MONEY LAUNDERING &amp; FRAUD AREAS</a:t>
            </a:r>
            <a:endParaRPr lang="en-IN" sz="1800" b="1"/>
          </a:p>
          <a:p>
            <a:pPr marL="114300" lvl="0" indent="0" algn="l" rtl="0">
              <a:lnSpc>
                <a:spcPct val="100000"/>
              </a:lnSpc>
              <a:spcBef>
                <a:spcPts val="360"/>
              </a:spcBef>
              <a:spcAft>
                <a:spcPts val="0"/>
              </a:spcAft>
              <a:buSzPts val="1800"/>
              <a:buNone/>
            </a:pPr>
            <a:endParaRPr sz="1600"/>
          </a:p>
          <a:p>
            <a:pPr marL="114300" lvl="0" indent="0" algn="l" rtl="0">
              <a:lnSpc>
                <a:spcPct val="100000"/>
              </a:lnSpc>
              <a:spcBef>
                <a:spcPts val="360"/>
              </a:spcBef>
              <a:spcAft>
                <a:spcPts val="0"/>
              </a:spcAft>
              <a:buSzPts val="1800"/>
              <a:buNone/>
            </a:pPr>
            <a:r>
              <a:rPr lang="en-IN" sz="1600" b="1"/>
              <a:t>Banks role</a:t>
            </a:r>
            <a:endParaRPr lang="en-IN" sz="1600" b="1"/>
          </a:p>
          <a:p>
            <a:pPr marL="114300" lvl="0" indent="0" algn="l" rtl="0">
              <a:lnSpc>
                <a:spcPct val="100000"/>
              </a:lnSpc>
              <a:spcBef>
                <a:spcPts val="360"/>
              </a:spcBef>
              <a:spcAft>
                <a:spcPts val="0"/>
              </a:spcAft>
              <a:buSzPts val="1800"/>
              <a:buNone/>
            </a:pPr>
            <a:endParaRPr sz="1600"/>
          </a:p>
          <a:p>
            <a:pPr marL="457200" lvl="0" indent="-342900" algn="l" rtl="0">
              <a:lnSpc>
                <a:spcPct val="100000"/>
              </a:lnSpc>
              <a:spcBef>
                <a:spcPts val="360"/>
              </a:spcBef>
              <a:spcAft>
                <a:spcPts val="0"/>
              </a:spcAft>
              <a:buClr>
                <a:schemeClr val="dk1"/>
              </a:buClr>
              <a:buSzPts val="1800"/>
              <a:buChar char="•"/>
            </a:pPr>
            <a:r>
              <a:rPr lang="en-IN" sz="1600"/>
              <a:t>Proper Monitoring - Onlne monitoring of Offsite transactions</a:t>
            </a:r>
            <a:endParaRPr lang="en-IN" sz="1600"/>
          </a:p>
          <a:p>
            <a:pPr marL="457200" lvl="0" indent="-342900" algn="l" rtl="0">
              <a:lnSpc>
                <a:spcPct val="100000"/>
              </a:lnSpc>
              <a:spcBef>
                <a:spcPts val="360"/>
              </a:spcBef>
              <a:spcAft>
                <a:spcPts val="0"/>
              </a:spcAft>
              <a:buClr>
                <a:schemeClr val="dk1"/>
              </a:buClr>
              <a:buSzPts val="1800"/>
              <a:buChar char="•"/>
            </a:pPr>
            <a:r>
              <a:rPr lang="en-IN" sz="1600"/>
              <a:t>Account Opening &amp; Advancing to Mushroom type of companies</a:t>
            </a:r>
            <a:endParaRPr lang="en-IN" sz="1600"/>
          </a:p>
          <a:p>
            <a:pPr marL="457200" lvl="0" indent="-342900" algn="l" rtl="0">
              <a:lnSpc>
                <a:spcPct val="100000"/>
              </a:lnSpc>
              <a:spcBef>
                <a:spcPts val="360"/>
              </a:spcBef>
              <a:spcAft>
                <a:spcPts val="0"/>
              </a:spcAft>
              <a:buClr>
                <a:schemeClr val="dk1"/>
              </a:buClr>
              <a:buSzPts val="1800"/>
              <a:buChar char="•"/>
            </a:pPr>
            <a:r>
              <a:rPr lang="en-IN" sz="1600"/>
              <a:t>Over-Invoicing</a:t>
            </a:r>
            <a:endParaRPr sz="1600"/>
          </a:p>
          <a:p>
            <a:pPr marL="457200" lvl="0" indent="-342900" algn="l" rtl="0">
              <a:lnSpc>
                <a:spcPct val="100000"/>
              </a:lnSpc>
              <a:spcBef>
                <a:spcPts val="360"/>
              </a:spcBef>
              <a:spcAft>
                <a:spcPts val="0"/>
              </a:spcAft>
              <a:buClr>
                <a:schemeClr val="dk1"/>
              </a:buClr>
              <a:buSzPts val="1800"/>
              <a:buChar char="•"/>
            </a:pPr>
            <a:r>
              <a:rPr lang="en-IN" sz="1600"/>
              <a:t>Transactions Monitoring</a:t>
            </a:r>
            <a:endParaRPr lang="en-IN" sz="1600"/>
          </a:p>
          <a:p>
            <a:pPr marL="457200" lvl="0" indent="-342900" algn="l" rtl="0">
              <a:lnSpc>
                <a:spcPct val="100000"/>
              </a:lnSpc>
              <a:spcBef>
                <a:spcPts val="360"/>
              </a:spcBef>
              <a:spcAft>
                <a:spcPts val="0"/>
              </a:spcAft>
              <a:buClr>
                <a:schemeClr val="dk1"/>
              </a:buClr>
              <a:buSzPts val="1800"/>
              <a:buChar char="•"/>
            </a:pPr>
            <a:r>
              <a:rPr lang="en-IN" sz="1600"/>
              <a:t>Supervisory Control - Transperacy</a:t>
            </a:r>
            <a:endParaRPr sz="1600"/>
          </a:p>
          <a:p>
            <a:pPr marL="457200" lvl="0" indent="-342900" algn="l" rtl="0">
              <a:lnSpc>
                <a:spcPct val="100000"/>
              </a:lnSpc>
              <a:spcBef>
                <a:spcPts val="360"/>
              </a:spcBef>
              <a:spcAft>
                <a:spcPts val="0"/>
              </a:spcAft>
              <a:buClr>
                <a:schemeClr val="dk1"/>
              </a:buClr>
              <a:buSzPts val="1800"/>
              <a:buChar char="•"/>
            </a:pPr>
            <a:r>
              <a:rPr lang="en-IN" sz="1600"/>
              <a:t>Verification of Online, Card Type Transactions, ATM, POS, Financial Inclusion Transactions, E-Commerce – Vendor Management – Selection Process of Vendors – Proper Procurement Procedure – Intermediaries/Facilitators role to be properly monitored – Third Party Agency Roles – Reconciliation Procedure – Maintenance of BGL and other related Banks’ various accounts etc.</a:t>
            </a:r>
            <a:endParaRPr lang="en-IN" sz="1600"/>
          </a:p>
        </p:txBody>
      </p:sp>
      <p:sp>
        <p:nvSpPr>
          <p:cNvPr id="191" name="Google Shape;191;p2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96" name="Shape 196"/>
        <p:cNvGrpSpPr/>
        <p:nvPr/>
      </p:nvGrpSpPr>
      <p:grpSpPr>
        <a:xfrm>
          <a:off x="0" y="0"/>
          <a:ext cx="0" cy="0"/>
          <a:chOff x="0" y="0"/>
          <a:chExt cx="0" cy="0"/>
        </a:xfrm>
      </p:grpSpPr>
      <p:sp>
        <p:nvSpPr>
          <p:cNvPr id="198" name="Google Shape;198;p26"/>
          <p:cNvSpPr txBox="1"/>
          <p:nvPr>
            <p:ph type="body" idx="1"/>
          </p:nvPr>
        </p:nvSpPr>
        <p:spPr>
          <a:xfrm>
            <a:off x="457200" y="643799"/>
            <a:ext cx="8229600" cy="43974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sz="1800" b="1"/>
          </a:p>
          <a:p>
            <a:pPr marL="114300" lvl="0" indent="0" algn="l" rtl="0">
              <a:lnSpc>
                <a:spcPct val="100000"/>
              </a:lnSpc>
              <a:spcBef>
                <a:spcPts val="360"/>
              </a:spcBef>
              <a:spcAft>
                <a:spcPts val="0"/>
              </a:spcAft>
              <a:buSzPts val="1800"/>
              <a:buNone/>
            </a:pPr>
            <a:endParaRPr sz="1800" b="1"/>
          </a:p>
          <a:p>
            <a:pPr marL="114300" lvl="0" indent="0" algn="l" rtl="0">
              <a:lnSpc>
                <a:spcPct val="100000"/>
              </a:lnSpc>
              <a:spcBef>
                <a:spcPts val="360"/>
              </a:spcBef>
              <a:spcAft>
                <a:spcPts val="0"/>
              </a:spcAft>
              <a:buSzPts val="1800"/>
              <a:buNone/>
            </a:pPr>
            <a:endParaRPr sz="1800" b="1"/>
          </a:p>
          <a:p>
            <a:pPr marL="114300" lvl="0" indent="0" algn="l" rtl="0">
              <a:lnSpc>
                <a:spcPct val="100000"/>
              </a:lnSpc>
              <a:spcBef>
                <a:spcPts val="360"/>
              </a:spcBef>
              <a:spcAft>
                <a:spcPts val="0"/>
              </a:spcAft>
              <a:buSzPts val="1800"/>
              <a:buNone/>
            </a:pPr>
            <a:r>
              <a:rPr lang="en-IN" sz="1800" b="1"/>
              <a:t>                                              </a:t>
            </a:r>
            <a:r>
              <a:rPr lang="en-IN" sz="5500" b="1"/>
              <a:t>THANK YOU</a:t>
            </a:r>
            <a:endParaRPr sz="6900"/>
          </a:p>
          <a:p>
            <a:pPr marL="114300" lvl="0" indent="0" algn="l" rtl="0">
              <a:lnSpc>
                <a:spcPct val="100000"/>
              </a:lnSpc>
              <a:spcBef>
                <a:spcPts val="360"/>
              </a:spcBef>
              <a:spcAft>
                <a:spcPts val="0"/>
              </a:spcAft>
              <a:buSzPts val="1800"/>
              <a:buNone/>
            </a:pPr>
            <a:r>
              <a:rPr lang="en-IN" sz="1600"/>
              <a:t>                                                                                  By</a:t>
            </a:r>
            <a:endParaRPr sz="1600"/>
          </a:p>
          <a:p>
            <a:pPr marL="114300" lvl="0" indent="0" algn="l" rtl="0">
              <a:lnSpc>
                <a:spcPct val="100000"/>
              </a:lnSpc>
              <a:spcBef>
                <a:spcPts val="360"/>
              </a:spcBef>
              <a:spcAft>
                <a:spcPts val="0"/>
              </a:spcAft>
              <a:buSzPts val="1800"/>
              <a:buNone/>
            </a:pPr>
            <a:r>
              <a:rPr lang="en-IN" sz="1600"/>
              <a:t>                                                                    </a:t>
            </a:r>
            <a:r>
              <a:rPr lang="en-US" altLang="en-IN" sz="1800" b="1"/>
              <a:t>Sudhan Venu</a:t>
            </a:r>
            <a:r>
              <a:rPr lang="en-IN" sz="1800" b="1"/>
              <a:t>     </a:t>
            </a:r>
            <a:endParaRPr sz="1800" b="1"/>
          </a:p>
          <a:p>
            <a:pPr marL="114300" lvl="0" indent="0" algn="l" rtl="0">
              <a:lnSpc>
                <a:spcPct val="100000"/>
              </a:lnSpc>
              <a:spcBef>
                <a:spcPts val="360"/>
              </a:spcBef>
              <a:spcAft>
                <a:spcPts val="0"/>
              </a:spcAft>
              <a:buSzPts val="1800"/>
              <a:buNone/>
            </a:pPr>
          </a:p>
          <a:p>
            <a:pPr marL="114300" lvl="0" indent="0" algn="l" rtl="0">
              <a:lnSpc>
                <a:spcPct val="100000"/>
              </a:lnSpc>
              <a:spcBef>
                <a:spcPts val="360"/>
              </a:spcBef>
              <a:spcAft>
                <a:spcPts val="0"/>
              </a:spcAft>
              <a:buSzPts val="1800"/>
              <a:buNone/>
            </a:pPr>
            <a:endParaRPr sz="1600"/>
          </a:p>
          <a:p>
            <a:pPr marL="457200" lvl="0" indent="0" algn="l" rtl="0">
              <a:lnSpc>
                <a:spcPct val="100000"/>
              </a:lnSpc>
              <a:spcBef>
                <a:spcPts val="360"/>
              </a:spcBef>
              <a:spcAft>
                <a:spcPts val="0"/>
              </a:spcAft>
              <a:buNone/>
            </a:pPr>
          </a:p>
        </p:txBody>
      </p:sp>
      <p:sp>
        <p:nvSpPr>
          <p:cNvPr id="199" name="Google Shape;199;p26"/>
          <p:cNvSpPr txBox="1"/>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12596</Words>
  <Application>WPS Presentation</Application>
  <PresentationFormat/>
  <Paragraphs>277</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Arial</vt:lpstr>
      <vt:lpstr>Calibri</vt:lpstr>
      <vt:lpstr>Noto Sans Symbols</vt:lpstr>
      <vt:lpstr>Noto Sans</vt:lpstr>
      <vt:lpstr>Courier New</vt:lpstr>
      <vt:lpstr>Microsoft YaHei</vt:lpstr>
      <vt:lpstr>Arial Unicode MS</vt:lpstr>
      <vt:lpstr>Office Theme</vt:lpstr>
      <vt:lpstr>M.Sc. - Cyber Forensics &amp; Information Security </vt:lpstr>
      <vt:lpstr>KNOW YOUR CUSTOMER – ANTI-MONEY LAUNDERING – COMBATING FINANCIAL TERRORISM</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lpstr>KYC – AML - CFT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 Cyber Forensics &amp; Information Security </dc:title>
  <dc:creator/>
  <cp:lastModifiedBy>Sudhan Venu</cp:lastModifiedBy>
  <cp:revision>2</cp:revision>
  <dcterms:created xsi:type="dcterms:W3CDTF">2025-09-20T06:40:34Z</dcterms:created>
  <dcterms:modified xsi:type="dcterms:W3CDTF">2025-09-20T07:16:42Z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7DD43B9912D446FBB4041C560380F94F_12</vt:lpwstr>
  </property>
  <property fmtid="{D5CDD505-2E9C-101B-9397-08002B2CF9AE}" pid="3" name="KSOProductBuildVer">
    <vt:lpwstr>1033-12.2.0.22549</vt:lpwstr>
  </property>
</Properties>
</file>