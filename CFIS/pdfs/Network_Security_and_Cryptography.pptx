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6" r:id="rId1"/>
  </p:sldMasterIdLst>
  <p:notesMasterIdLst>
    <p:notesMasterId r:id="rId135"/>
  </p:notesMasterIdLst>
  <p:sldIdLst>
    <p:sldId id="256" r:id="rId2"/>
    <p:sldId id="257" r:id="rId3"/>
    <p:sldId id="258" r:id="rId4"/>
    <p:sldId id="301" r:id="rId5"/>
    <p:sldId id="260" r:id="rId6"/>
    <p:sldId id="314" r:id="rId7"/>
    <p:sldId id="266" r:id="rId8"/>
    <p:sldId id="267" r:id="rId9"/>
    <p:sldId id="268" r:id="rId10"/>
    <p:sldId id="269" r:id="rId11"/>
    <p:sldId id="270" r:id="rId12"/>
    <p:sldId id="284" r:id="rId13"/>
    <p:sldId id="285" r:id="rId14"/>
    <p:sldId id="286" r:id="rId15"/>
    <p:sldId id="315" r:id="rId16"/>
    <p:sldId id="444" r:id="rId17"/>
    <p:sldId id="317" r:id="rId18"/>
    <p:sldId id="320" r:id="rId19"/>
    <p:sldId id="411" r:id="rId20"/>
    <p:sldId id="413" r:id="rId21"/>
    <p:sldId id="417" r:id="rId22"/>
    <p:sldId id="418" r:id="rId23"/>
    <p:sldId id="419" r:id="rId24"/>
    <p:sldId id="420" r:id="rId25"/>
    <p:sldId id="421" r:id="rId26"/>
    <p:sldId id="422" r:id="rId27"/>
    <p:sldId id="423" r:id="rId28"/>
    <p:sldId id="433" r:id="rId29"/>
    <p:sldId id="434" r:id="rId30"/>
    <p:sldId id="437" r:id="rId31"/>
    <p:sldId id="438" r:id="rId32"/>
    <p:sldId id="439" r:id="rId33"/>
    <p:sldId id="440" r:id="rId34"/>
    <p:sldId id="441" r:id="rId35"/>
    <p:sldId id="447" r:id="rId36"/>
    <p:sldId id="288" r:id="rId37"/>
    <p:sldId id="292" r:id="rId38"/>
    <p:sldId id="293" r:id="rId39"/>
    <p:sldId id="294" r:id="rId40"/>
    <p:sldId id="295" r:id="rId41"/>
    <p:sldId id="297" r:id="rId42"/>
    <p:sldId id="298" r:id="rId43"/>
    <p:sldId id="296" r:id="rId44"/>
    <p:sldId id="445" r:id="rId45"/>
    <p:sldId id="446" r:id="rId46"/>
    <p:sldId id="448" r:id="rId47"/>
    <p:sldId id="449" r:id="rId48"/>
    <p:sldId id="450" r:id="rId49"/>
    <p:sldId id="451" r:id="rId50"/>
    <p:sldId id="452" r:id="rId51"/>
    <p:sldId id="454" r:id="rId52"/>
    <p:sldId id="453" r:id="rId53"/>
    <p:sldId id="322" r:id="rId54"/>
    <p:sldId id="323" r:id="rId55"/>
    <p:sldId id="329" r:id="rId56"/>
    <p:sldId id="324" r:id="rId57"/>
    <p:sldId id="325" r:id="rId58"/>
    <p:sldId id="326" r:id="rId59"/>
    <p:sldId id="327" r:id="rId60"/>
    <p:sldId id="328" r:id="rId61"/>
    <p:sldId id="332" r:id="rId62"/>
    <p:sldId id="336" r:id="rId63"/>
    <p:sldId id="337" r:id="rId64"/>
    <p:sldId id="338" r:id="rId65"/>
    <p:sldId id="333" r:id="rId66"/>
    <p:sldId id="334" r:id="rId67"/>
    <p:sldId id="335" r:id="rId68"/>
    <p:sldId id="339" r:id="rId69"/>
    <p:sldId id="340" r:id="rId70"/>
    <p:sldId id="341" r:id="rId71"/>
    <p:sldId id="342" r:id="rId72"/>
    <p:sldId id="344" r:id="rId73"/>
    <p:sldId id="345" r:id="rId74"/>
    <p:sldId id="346" r:id="rId75"/>
    <p:sldId id="347" r:id="rId76"/>
    <p:sldId id="348" r:id="rId77"/>
    <p:sldId id="374" r:id="rId78"/>
    <p:sldId id="349" r:id="rId79"/>
    <p:sldId id="375" r:id="rId80"/>
    <p:sldId id="376" r:id="rId81"/>
    <p:sldId id="377" r:id="rId82"/>
    <p:sldId id="378" r:id="rId83"/>
    <p:sldId id="379" r:id="rId84"/>
    <p:sldId id="380" r:id="rId85"/>
    <p:sldId id="381" r:id="rId86"/>
    <p:sldId id="397" r:id="rId87"/>
    <p:sldId id="398" r:id="rId88"/>
    <p:sldId id="399" r:id="rId89"/>
    <p:sldId id="400" r:id="rId90"/>
    <p:sldId id="401" r:id="rId91"/>
    <p:sldId id="402" r:id="rId92"/>
    <p:sldId id="403" r:id="rId93"/>
    <p:sldId id="350" r:id="rId94"/>
    <p:sldId id="351" r:id="rId95"/>
    <p:sldId id="352" r:id="rId96"/>
    <p:sldId id="353" r:id="rId97"/>
    <p:sldId id="354" r:id="rId98"/>
    <p:sldId id="362" r:id="rId99"/>
    <p:sldId id="363" r:id="rId100"/>
    <p:sldId id="364" r:id="rId101"/>
    <p:sldId id="365" r:id="rId102"/>
    <p:sldId id="366" r:id="rId103"/>
    <p:sldId id="367" r:id="rId104"/>
    <p:sldId id="368" r:id="rId105"/>
    <p:sldId id="369" r:id="rId106"/>
    <p:sldId id="370" r:id="rId107"/>
    <p:sldId id="371" r:id="rId108"/>
    <p:sldId id="373" r:id="rId109"/>
    <p:sldId id="384" r:id="rId110"/>
    <p:sldId id="382" r:id="rId111"/>
    <p:sldId id="383" r:id="rId112"/>
    <p:sldId id="404" r:id="rId113"/>
    <p:sldId id="405" r:id="rId114"/>
    <p:sldId id="406" r:id="rId115"/>
    <p:sldId id="407" r:id="rId116"/>
    <p:sldId id="408" r:id="rId117"/>
    <p:sldId id="409" r:id="rId118"/>
    <p:sldId id="455" r:id="rId119"/>
    <p:sldId id="385" r:id="rId120"/>
    <p:sldId id="386" r:id="rId121"/>
    <p:sldId id="387" r:id="rId122"/>
    <p:sldId id="388" r:id="rId123"/>
    <p:sldId id="389" r:id="rId124"/>
    <p:sldId id="456" r:id="rId125"/>
    <p:sldId id="457" r:id="rId126"/>
    <p:sldId id="390" r:id="rId127"/>
    <p:sldId id="391" r:id="rId128"/>
    <p:sldId id="392" r:id="rId129"/>
    <p:sldId id="394" r:id="rId130"/>
    <p:sldId id="396" r:id="rId131"/>
    <p:sldId id="458" r:id="rId132"/>
    <p:sldId id="459" r:id="rId133"/>
    <p:sldId id="410" r:id="rId13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2" d="100"/>
          <a:sy n="62" d="100"/>
        </p:scale>
        <p:origin x="1400" y="4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theme" Target="theme/theme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226CC069-8C19-4DDD-B6FD-BB6EAE6EA28B}" type="datetimeFigureOut">
              <a:rPr lang="en-US" smtClean="0"/>
              <a:pPr/>
              <a:t>2/9/2025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52B8555C-0430-443F-805D-984683A1060C}" type="slidenum">
              <a:rPr lang="en-IN" smtClean="0"/>
              <a:pPr/>
              <a:t>‹#›</a:t>
            </a:fld>
            <a:endParaRPr lang="en-IN"/>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IN" dirty="0"/>
          </a:p>
        </p:txBody>
      </p:sp>
      <p:sp>
        <p:nvSpPr>
          <p:cNvPr id="4" name="Slide Number Placeholder 3"/>
          <p:cNvSpPr>
            <a:spLocks noGrp="1"/>
          </p:cNvSpPr>
          <p:nvPr>
            <p:ph type="sldNum" sz="quarter" idx="10"/>
          </p:nvPr>
        </p:nvSpPr>
        <p:spPr/>
        <p:txBody>
          <a:bodyPr/>
          <a:lstStyle/>
          <a:p>
            <a:fld id="{52B8555C-0430-443F-805D-984683A1060C}" type="slidenum">
              <a:rPr lang="en-IN" smtClean="0"/>
              <a:pPr/>
              <a:t>111</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9144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342900" y="4960137"/>
            <a:ext cx="5829300" cy="1463040"/>
          </a:xfrm>
        </p:spPr>
        <p:txBody>
          <a:bodyPr anchor="ctr">
            <a:noAutofit/>
          </a:bodyPr>
          <a:lstStyle>
            <a:lvl1pPr algn="r">
              <a:defRPr sz="4000" spc="200" baseline="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0000"/>
                    <a:lumOff val="10000"/>
                  </a:schemeClr>
                </a:solidFill>
              </a:defRPr>
            </a:lvl1pPr>
            <a:lvl2pPr marL="457189" indent="0" algn="ctr">
              <a:buNone/>
              <a:defRPr sz="1600"/>
            </a:lvl2pPr>
            <a:lvl3pPr marL="914377" indent="0" algn="ctr">
              <a:buNone/>
              <a:defRPr sz="16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C33102E-4040-44F3-BC11-73897684C91E}" type="datetimeFigureOut">
              <a:rPr lang="en-US" smtClean="0"/>
              <a:pPr/>
              <a:t>2/9/2025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55B454-D278-4198-B8A4-72A875B5F542}" type="slidenum">
              <a:rPr lang="en-IN" smtClean="0"/>
              <a:pPr/>
              <a:t>‹#›</a:t>
            </a:fld>
            <a:endParaRPr lang="en-IN"/>
          </a:p>
        </p:txBody>
      </p:sp>
      <p:cxnSp>
        <p:nvCxnSpPr>
          <p:cNvPr id="8" name="Straight Connector 7"/>
          <p:cNvCxnSpPr/>
          <p:nvPr/>
        </p:nvCxnSpPr>
        <p:spPr>
          <a:xfrm flipV="1">
            <a:off x="629013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90382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ormAutofit/>
          </a:bodyPr>
          <a:lstStyle>
            <a:lvl1pPr algn="just">
              <a:lnSpc>
                <a:spcPct val="150000"/>
              </a:lnSpc>
              <a:defRPr sz="2000">
                <a:latin typeface="Times New Roman" panose="02020603050405020304" pitchFamily="18" charset="0"/>
                <a:cs typeface="Times New Roman" panose="02020603050405020304" pitchFamily="18" charset="0"/>
              </a:defRPr>
            </a:lvl1pPr>
            <a:lvl2pPr algn="just">
              <a:lnSpc>
                <a:spcPct val="150000"/>
              </a:lnSpc>
              <a:defRPr sz="2000">
                <a:latin typeface="Times New Roman" panose="02020603050405020304" pitchFamily="18" charset="0"/>
                <a:cs typeface="Times New Roman" panose="02020603050405020304" pitchFamily="18" charset="0"/>
              </a:defRPr>
            </a:lvl2pPr>
            <a:lvl3pPr algn="just">
              <a:lnSpc>
                <a:spcPct val="150000"/>
              </a:lnSpc>
              <a:defRPr sz="2000">
                <a:latin typeface="Times New Roman" panose="02020603050405020304" pitchFamily="18" charset="0"/>
                <a:cs typeface="Times New Roman" panose="02020603050405020304" pitchFamily="18" charset="0"/>
              </a:defRPr>
            </a:lvl3pPr>
            <a:lvl4pPr algn="just">
              <a:lnSpc>
                <a:spcPct val="150000"/>
              </a:lnSpc>
              <a:defRPr sz="2000">
                <a:latin typeface="Times New Roman" panose="02020603050405020304" pitchFamily="18" charset="0"/>
                <a:cs typeface="Times New Roman" panose="02020603050405020304" pitchFamily="18" charset="0"/>
              </a:defRPr>
            </a:lvl4pPr>
            <a:lvl5pPr algn="just">
              <a:lnSpc>
                <a:spcPct val="150000"/>
              </a:lnSpc>
              <a:defRPr sz="20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00708962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9144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0000"/>
                    <a:lumOff val="10000"/>
                  </a:schemeClr>
                </a:solidFill>
              </a:defRPr>
            </a:lvl1pPr>
            <a:lvl2pPr marL="457189" indent="0">
              <a:buNone/>
              <a:defRPr sz="16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C33102E-4040-44F3-BC11-73897684C91E}" type="datetimeFigureOut">
              <a:rPr lang="en-US" smtClean="0"/>
              <a:pPr/>
              <a:t>2/9/2025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55B454-D278-4198-B8A4-72A875B5F542}" type="slidenum">
              <a:rPr lang="en-IN" smtClean="0"/>
              <a:pPr/>
              <a:t>‹#›</a:t>
            </a:fld>
            <a:endParaRPr lang="en-IN"/>
          </a:p>
        </p:txBody>
      </p:sp>
      <p:cxnSp>
        <p:nvCxnSpPr>
          <p:cNvPr id="8" name="Straight Connector 7"/>
          <p:cNvCxnSpPr/>
          <p:nvPr/>
        </p:nvCxnSpPr>
        <p:spPr>
          <a:xfrm flipV="1">
            <a:off x="629013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153025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C33102E-4040-44F3-BC11-73897684C91E}" type="datetimeFigureOut">
              <a:rPr lang="en-US" smtClean="0"/>
              <a:pPr/>
              <a:t>2/9/2025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55B454-D278-4198-B8A4-72A875B5F542}" type="slidenum">
              <a:rPr lang="en-IN" smtClean="0"/>
              <a:pPr/>
              <a:t>‹#›</a:t>
            </a:fld>
            <a:endParaRPr lang="en-IN"/>
          </a:p>
        </p:txBody>
      </p:sp>
    </p:spTree>
    <p:extLst>
      <p:ext uri="{BB962C8B-B14F-4D97-AF65-F5344CB8AC3E}">
        <p14:creationId xmlns:p14="http://schemas.microsoft.com/office/powerpoint/2010/main" val="682134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2">
                    <a:lumMod val="75000"/>
                  </a:schemeClr>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2">
                    <a:lumMod val="75000"/>
                  </a:schemeClr>
                </a:solidFill>
                <a:latin typeface="+mn-lt"/>
                <a:ea typeface="+mn-ea"/>
                <a:cs typeface="+mn-cs"/>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marL="0" lvl="0" indent="0" algn="l" defTabSz="914377"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C33102E-4040-44F3-BC11-73897684C91E}" type="datetimeFigureOut">
              <a:rPr lang="en-US" smtClean="0"/>
              <a:pPr/>
              <a:t>2/9/2025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1255B454-D278-4198-B8A4-72A875B5F542}" type="slidenum">
              <a:rPr lang="en-IN" smtClean="0"/>
              <a:pPr/>
              <a:t>‹#›</a:t>
            </a:fld>
            <a:endParaRPr lang="en-IN"/>
          </a:p>
        </p:txBody>
      </p:sp>
    </p:spTree>
    <p:extLst>
      <p:ext uri="{BB962C8B-B14F-4D97-AF65-F5344CB8AC3E}">
        <p14:creationId xmlns:p14="http://schemas.microsoft.com/office/powerpoint/2010/main" val="4462442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C33102E-4040-44F3-BC11-73897684C91E}" type="datetimeFigureOut">
              <a:rPr lang="en-US" smtClean="0"/>
              <a:pPr/>
              <a:t>2/9/2025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1255B454-D278-4198-B8A4-72A875B5F542}" type="slidenum">
              <a:rPr lang="en-IN" smtClean="0"/>
              <a:pPr/>
              <a:t>‹#›</a:t>
            </a:fld>
            <a:endParaRPr lang="en-IN"/>
          </a:p>
        </p:txBody>
      </p:sp>
    </p:spTree>
    <p:extLst>
      <p:ext uri="{BB962C8B-B14F-4D97-AF65-F5344CB8AC3E}">
        <p14:creationId xmlns:p14="http://schemas.microsoft.com/office/powerpoint/2010/main" val="30101784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C33102E-4040-44F3-BC11-73897684C91E}" type="datetimeFigureOut">
              <a:rPr lang="en-US" smtClean="0"/>
              <a:pPr/>
              <a:t>2/9/2025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1255B454-D278-4198-B8A4-72A875B5F542}" type="slidenum">
              <a:rPr lang="en-IN" smtClean="0"/>
              <a:pPr/>
              <a:t>‹#›</a:t>
            </a:fld>
            <a:endParaRPr lang="en-IN"/>
          </a:p>
        </p:txBody>
      </p:sp>
    </p:spTree>
    <p:extLst>
      <p:ext uri="{BB962C8B-B14F-4D97-AF65-F5344CB8AC3E}">
        <p14:creationId xmlns:p14="http://schemas.microsoft.com/office/powerpoint/2010/main" val="36748130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C33102E-4040-44F3-BC11-73897684C91E}" type="datetimeFigureOut">
              <a:rPr lang="en-US" smtClean="0"/>
              <a:pPr/>
              <a:t>2/9/2025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55B454-D278-4198-B8A4-72A875B5F542}" type="slidenum">
              <a:rPr lang="en-IN" smtClean="0"/>
              <a:pPr/>
              <a:t>‹#›</a:t>
            </a:fld>
            <a:endParaRPr lang="en-IN"/>
          </a:p>
        </p:txBody>
      </p:sp>
    </p:spTree>
    <p:extLst>
      <p:ext uri="{BB962C8B-B14F-4D97-AF65-F5344CB8AC3E}">
        <p14:creationId xmlns:p14="http://schemas.microsoft.com/office/powerpoint/2010/main" val="261347411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2">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0000"/>
                    <a:lumOff val="10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C33102E-4040-44F3-BC11-73897684C91E}" type="datetimeFigureOut">
              <a:rPr lang="en-US" smtClean="0"/>
              <a:pPr/>
              <a:t>2/9/2025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1255B454-D278-4198-B8A4-72A875B5F542}" type="slidenum">
              <a:rPr lang="en-IN" smtClean="0"/>
              <a:pPr/>
              <a:t>‹#›</a:t>
            </a:fld>
            <a:endParaRPr lang="en-IN"/>
          </a:p>
        </p:txBody>
      </p:sp>
      <p:cxnSp>
        <p:nvCxnSpPr>
          <p:cNvPr id="9" name="Straight Connector 8"/>
          <p:cNvCxnSpPr/>
          <p:nvPr/>
        </p:nvCxnSpPr>
        <p:spPr>
          <a:xfrm flipV="1">
            <a:off x="629013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42144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3102E-4040-44F3-BC11-73897684C91E}" type="datetimeFigureOut">
              <a:rPr lang="en-US" smtClean="0"/>
              <a:pPr/>
              <a:t>2/9/2025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55B454-D278-4198-B8A4-72A875B5F542}" type="slidenum">
              <a:rPr lang="en-IN" smtClean="0"/>
              <a:pPr/>
              <a:t>‹#›</a:t>
            </a:fld>
            <a:endParaRPr lang="en-IN"/>
          </a:p>
        </p:txBody>
      </p:sp>
    </p:spTree>
    <p:extLst>
      <p:ext uri="{BB962C8B-B14F-4D97-AF65-F5344CB8AC3E}">
        <p14:creationId xmlns:p14="http://schemas.microsoft.com/office/powerpoint/2010/main" val="2845010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C33102E-4040-44F3-BC11-73897684C91E}" type="datetimeFigureOut">
              <a:rPr lang="en-US" smtClean="0"/>
              <a:pPr/>
              <a:t>2/9/2025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1255B454-D278-4198-B8A4-72A875B5F542}" type="slidenum">
              <a:rPr lang="en-IN" smtClean="0"/>
              <a:pPr/>
              <a:t>‹#›</a:t>
            </a:fld>
            <a:endParaRPr lang="en-IN"/>
          </a:p>
        </p:txBody>
      </p:sp>
      <p:cxnSp>
        <p:nvCxnSpPr>
          <p:cNvPr id="7" name="Straight Connector 6"/>
          <p:cNvCxnSpPr/>
          <p:nvPr/>
        </p:nvCxnSpPr>
        <p:spPr>
          <a:xfrm rot="5400000" flipV="1">
            <a:off x="7543800" y="17356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87982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EC33102E-4040-44F3-BC11-73897684C91E}" type="datetimeFigureOut">
              <a:rPr lang="en-US" smtClean="0"/>
              <a:pPr/>
              <a:t>2/9/2025</a:t>
            </a:fld>
            <a:endParaRPr lang="en-IN"/>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IN"/>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1255B454-D278-4198-B8A4-72A875B5F542}" type="slidenum">
              <a:rPr lang="en-IN" smtClean="0"/>
              <a:pPr/>
              <a:t>‹#›</a:t>
            </a:fld>
            <a:endParaRPr lang="en-IN"/>
          </a:p>
        </p:txBody>
      </p:sp>
      <p:cxnSp>
        <p:nvCxnSpPr>
          <p:cNvPr id="7" name="Straight Connector 6"/>
          <p:cNvCxnSpPr/>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94062282"/>
      </p:ext>
    </p:extLst>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txStyles>
    <p:titleStyle>
      <a:lvl1pPr algn="l" defTabSz="914377" rtl="0" eaLnBrk="1" latinLnBrk="0" hangingPunct="1">
        <a:lnSpc>
          <a:spcPct val="80000"/>
        </a:lnSpc>
        <a:spcBef>
          <a:spcPct val="0"/>
        </a:spcBef>
        <a:buNone/>
        <a:defRPr sz="4400" kern="1200" cap="all" spc="100" baseline="0">
          <a:solidFill>
            <a:schemeClr val="tx1">
              <a:lumMod val="90000"/>
              <a:lumOff val="10000"/>
            </a:schemeClr>
          </a:solidFill>
          <a:latin typeface="+mj-lt"/>
          <a:ea typeface="+mj-ea"/>
          <a:cs typeface="+mj-cs"/>
        </a:defRPr>
      </a:lvl1pPr>
    </p:titleStyle>
    <p:bodyStyle>
      <a:lvl1pPr marL="91440" indent="-91440" algn="l" defTabSz="914377"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600" kern="1200">
          <a:solidFill>
            <a:schemeClr val="tx1"/>
          </a:solidFill>
          <a:latin typeface="+mn-lt"/>
          <a:ea typeface="+mn-ea"/>
          <a:cs typeface="+mn-cs"/>
        </a:defRPr>
      </a:lvl2pPr>
      <a:lvl3pPr marL="4480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3pPr>
      <a:lvl4pPr marL="59436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4pPr>
      <a:lvl5pPr marL="77724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https://www.thesecuritybuddy.com/wordpress/bdr/uploads/2018/02/IPSecw-1024x768.jpg" TargetMode="External"/><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png"/><Relationship Id="rId1" Type="http://schemas.openxmlformats.org/officeDocument/2006/relationships/slideLayout" Target="../slideLayouts/slideLayou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5.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0.jpe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41.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2.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52.jpe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3.jpe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54.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2" Type="http://schemas.openxmlformats.org/officeDocument/2006/relationships/image" Target="../media/image56.jpe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2" Type="http://schemas.openxmlformats.org/officeDocument/2006/relationships/image" Target="../media/image57.jpe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r>
              <a:rPr lang="en-US" dirty="0"/>
              <a:t>NETWORK SECURITY AND CRYPTOGRAPHY</a:t>
            </a:r>
            <a:endParaRPr lang="en-IN" dirty="0"/>
          </a:p>
        </p:txBody>
      </p:sp>
      <p:sp>
        <p:nvSpPr>
          <p:cNvPr id="3" name="Subtitle 2"/>
          <p:cNvSpPr>
            <a:spLocks noGrp="1"/>
          </p:cNvSpPr>
          <p:nvPr>
            <p:ph type="subTitle" idx="1"/>
          </p:nvPr>
        </p:nvSpPr>
        <p:spPr/>
        <p:txBody>
          <a:bodyPr/>
          <a:lstStyle/>
          <a:p>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CIA </a:t>
            </a:r>
            <a:r>
              <a:rPr lang="en-US" dirty="0" err="1"/>
              <a:t>Traid</a:t>
            </a:r>
            <a:endParaRPr lang="en-IN" dirty="0"/>
          </a:p>
        </p:txBody>
      </p:sp>
      <p:pic>
        <p:nvPicPr>
          <p:cNvPr id="1026" name="Picture 2"/>
          <p:cNvPicPr>
            <a:picLocks noGrp="1" noChangeAspect="1" noChangeArrowheads="1"/>
          </p:cNvPicPr>
          <p:nvPr>
            <p:ph idx="1"/>
          </p:nvPr>
        </p:nvPicPr>
        <p:blipFill>
          <a:blip r:embed="rId2"/>
          <a:srcRect l="11346" t="16340" r="10542" b="10805"/>
          <a:stretch>
            <a:fillRect/>
          </a:stretch>
        </p:blipFill>
        <p:spPr bwMode="auto">
          <a:xfrm>
            <a:off x="759444" y="2084832"/>
            <a:ext cx="7220222" cy="4357718"/>
          </a:xfrm>
          <a:prstGeom prst="rect">
            <a:avLst/>
          </a:prstGeom>
          <a:noFill/>
          <a:ln w="9525">
            <a:noFill/>
            <a:miter lim="800000"/>
            <a:headEnd/>
            <a:tailEnd/>
          </a:ln>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pic>
        <p:nvPicPr>
          <p:cNvPr id="2050" name="Picture 2"/>
          <p:cNvPicPr>
            <a:picLocks noGrp="1" noChangeAspect="1" noChangeArrowheads="1"/>
          </p:cNvPicPr>
          <p:nvPr>
            <p:ph idx="1"/>
          </p:nvPr>
        </p:nvPicPr>
        <p:blipFill>
          <a:blip r:embed="rId2"/>
          <a:srcRect l="3725" t="16340" r="6731" b="12499"/>
          <a:stretch>
            <a:fillRect/>
          </a:stretch>
        </p:blipFill>
        <p:spPr bwMode="auto">
          <a:xfrm>
            <a:off x="415997" y="1843628"/>
            <a:ext cx="7994252" cy="4429156"/>
          </a:xfrm>
          <a:prstGeom prst="rect">
            <a:avLst/>
          </a:prstGeom>
          <a:noFill/>
          <a:ln w="9525">
            <a:noFill/>
            <a:miter lim="800000"/>
            <a:headEnd/>
            <a:tailEnd/>
          </a:ln>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DAD Triad</a:t>
            </a:r>
            <a:endParaRPr lang="en-IN" dirty="0"/>
          </a:p>
        </p:txBody>
      </p:sp>
      <p:sp>
        <p:nvSpPr>
          <p:cNvPr id="3" name="Content Placeholder 2"/>
          <p:cNvSpPr>
            <a:spLocks noGrp="1"/>
          </p:cNvSpPr>
          <p:nvPr>
            <p:ph idx="1"/>
          </p:nvPr>
        </p:nvSpPr>
        <p:spPr>
          <a:xfrm>
            <a:off x="768096" y="2084832"/>
            <a:ext cx="7290055" cy="4224528"/>
          </a:xfrm>
        </p:spPr>
        <p:txBody>
          <a:bodyPr>
            <a:normAutofit fontScale="85000" lnSpcReduction="10000"/>
          </a:bodyPr>
          <a:lstStyle/>
          <a:p>
            <a:r>
              <a:rPr lang="en-US" dirty="0"/>
              <a:t>Goals for defeating the security of an organization.</a:t>
            </a:r>
          </a:p>
          <a:p>
            <a:r>
              <a:rPr lang="en-US" b="1" dirty="0"/>
              <a:t>Disclosure:</a:t>
            </a:r>
          </a:p>
          <a:p>
            <a:pPr lvl="2"/>
            <a:r>
              <a:rPr lang="en-US" dirty="0"/>
              <a:t>Unauthorized individuals gain access to confidential information.</a:t>
            </a:r>
          </a:p>
          <a:p>
            <a:r>
              <a:rPr lang="en-US" b="1" dirty="0"/>
              <a:t>Alteration</a:t>
            </a:r>
          </a:p>
          <a:p>
            <a:pPr lvl="2"/>
            <a:r>
              <a:rPr lang="en-US" dirty="0"/>
              <a:t>Data is modified through some unauthorized mechanism</a:t>
            </a:r>
          </a:p>
          <a:p>
            <a:r>
              <a:rPr lang="en-US" b="1" dirty="0"/>
              <a:t>Denial</a:t>
            </a:r>
          </a:p>
          <a:p>
            <a:pPr lvl="2"/>
            <a:r>
              <a:rPr lang="en-US" dirty="0"/>
              <a:t>Authorized users cannot gain access to the system for legitimate purposes.</a:t>
            </a:r>
          </a:p>
          <a:p>
            <a:r>
              <a:rPr lang="en-US" dirty="0"/>
              <a:t>DAD activities may be malicious or accidental</a:t>
            </a:r>
            <a:endParaRPr lang="en-IN"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PGP</a:t>
            </a:r>
            <a:endParaRPr lang="en-IN" dirty="0"/>
          </a:p>
        </p:txBody>
      </p:sp>
      <p:sp>
        <p:nvSpPr>
          <p:cNvPr id="3" name="Content Placeholder 2"/>
          <p:cNvSpPr>
            <a:spLocks noGrp="1"/>
          </p:cNvSpPr>
          <p:nvPr>
            <p:ph idx="1"/>
          </p:nvPr>
        </p:nvSpPr>
        <p:spPr/>
        <p:txBody>
          <a:bodyPr/>
          <a:lstStyle/>
          <a:p>
            <a:r>
              <a:rPr lang="en-US" dirty="0" err="1"/>
              <a:t>Defacto</a:t>
            </a:r>
            <a:r>
              <a:rPr lang="en-US" dirty="0"/>
              <a:t> standard for providing security in the E-mail communication</a:t>
            </a:r>
          </a:p>
          <a:p>
            <a:r>
              <a:rPr lang="en-US" dirty="0"/>
              <a:t>It uses public key cryptography, symmetric key cryptography, hash functions to provide privacy, sender authentication, integrity and non repudiation</a:t>
            </a:r>
          </a:p>
          <a:p>
            <a:r>
              <a:rPr lang="en-US" dirty="0"/>
              <a:t>It also provides data compression and key management support.</a:t>
            </a:r>
          </a:p>
          <a:p>
            <a:r>
              <a:rPr lang="en-US" dirty="0"/>
              <a:t>It uses RSA, MD5 and IDEA</a:t>
            </a:r>
            <a:endParaRPr lang="en-IN"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S/MIME</a:t>
            </a:r>
            <a:endParaRPr lang="en-IN" dirty="0"/>
          </a:p>
        </p:txBody>
      </p:sp>
      <p:sp>
        <p:nvSpPr>
          <p:cNvPr id="3" name="Content Placeholder 2"/>
          <p:cNvSpPr>
            <a:spLocks noGrp="1"/>
          </p:cNvSpPr>
          <p:nvPr>
            <p:ph idx="1"/>
          </p:nvPr>
        </p:nvSpPr>
        <p:spPr/>
        <p:txBody>
          <a:bodyPr>
            <a:normAutofit/>
          </a:bodyPr>
          <a:lstStyle/>
          <a:p>
            <a:r>
              <a:rPr lang="en-IN" dirty="0"/>
              <a:t>S/MIME, or Secure/Multipurpose Internet Mail Extensions, is a technology that allows you to encrypt your emails. </a:t>
            </a:r>
          </a:p>
          <a:p>
            <a:r>
              <a:rPr lang="en-IN" dirty="0"/>
              <a:t>S/MIME is based on asymmetric cryptography to protect your emails from unwanted access.</a:t>
            </a:r>
          </a:p>
          <a:p>
            <a:r>
              <a:rPr lang="en-IN" dirty="0"/>
              <a:t> It also allows you to digitally sign your emails to verify you as the legitimate sender of the message, making it an effective weapon against many phishing attacks out there. </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SSL </a:t>
            </a:r>
            <a:endParaRPr lang="en-IN" dirty="0"/>
          </a:p>
        </p:txBody>
      </p:sp>
      <p:sp>
        <p:nvSpPr>
          <p:cNvPr id="3" name="Content Placeholder 2"/>
          <p:cNvSpPr>
            <a:spLocks noGrp="1"/>
          </p:cNvSpPr>
          <p:nvPr>
            <p:ph idx="1"/>
          </p:nvPr>
        </p:nvSpPr>
        <p:spPr/>
        <p:txBody>
          <a:bodyPr/>
          <a:lstStyle/>
          <a:p>
            <a:r>
              <a:rPr lang="en-US" dirty="0"/>
              <a:t>Secure Socket Layer</a:t>
            </a:r>
          </a:p>
          <a:p>
            <a:r>
              <a:rPr lang="en-US" dirty="0"/>
              <a:t>In the year 1995 Netscape developed SSL version 2 and used in the Netscape navigator 1.1</a:t>
            </a:r>
          </a:p>
          <a:p>
            <a:r>
              <a:rPr lang="en-US" dirty="0"/>
              <a:t>Netscape developed SSL version 3 in 1999 by many security updates</a:t>
            </a:r>
            <a:endParaRPr lang="en-IN"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SSL</a:t>
            </a:r>
            <a:endParaRPr lang="en-IN" dirty="0"/>
          </a:p>
        </p:txBody>
      </p:sp>
      <p:pic>
        <p:nvPicPr>
          <p:cNvPr id="5122" name="Picture 2"/>
          <p:cNvPicPr>
            <a:picLocks noGrp="1" noChangeAspect="1" noChangeArrowheads="1"/>
          </p:cNvPicPr>
          <p:nvPr>
            <p:ph idx="1"/>
          </p:nvPr>
        </p:nvPicPr>
        <p:blipFill>
          <a:blip r:embed="rId2"/>
          <a:srcRect l="3725" t="7868" r="6731" b="10805"/>
          <a:stretch>
            <a:fillRect/>
          </a:stretch>
        </p:blipFill>
        <p:spPr bwMode="auto">
          <a:xfrm>
            <a:off x="683568" y="2084832"/>
            <a:ext cx="8143900" cy="4773168"/>
          </a:xfrm>
          <a:prstGeom prst="rect">
            <a:avLst/>
          </a:prstGeom>
          <a:noFill/>
          <a:ln w="9525">
            <a:noFill/>
            <a:miter lim="800000"/>
            <a:headEnd/>
            <a:tailEnd/>
          </a:ln>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Salient Features</a:t>
            </a:r>
            <a:endParaRPr lang="en-IN" dirty="0"/>
          </a:p>
        </p:txBody>
      </p:sp>
      <p:pic>
        <p:nvPicPr>
          <p:cNvPr id="6146" name="Picture 2"/>
          <p:cNvPicPr>
            <a:picLocks noGrp="1" noChangeAspect="1" noChangeArrowheads="1"/>
          </p:cNvPicPr>
          <p:nvPr>
            <p:ph idx="1"/>
          </p:nvPr>
        </p:nvPicPr>
        <p:blipFill>
          <a:blip r:embed="rId2"/>
          <a:srcRect l="11346" t="16340" r="15305" b="10805"/>
          <a:stretch>
            <a:fillRect/>
          </a:stretch>
        </p:blipFill>
        <p:spPr bwMode="auto">
          <a:xfrm>
            <a:off x="1390517" y="1928802"/>
            <a:ext cx="7324887" cy="4572032"/>
          </a:xfrm>
          <a:prstGeom prst="rect">
            <a:avLst/>
          </a:prstGeom>
          <a:noFill/>
          <a:ln w="9525">
            <a:noFill/>
            <a:miter lim="800000"/>
            <a:headEnd/>
            <a:tailEnd/>
          </a:ln>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US" dirty="0"/>
              <a:t>Confidentiality maintained by exchanging the information in the encrypted form.</a:t>
            </a:r>
          </a:p>
          <a:p>
            <a:r>
              <a:rPr lang="en-US" dirty="0"/>
              <a:t>Authenticated the communication entities by Server certificates</a:t>
            </a:r>
          </a:p>
          <a:p>
            <a:endParaRPr lang="en-IN"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a:t>
            </a:r>
            <a:endParaRPr lang="en-IN" dirty="0"/>
          </a:p>
        </p:txBody>
      </p:sp>
      <p:pic>
        <p:nvPicPr>
          <p:cNvPr id="7170" name="Picture 2"/>
          <p:cNvPicPr>
            <a:picLocks noGrp="1" noChangeAspect="1" noChangeArrowheads="1"/>
          </p:cNvPicPr>
          <p:nvPr>
            <p:ph idx="1"/>
          </p:nvPr>
        </p:nvPicPr>
        <p:blipFill rotWithShape="1">
          <a:blip r:embed="rId2"/>
          <a:srcRect t="17674" b="17885"/>
          <a:stretch/>
        </p:blipFill>
        <p:spPr bwMode="auto">
          <a:xfrm>
            <a:off x="835748" y="2084832"/>
            <a:ext cx="7155003" cy="4187952"/>
          </a:xfrm>
          <a:prstGeom prst="rect">
            <a:avLst/>
          </a:prstGeom>
          <a:noFill/>
          <a:ln w="9525">
            <a:noFill/>
            <a:miter lim="800000"/>
            <a:headEnd/>
            <a:tailEnd/>
          </a:ln>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TLS</a:t>
            </a:r>
            <a:endParaRPr lang="en-IN" dirty="0"/>
          </a:p>
        </p:txBody>
      </p:sp>
      <p:sp>
        <p:nvSpPr>
          <p:cNvPr id="3" name="Content Placeholder 2"/>
          <p:cNvSpPr>
            <a:spLocks noGrp="1"/>
          </p:cNvSpPr>
          <p:nvPr>
            <p:ph idx="1"/>
          </p:nvPr>
        </p:nvSpPr>
        <p:spPr/>
        <p:txBody>
          <a:bodyPr>
            <a:normAutofit fontScale="92500"/>
          </a:bodyPr>
          <a:lstStyle/>
          <a:p>
            <a:r>
              <a:rPr lang="en-IN" dirty="0"/>
              <a:t>Transport Layer Security (TLS) encrypts data sent over the Internet to ensure that eavesdroppers and hackers are unable to see what you transmit which is particularly useful for private and sensitive information such as passwords, credit card numbers, and personal correspondence. </a:t>
            </a:r>
          </a:p>
          <a:p>
            <a:r>
              <a:rPr lang="en-IN" dirty="0"/>
              <a:t>TLS protocol aims primarily to provide cryptography, including privacy (confidentiality), integrity and authenticity through the use of certificates, between two or more communicating computer applications. It runs in the Application Layer.</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42918"/>
            <a:ext cx="7498080" cy="5605482"/>
          </a:xfrm>
        </p:spPr>
        <p:txBody>
          <a:bodyPr>
            <a:normAutofit fontScale="92500"/>
          </a:bodyPr>
          <a:lstStyle/>
          <a:p>
            <a:r>
              <a:rPr lang="en-IN" dirty="0"/>
              <a:t>With TLS it is also desirable that a client connecting to a server is able to validate ownership of the server’s public key. </a:t>
            </a:r>
          </a:p>
          <a:p>
            <a:r>
              <a:rPr lang="en-IN" dirty="0"/>
              <a:t>This is normally undertaken using an X.509 digital certificate issued by a trusted third party known as a Certificate Authority (CA) which asserts the authenticity of the public key. </a:t>
            </a:r>
          </a:p>
          <a:p>
            <a:r>
              <a:rPr lang="en-IN" dirty="0"/>
              <a:t>In some cases, a server may use a self-signed certificate which needs to be explicitly trusted by the client (browsers should display a warning when an </a:t>
            </a:r>
            <a:r>
              <a:rPr lang="en-IN" dirty="0" err="1"/>
              <a:t>untrusted</a:t>
            </a:r>
            <a:r>
              <a:rPr lang="en-IN" dirty="0"/>
              <a:t> certificate is encountered), but this may be acceptable in private networks and/or where secure certificate distribution is possible. </a:t>
            </a:r>
          </a:p>
          <a:p>
            <a:r>
              <a:rPr lang="en-IN" dirty="0"/>
              <a:t>It is highly recommended though, to use certificates issued by publicly trusted CAs.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a:t>
            </a:r>
            <a:endParaRPr lang="en-IN" dirty="0"/>
          </a:p>
        </p:txBody>
      </p:sp>
      <p:sp>
        <p:nvSpPr>
          <p:cNvPr id="3" name="Content Placeholder 2"/>
          <p:cNvSpPr>
            <a:spLocks noGrp="1"/>
          </p:cNvSpPr>
          <p:nvPr>
            <p:ph idx="1"/>
          </p:nvPr>
        </p:nvSpPr>
        <p:spPr>
          <a:xfrm>
            <a:off x="760396" y="1988840"/>
            <a:ext cx="7290055" cy="4023360"/>
          </a:xfrm>
        </p:spPr>
        <p:txBody>
          <a:bodyPr/>
          <a:lstStyle/>
          <a:p>
            <a:r>
              <a:rPr lang="en-US" dirty="0"/>
              <a:t>Secure Electronic Transaction</a:t>
            </a:r>
          </a:p>
          <a:p>
            <a:r>
              <a:rPr lang="en-US" dirty="0"/>
              <a:t>It is an open encryption and security specification designed to protect credit card transactions on the internet.</a:t>
            </a:r>
          </a:p>
          <a:p>
            <a:r>
              <a:rPr lang="en-US" dirty="0"/>
              <a:t>It is in effect a set of protocols for ensuring security and confidentiality.</a:t>
            </a:r>
          </a:p>
          <a:p>
            <a:r>
              <a:rPr lang="en-US" dirty="0"/>
              <a:t>It is first used in February 1996 and was proposed by Visa and MasterCard</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Wireless Authentication Protocols</a:t>
            </a:r>
            <a:endParaRPr lang="en-IN" dirty="0"/>
          </a:p>
        </p:txBody>
      </p:sp>
      <p:sp>
        <p:nvSpPr>
          <p:cNvPr id="3" name="Content Placeholder 2"/>
          <p:cNvSpPr>
            <a:spLocks noGrp="1"/>
          </p:cNvSpPr>
          <p:nvPr>
            <p:ph idx="1"/>
          </p:nvPr>
        </p:nvSpPr>
        <p:spPr/>
        <p:txBody>
          <a:bodyPr/>
          <a:lstStyle/>
          <a:p>
            <a:r>
              <a:rPr lang="en-US" dirty="0"/>
              <a:t>These are a number of wireless authentication protocols including</a:t>
            </a:r>
          </a:p>
          <a:p>
            <a:endParaRPr lang="en-IN" dirty="0"/>
          </a:p>
        </p:txBody>
      </p:sp>
      <p:graphicFrame>
        <p:nvGraphicFramePr>
          <p:cNvPr id="5" name="Table 4"/>
          <p:cNvGraphicFramePr>
            <a:graphicFrameLocks noGrp="1"/>
          </p:cNvGraphicFramePr>
          <p:nvPr/>
        </p:nvGraphicFramePr>
        <p:xfrm>
          <a:off x="1714480" y="2857496"/>
          <a:ext cx="6929486" cy="2286015"/>
        </p:xfrm>
        <a:graphic>
          <a:graphicData uri="http://schemas.openxmlformats.org/drawingml/2006/table">
            <a:tbl>
              <a:tblPr firstRow="1" bandRow="1">
                <a:tableStyleId>{5940675A-B579-460E-94D1-54222C63F5DA}</a:tableStyleId>
              </a:tblPr>
              <a:tblGrid>
                <a:gridCol w="1571636">
                  <a:extLst>
                    <a:ext uri="{9D8B030D-6E8A-4147-A177-3AD203B41FA5}">
                      <a16:colId xmlns:a16="http://schemas.microsoft.com/office/drawing/2014/main" val="20000"/>
                    </a:ext>
                  </a:extLst>
                </a:gridCol>
                <a:gridCol w="5357850">
                  <a:extLst>
                    <a:ext uri="{9D8B030D-6E8A-4147-A177-3AD203B41FA5}">
                      <a16:colId xmlns:a16="http://schemas.microsoft.com/office/drawing/2014/main" val="20001"/>
                    </a:ext>
                  </a:extLst>
                </a:gridCol>
              </a:tblGrid>
              <a:tr h="762005">
                <a:tc>
                  <a:txBody>
                    <a:bodyPr/>
                    <a:lstStyle/>
                    <a:p>
                      <a:r>
                        <a:rPr lang="en-US" dirty="0"/>
                        <a:t>EAP</a:t>
                      </a:r>
                      <a:endParaRPr lang="en-IN" dirty="0"/>
                    </a:p>
                  </a:txBody>
                  <a:tcPr/>
                </a:tc>
                <a:tc>
                  <a:txBody>
                    <a:bodyPr/>
                    <a:lstStyle/>
                    <a:p>
                      <a:r>
                        <a:rPr lang="en-US" dirty="0"/>
                        <a:t>Extensible Authentication Protocol</a:t>
                      </a:r>
                      <a:endParaRPr lang="en-IN" dirty="0"/>
                    </a:p>
                  </a:txBody>
                  <a:tcPr/>
                </a:tc>
                <a:extLst>
                  <a:ext uri="{0D108BD9-81ED-4DB2-BD59-A6C34878D82A}">
                    <a16:rowId xmlns:a16="http://schemas.microsoft.com/office/drawing/2014/main" val="10000"/>
                  </a:ext>
                </a:extLst>
              </a:tr>
              <a:tr h="762005">
                <a:tc>
                  <a:txBody>
                    <a:bodyPr/>
                    <a:lstStyle/>
                    <a:p>
                      <a:r>
                        <a:rPr lang="en-US" dirty="0"/>
                        <a:t>LEAP</a:t>
                      </a:r>
                      <a:endParaRPr lang="en-IN" dirty="0"/>
                    </a:p>
                  </a:txBody>
                  <a:tcPr/>
                </a:tc>
                <a:tc>
                  <a:txBody>
                    <a:bodyPr/>
                    <a:lstStyle/>
                    <a:p>
                      <a:r>
                        <a:rPr lang="en-US" dirty="0"/>
                        <a:t>Lightweight Extensible Authentication protocol</a:t>
                      </a:r>
                      <a:endParaRPr lang="en-IN" dirty="0"/>
                    </a:p>
                  </a:txBody>
                  <a:tcPr/>
                </a:tc>
                <a:extLst>
                  <a:ext uri="{0D108BD9-81ED-4DB2-BD59-A6C34878D82A}">
                    <a16:rowId xmlns:a16="http://schemas.microsoft.com/office/drawing/2014/main" val="10001"/>
                  </a:ext>
                </a:extLst>
              </a:tr>
              <a:tr h="762005">
                <a:tc>
                  <a:txBody>
                    <a:bodyPr/>
                    <a:lstStyle/>
                    <a:p>
                      <a:r>
                        <a:rPr lang="en-US" dirty="0"/>
                        <a:t>PEAP</a:t>
                      </a:r>
                      <a:endParaRPr lang="en-IN" dirty="0"/>
                    </a:p>
                  </a:txBody>
                  <a:tcPr/>
                </a:tc>
                <a:tc>
                  <a:txBody>
                    <a:bodyPr/>
                    <a:lstStyle/>
                    <a:p>
                      <a:r>
                        <a:rPr lang="en-US" dirty="0"/>
                        <a:t>Protected Extensible Authentication Protocol</a:t>
                      </a:r>
                      <a:endParaRPr lang="en-IN" dirty="0"/>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217646857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ACB45D-1566-DA64-0E54-4F00A15DC441}"/>
              </a:ext>
            </a:extLst>
          </p:cNvPr>
          <p:cNvSpPr>
            <a:spLocks noGrp="1"/>
          </p:cNvSpPr>
          <p:nvPr>
            <p:ph type="title"/>
          </p:nvPr>
        </p:nvSpPr>
        <p:spPr/>
        <p:txBody>
          <a:bodyPr/>
          <a:lstStyle/>
          <a:p>
            <a:r>
              <a:rPr lang="en-IN" dirty="0"/>
              <a:t>Extensible authentication Protocol (EAP)</a:t>
            </a:r>
          </a:p>
        </p:txBody>
      </p:sp>
      <p:sp>
        <p:nvSpPr>
          <p:cNvPr id="3" name="Content Placeholder 2">
            <a:extLst>
              <a:ext uri="{FF2B5EF4-FFF2-40B4-BE49-F238E27FC236}">
                <a16:creationId xmlns:a16="http://schemas.microsoft.com/office/drawing/2014/main" id="{6173EF08-F60D-B8C6-0696-452BEFCCE2E4}"/>
              </a:ext>
            </a:extLst>
          </p:cNvPr>
          <p:cNvSpPr>
            <a:spLocks noGrp="1"/>
          </p:cNvSpPr>
          <p:nvPr>
            <p:ph idx="1"/>
          </p:nvPr>
        </p:nvSpPr>
        <p:spPr/>
        <p:txBody>
          <a:bodyPr>
            <a:normAutofit lnSpcReduction="10000"/>
          </a:bodyPr>
          <a:lstStyle/>
          <a:p>
            <a:r>
              <a:rPr lang="en-IN" dirty="0"/>
              <a:t>Extensible Authentication Protocol (EAP) is an authentication framework.</a:t>
            </a:r>
          </a:p>
          <a:p>
            <a:r>
              <a:rPr lang="en-IN" dirty="0"/>
              <a:t>It is frequently used in wireless networks and point – to – point connections.</a:t>
            </a:r>
          </a:p>
          <a:p>
            <a:r>
              <a:rPr lang="en-IN" dirty="0"/>
              <a:t>It provides some common functions and negotiation of authentication methods called EAP methods.</a:t>
            </a:r>
          </a:p>
          <a:p>
            <a:r>
              <a:rPr lang="en-IN" dirty="0"/>
              <a:t>EAP authentication is generally initiated by the server. It is a protocol that basically supports a wide range of authentication protocols.</a:t>
            </a:r>
          </a:p>
        </p:txBody>
      </p:sp>
    </p:spTree>
    <p:extLst>
      <p:ext uri="{BB962C8B-B14F-4D97-AF65-F5344CB8AC3E}">
        <p14:creationId xmlns:p14="http://schemas.microsoft.com/office/powerpoint/2010/main" val="26360892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LEAP (Lightweight Extensible Authentication Protocol)</a:t>
            </a:r>
            <a:endParaRPr lang="en-IN" dirty="0"/>
          </a:p>
        </p:txBody>
      </p:sp>
      <p:sp>
        <p:nvSpPr>
          <p:cNvPr id="3" name="Content Placeholder 2"/>
          <p:cNvSpPr>
            <a:spLocks noGrp="1"/>
          </p:cNvSpPr>
          <p:nvPr>
            <p:ph idx="1"/>
          </p:nvPr>
        </p:nvSpPr>
        <p:spPr/>
        <p:txBody>
          <a:bodyPr>
            <a:normAutofit/>
          </a:bodyPr>
          <a:lstStyle/>
          <a:p>
            <a:r>
              <a:rPr lang="en-IN" dirty="0"/>
              <a:t>Proprietary protocol from Cisco Systems</a:t>
            </a:r>
          </a:p>
          <a:p>
            <a:r>
              <a:rPr lang="en-IN" dirty="0"/>
              <a:t>To authenticate the client must provide username and password credentials, then both client and Access Point (AP) exchanges encrypted challenge phrase.</a:t>
            </a:r>
          </a:p>
          <a:p>
            <a:r>
              <a:rPr lang="en-IN" dirty="0"/>
              <a:t>Access is provided to client if encrypted challenge phrase matches.</a:t>
            </a:r>
          </a:p>
          <a:p>
            <a:r>
              <a:rPr lang="en-IN" dirty="0"/>
              <a:t>Later it was found vulnerable, so LEAP has since been deprecated.</a:t>
            </a:r>
          </a:p>
        </p:txBody>
      </p:sp>
    </p:spTree>
    <p:extLst>
      <p:ext uri="{BB962C8B-B14F-4D97-AF65-F5344CB8AC3E}">
        <p14:creationId xmlns:p14="http://schemas.microsoft.com/office/powerpoint/2010/main" val="373451119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Protected Extensible Authentication Protocol (PEAP)</a:t>
            </a:r>
          </a:p>
        </p:txBody>
      </p:sp>
      <p:sp>
        <p:nvSpPr>
          <p:cNvPr id="3" name="Content Placeholder 2"/>
          <p:cNvSpPr>
            <a:spLocks noGrp="1"/>
          </p:cNvSpPr>
          <p:nvPr>
            <p:ph idx="1"/>
          </p:nvPr>
        </p:nvSpPr>
        <p:spPr/>
        <p:txBody>
          <a:bodyPr/>
          <a:lstStyle/>
          <a:p>
            <a:r>
              <a:rPr lang="en-IN" dirty="0"/>
              <a:t>PEAP was developed jointly by Cisco, Microsoft and RSA Security.</a:t>
            </a:r>
          </a:p>
          <a:p>
            <a:r>
              <a:rPr lang="en-IN" dirty="0"/>
              <a:t>It uses the Digital Certificate. Authentication server present a Digital Certificate (DC) to clients in outer authentication, if clients are satisfied with DC, then a TLS tunnel is built for inner authentication.</a:t>
            </a:r>
          </a:p>
          <a:p>
            <a:r>
              <a:rPr lang="en-IN" dirty="0"/>
              <a:t>The Digital Certificate consist of data in a standard form that identifies owner.</a:t>
            </a:r>
          </a:p>
        </p:txBody>
      </p:sp>
    </p:spTree>
    <p:extLst>
      <p:ext uri="{BB962C8B-B14F-4D97-AF65-F5344CB8AC3E}">
        <p14:creationId xmlns:p14="http://schemas.microsoft.com/office/powerpoint/2010/main" val="21196878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IPSEC</a:t>
            </a:r>
            <a:endParaRPr lang="en-IN" dirty="0"/>
          </a:p>
        </p:txBody>
      </p:sp>
      <p:sp>
        <p:nvSpPr>
          <p:cNvPr id="3" name="Content Placeholder 2"/>
          <p:cNvSpPr>
            <a:spLocks noGrp="1"/>
          </p:cNvSpPr>
          <p:nvPr>
            <p:ph idx="1"/>
          </p:nvPr>
        </p:nvSpPr>
        <p:spPr/>
        <p:txBody>
          <a:bodyPr/>
          <a:lstStyle/>
          <a:p>
            <a:r>
              <a:rPr lang="en-IN" dirty="0" err="1"/>
              <a:t>IPsec</a:t>
            </a:r>
            <a:r>
              <a:rPr lang="en-IN" dirty="0"/>
              <a:t> (Internet Protocol Security) is a framework that helps us to protect IP traffic on the network layer. </a:t>
            </a:r>
          </a:p>
          <a:p>
            <a:r>
              <a:rPr lang="en-US" b="1" dirty="0"/>
              <a:t>Reason:</a:t>
            </a:r>
            <a:endParaRPr lang="en-IN" b="1" dirty="0"/>
          </a:p>
          <a:p>
            <a:r>
              <a:rPr lang="en-IN" dirty="0"/>
              <a:t>Because the IP protocol itself doesn’t have any security features at all. </a:t>
            </a:r>
          </a:p>
        </p:txBody>
      </p:sp>
    </p:spTree>
    <p:extLst>
      <p:ext uri="{BB962C8B-B14F-4D97-AF65-F5344CB8AC3E}">
        <p14:creationId xmlns:p14="http://schemas.microsoft.com/office/powerpoint/2010/main" val="293781764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Security Associations (SA)</a:t>
            </a:r>
            <a:endParaRPr lang="en-IN" dirty="0"/>
          </a:p>
        </p:txBody>
      </p:sp>
      <p:sp>
        <p:nvSpPr>
          <p:cNvPr id="3" name="Content Placeholder 2"/>
          <p:cNvSpPr>
            <a:spLocks noGrp="1"/>
          </p:cNvSpPr>
          <p:nvPr>
            <p:ph idx="1"/>
          </p:nvPr>
        </p:nvSpPr>
        <p:spPr/>
        <p:txBody>
          <a:bodyPr/>
          <a:lstStyle/>
          <a:p>
            <a:r>
              <a:rPr lang="en-US" dirty="0"/>
              <a:t>An association is a one-way relationship between a sender and a receiver that affords security services to the traffic carried on it. </a:t>
            </a:r>
            <a:endParaRPr lang="en-IN" dirty="0"/>
          </a:p>
        </p:txBody>
      </p:sp>
    </p:spTree>
    <p:extLst>
      <p:ext uri="{BB962C8B-B14F-4D97-AF65-F5344CB8AC3E}">
        <p14:creationId xmlns:p14="http://schemas.microsoft.com/office/powerpoint/2010/main" val="35650745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IKE (Internet Key Exchange)</a:t>
            </a:r>
          </a:p>
        </p:txBody>
      </p:sp>
      <p:sp>
        <p:nvSpPr>
          <p:cNvPr id="3" name="Content Placeholder 2"/>
          <p:cNvSpPr>
            <a:spLocks noGrp="1"/>
          </p:cNvSpPr>
          <p:nvPr>
            <p:ph idx="1"/>
          </p:nvPr>
        </p:nvSpPr>
        <p:spPr/>
        <p:txBody>
          <a:bodyPr>
            <a:normAutofit fontScale="92500" lnSpcReduction="20000"/>
          </a:bodyPr>
          <a:lstStyle/>
          <a:p>
            <a:r>
              <a:rPr lang="en-IN" dirty="0"/>
              <a:t>IKE (Internet Key Exchange) is one of the primary protocols for IPsec since it establishes the secure, authenticated communication channel between two parties. </a:t>
            </a:r>
          </a:p>
          <a:p>
            <a:r>
              <a:rPr lang="en-IN" dirty="0"/>
              <a:t>IKE enables two parties on the internet to communicate securely. Specifically, it is a key management protocol used to set up a security association (SA) using IPSEC</a:t>
            </a:r>
          </a:p>
          <a:p>
            <a:r>
              <a:rPr lang="en-IN" dirty="0"/>
              <a:t>IKE uses two phases:</a:t>
            </a:r>
          </a:p>
          <a:p>
            <a:pPr lvl="1"/>
            <a:r>
              <a:rPr lang="en-IN" dirty="0"/>
              <a:t>IKE Phase 1</a:t>
            </a:r>
          </a:p>
          <a:p>
            <a:pPr lvl="1"/>
            <a:r>
              <a:rPr lang="en-IN" dirty="0"/>
              <a:t>IKE Phase 2</a:t>
            </a:r>
          </a:p>
          <a:p>
            <a:endParaRPr lang="en-IN" dirty="0"/>
          </a:p>
        </p:txBody>
      </p:sp>
    </p:spTree>
    <p:extLst>
      <p:ext uri="{BB962C8B-B14F-4D97-AF65-F5344CB8AC3E}">
        <p14:creationId xmlns:p14="http://schemas.microsoft.com/office/powerpoint/2010/main" val="2747033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IKE phase 1</a:t>
            </a:r>
            <a:endParaRPr lang="en-IN" dirty="0"/>
          </a:p>
        </p:txBody>
      </p:sp>
      <p:sp>
        <p:nvSpPr>
          <p:cNvPr id="3" name="Content Placeholder 2"/>
          <p:cNvSpPr>
            <a:spLocks noGrp="1"/>
          </p:cNvSpPr>
          <p:nvPr>
            <p:ph idx="1"/>
          </p:nvPr>
        </p:nvSpPr>
        <p:spPr/>
        <p:txBody>
          <a:bodyPr>
            <a:normAutofit/>
          </a:bodyPr>
          <a:lstStyle/>
          <a:p>
            <a:r>
              <a:rPr lang="en-IN" dirty="0"/>
              <a:t>In IKE phase 1, two peers will negotiate about the encryption, authentication, hashing and other protocols that they want to use and some other parameters that are required.</a:t>
            </a:r>
          </a:p>
          <a:p>
            <a:r>
              <a:rPr lang="en-IN" dirty="0"/>
              <a:t> In this phase, an </a:t>
            </a:r>
            <a:r>
              <a:rPr lang="en-IN" b="1" dirty="0"/>
              <a:t>ISAKMP (Internet Security Association and Key Management Protocol)</a:t>
            </a:r>
            <a:r>
              <a:rPr lang="en-IN" dirty="0"/>
              <a:t> session is established.</a:t>
            </a:r>
          </a:p>
          <a:p>
            <a:r>
              <a:rPr lang="en-IN" dirty="0"/>
              <a:t> This is also called the </a:t>
            </a:r>
            <a:r>
              <a:rPr lang="en-IN" b="1" dirty="0"/>
              <a:t>ISAKMP tunnel</a:t>
            </a:r>
            <a:r>
              <a:rPr lang="en-IN" dirty="0"/>
              <a:t> or </a:t>
            </a:r>
            <a:r>
              <a:rPr lang="en-IN" b="1" dirty="0"/>
              <a:t>IKE phase 1</a:t>
            </a:r>
            <a:r>
              <a:rPr lang="en-IN" dirty="0"/>
              <a:t> tunnel.</a:t>
            </a:r>
          </a:p>
          <a:p>
            <a:endParaRPr lang="en-IN" dirty="0"/>
          </a:p>
        </p:txBody>
      </p:sp>
    </p:spTree>
    <p:extLst>
      <p:ext uri="{BB962C8B-B14F-4D97-AF65-F5344CB8AC3E}">
        <p14:creationId xmlns:p14="http://schemas.microsoft.com/office/powerpoint/2010/main" val="276325361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IKE Phase 1</a:t>
            </a:r>
          </a:p>
        </p:txBody>
      </p:sp>
      <p:sp>
        <p:nvSpPr>
          <p:cNvPr id="3" name="Content Placeholder 2"/>
          <p:cNvSpPr>
            <a:spLocks noGrp="1"/>
          </p:cNvSpPr>
          <p:nvPr>
            <p:ph idx="1"/>
          </p:nvPr>
        </p:nvSpPr>
        <p:spPr/>
        <p:txBody>
          <a:bodyPr/>
          <a:lstStyle/>
          <a:p>
            <a:r>
              <a:rPr lang="en-IN" dirty="0"/>
              <a:t>The main purpose of IKE phase 1 is to establish a secure tunnel that we can use for IKE phase 2.</a:t>
            </a:r>
          </a:p>
        </p:txBody>
      </p:sp>
    </p:spTree>
    <p:extLst>
      <p:ext uri="{BB962C8B-B14F-4D97-AF65-F5344CB8AC3E}">
        <p14:creationId xmlns:p14="http://schemas.microsoft.com/office/powerpoint/2010/main" val="138026222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Step 1 : Negotiation</a:t>
            </a:r>
            <a:endParaRPr lang="en-IN" dirty="0"/>
          </a:p>
        </p:txBody>
      </p:sp>
      <p:sp>
        <p:nvSpPr>
          <p:cNvPr id="3" name="Content Placeholder 2"/>
          <p:cNvSpPr>
            <a:spLocks noGrp="1"/>
          </p:cNvSpPr>
          <p:nvPr>
            <p:ph idx="1"/>
          </p:nvPr>
        </p:nvSpPr>
        <p:spPr>
          <a:xfrm>
            <a:off x="768096" y="1916832"/>
            <a:ext cx="7290055" cy="4392528"/>
          </a:xfrm>
        </p:spPr>
        <p:txBody>
          <a:bodyPr>
            <a:normAutofit fontScale="92500"/>
          </a:bodyPr>
          <a:lstStyle/>
          <a:p>
            <a:r>
              <a:rPr lang="en-IN" sz="1600" b="1" dirty="0"/>
              <a:t>Hashing</a:t>
            </a:r>
            <a:r>
              <a:rPr lang="en-IN" sz="1600" dirty="0"/>
              <a:t>: we use a hashing algorithm to verify the integrity, we use MD5 or SHA for this.</a:t>
            </a:r>
          </a:p>
          <a:p>
            <a:r>
              <a:rPr lang="en-IN" sz="1600" b="1" dirty="0"/>
              <a:t>Authentication</a:t>
            </a:r>
            <a:r>
              <a:rPr lang="en-IN" sz="1600" dirty="0"/>
              <a:t>: each peer has to prove who he is. Two commonly used options are a pre-shared key or digital certificates.</a:t>
            </a:r>
          </a:p>
          <a:p>
            <a:r>
              <a:rPr lang="en-IN" sz="1600" b="1" dirty="0"/>
              <a:t>DH (</a:t>
            </a:r>
            <a:r>
              <a:rPr lang="en-IN" sz="1600" b="1" dirty="0" err="1"/>
              <a:t>Diffie</a:t>
            </a:r>
            <a:r>
              <a:rPr lang="en-IN" sz="1600" b="1" dirty="0"/>
              <a:t> Hellman) group</a:t>
            </a:r>
            <a:r>
              <a:rPr lang="en-IN" sz="1600" dirty="0"/>
              <a:t>: the DH group determines the strength of the key that is used in the key exchange process. The higher group numbers are more secure but take longer to compute.</a:t>
            </a:r>
          </a:p>
          <a:p>
            <a:r>
              <a:rPr lang="en-IN" sz="1600" b="1" dirty="0"/>
              <a:t>Lifetime</a:t>
            </a:r>
            <a:r>
              <a:rPr lang="en-IN" sz="1600" dirty="0"/>
              <a:t>: how long does the IKE phase 1 tunnel stand up? the shorter the lifetime, the more secure it is because rebuilding it means we will also use new keying material. Each vendor uses a different lifetime, a common default value is 86400 seconds (1 day).</a:t>
            </a:r>
          </a:p>
          <a:p>
            <a:r>
              <a:rPr lang="en-IN" sz="1600" b="1" dirty="0"/>
              <a:t>Encryption</a:t>
            </a:r>
            <a:r>
              <a:rPr lang="en-IN" sz="1600" dirty="0"/>
              <a:t>: what algorithm do we use for encryption? For example, DES, 3DES or AES.</a:t>
            </a:r>
          </a:p>
        </p:txBody>
      </p:sp>
    </p:spTree>
    <p:extLst>
      <p:ext uri="{BB962C8B-B14F-4D97-AF65-F5344CB8AC3E}">
        <p14:creationId xmlns:p14="http://schemas.microsoft.com/office/powerpoint/2010/main" val="232989123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Step 2: DH Key Exchange</a:t>
            </a:r>
            <a:endParaRPr lang="en-IN" dirty="0"/>
          </a:p>
        </p:txBody>
      </p:sp>
      <p:sp>
        <p:nvSpPr>
          <p:cNvPr id="3" name="Content Placeholder 2"/>
          <p:cNvSpPr>
            <a:spLocks noGrp="1"/>
          </p:cNvSpPr>
          <p:nvPr>
            <p:ph idx="1"/>
          </p:nvPr>
        </p:nvSpPr>
        <p:spPr/>
        <p:txBody>
          <a:bodyPr/>
          <a:lstStyle/>
          <a:p>
            <a:r>
              <a:rPr lang="en-IN" dirty="0"/>
              <a:t>Once the negotiation has succeeded, the two peers will know what policy to use. They will now use the DH group that they negotiated to exchange keying material. The end result will be that both peers will have a shared key.</a:t>
            </a:r>
          </a:p>
        </p:txBody>
      </p:sp>
    </p:spTree>
    <p:extLst>
      <p:ext uri="{BB962C8B-B14F-4D97-AF65-F5344CB8AC3E}">
        <p14:creationId xmlns:p14="http://schemas.microsoft.com/office/powerpoint/2010/main" val="10917814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Step 3: Authentication</a:t>
            </a:r>
            <a:endParaRPr lang="en-IN" dirty="0"/>
          </a:p>
        </p:txBody>
      </p:sp>
      <p:sp>
        <p:nvSpPr>
          <p:cNvPr id="3" name="Content Placeholder 2"/>
          <p:cNvSpPr>
            <a:spLocks noGrp="1"/>
          </p:cNvSpPr>
          <p:nvPr>
            <p:ph idx="1"/>
          </p:nvPr>
        </p:nvSpPr>
        <p:spPr/>
        <p:txBody>
          <a:bodyPr/>
          <a:lstStyle/>
          <a:p>
            <a:r>
              <a:rPr lang="en-IN" dirty="0"/>
              <a:t>The last step is that the two peers will authenticate each other using the authentication method that they agreed upon on in the negotiation. When the authentication is successful, then IKE phase 1 completed.</a:t>
            </a:r>
          </a:p>
          <a:p>
            <a:r>
              <a:rPr lang="en-IN" dirty="0"/>
              <a:t>The end result is a IKE phase 1 tunnel (aka ISAKMP tunnel) which is bidirectional. </a:t>
            </a:r>
          </a:p>
          <a:p>
            <a:r>
              <a:rPr lang="en-IN" dirty="0"/>
              <a:t>This means that both peers can send and receive on this tunnel.</a:t>
            </a:r>
          </a:p>
        </p:txBody>
      </p:sp>
    </p:spTree>
    <p:extLst>
      <p:ext uri="{BB962C8B-B14F-4D97-AF65-F5344CB8AC3E}">
        <p14:creationId xmlns:p14="http://schemas.microsoft.com/office/powerpoint/2010/main" val="317532726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The three steps above can be completed using two different modes:</a:t>
            </a:r>
          </a:p>
          <a:p>
            <a:pPr lvl="1"/>
            <a:r>
              <a:rPr lang="en-IN" b="1" dirty="0"/>
              <a:t>Main mode</a:t>
            </a:r>
            <a:endParaRPr lang="en-IN" dirty="0"/>
          </a:p>
          <a:p>
            <a:pPr lvl="1"/>
            <a:r>
              <a:rPr lang="en-IN" b="1" dirty="0"/>
              <a:t>Aggressive mode</a:t>
            </a:r>
            <a:endParaRPr lang="en-IN" dirty="0"/>
          </a:p>
          <a:p>
            <a:r>
              <a:rPr lang="en-IN" dirty="0"/>
              <a:t>Main mode uses six messages while aggressive mode only uses three messages. Main mode is considered more secure. </a:t>
            </a:r>
          </a:p>
        </p:txBody>
      </p:sp>
    </p:spTree>
    <p:extLst>
      <p:ext uri="{BB962C8B-B14F-4D97-AF65-F5344CB8AC3E}">
        <p14:creationId xmlns:p14="http://schemas.microsoft.com/office/powerpoint/2010/main" val="240695036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IKE-Phase 2</a:t>
            </a:r>
            <a:endParaRPr lang="en-IN" dirty="0"/>
          </a:p>
        </p:txBody>
      </p:sp>
      <p:sp>
        <p:nvSpPr>
          <p:cNvPr id="3" name="Content Placeholder 2"/>
          <p:cNvSpPr>
            <a:spLocks noGrp="1"/>
          </p:cNvSpPr>
          <p:nvPr>
            <p:ph idx="1"/>
          </p:nvPr>
        </p:nvSpPr>
        <p:spPr/>
        <p:txBody>
          <a:bodyPr/>
          <a:lstStyle/>
          <a:p>
            <a:r>
              <a:rPr lang="en-IN" dirty="0"/>
              <a:t>The IKE phase 2 tunnel (</a:t>
            </a:r>
            <a:r>
              <a:rPr lang="en-IN" dirty="0" err="1"/>
              <a:t>IPsec</a:t>
            </a:r>
            <a:r>
              <a:rPr lang="en-IN" dirty="0"/>
              <a:t> tunnel) will be actually used to protect user data. There is only one mode to build the IKE phase 2 tunnel which is called </a:t>
            </a:r>
            <a:r>
              <a:rPr lang="en-IN" b="1" dirty="0"/>
              <a:t>quick mode</a:t>
            </a:r>
            <a:r>
              <a:rPr lang="en-IN" dirty="0"/>
              <a:t>.</a:t>
            </a:r>
          </a:p>
        </p:txBody>
      </p:sp>
    </p:spTree>
    <p:extLst>
      <p:ext uri="{BB962C8B-B14F-4D97-AF65-F5344CB8AC3E}">
        <p14:creationId xmlns:p14="http://schemas.microsoft.com/office/powerpoint/2010/main" val="128064200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20000"/>
          </a:bodyPr>
          <a:lstStyle/>
          <a:p>
            <a:r>
              <a:rPr lang="en-IN" b="1" dirty="0" err="1"/>
              <a:t>IPsec</a:t>
            </a:r>
            <a:r>
              <a:rPr lang="en-IN" b="1" dirty="0"/>
              <a:t> Protocol</a:t>
            </a:r>
            <a:r>
              <a:rPr lang="en-IN" dirty="0"/>
              <a:t>: do we use AH or ESP?</a:t>
            </a:r>
          </a:p>
          <a:p>
            <a:r>
              <a:rPr lang="en-IN" b="1" dirty="0"/>
              <a:t>Encapsulation Mode</a:t>
            </a:r>
            <a:r>
              <a:rPr lang="en-IN" dirty="0"/>
              <a:t>: transport or tunnel mode?</a:t>
            </a:r>
          </a:p>
          <a:p>
            <a:r>
              <a:rPr lang="en-IN" b="1" dirty="0"/>
              <a:t>Encryption</a:t>
            </a:r>
            <a:r>
              <a:rPr lang="en-IN" dirty="0"/>
              <a:t>: what encryption algorithm do we use? DES, 3DES or AES?</a:t>
            </a:r>
          </a:p>
          <a:p>
            <a:r>
              <a:rPr lang="en-IN" b="1" dirty="0"/>
              <a:t>Authentication</a:t>
            </a:r>
            <a:r>
              <a:rPr lang="en-IN" dirty="0"/>
              <a:t>: what authentication algorithm do we use? MD5 or SHA?</a:t>
            </a:r>
          </a:p>
          <a:p>
            <a:r>
              <a:rPr lang="en-IN" b="1" dirty="0"/>
              <a:t>Lifetime</a:t>
            </a:r>
            <a:r>
              <a:rPr lang="en-IN" dirty="0"/>
              <a:t>: how long is the IKE phase 2 tunnel valid? When the tunnel is about to expire, we will refresh the keying material.</a:t>
            </a:r>
          </a:p>
          <a:p>
            <a:r>
              <a:rPr lang="en-IN" b="1" dirty="0"/>
              <a:t>(Optional) DH exchange</a:t>
            </a:r>
            <a:r>
              <a:rPr lang="en-IN" dirty="0"/>
              <a:t>: used for PFS (Perfect Forward Secrecy).</a:t>
            </a:r>
          </a:p>
          <a:p>
            <a:endParaRPr lang="en-IN" dirty="0"/>
          </a:p>
        </p:txBody>
      </p:sp>
    </p:spTree>
    <p:extLst>
      <p:ext uri="{BB962C8B-B14F-4D97-AF65-F5344CB8AC3E}">
        <p14:creationId xmlns:p14="http://schemas.microsoft.com/office/powerpoint/2010/main" val="229492045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lvl="0"/>
            <a:r>
              <a:rPr lang="en-US" b="1" dirty="0"/>
              <a:t>IPSec Protocol Mode:</a:t>
            </a:r>
            <a:r>
              <a:rPr lang="en-US" dirty="0"/>
              <a:t> Tunnel, transport, or wildcard (required for all implementations).</a:t>
            </a:r>
            <a:endParaRPr lang="en-IN" dirty="0"/>
          </a:p>
          <a:p>
            <a:pPr lvl="0"/>
            <a:r>
              <a:rPr lang="en-US" b="1" dirty="0"/>
              <a:t>Path MTU:</a:t>
            </a:r>
            <a:r>
              <a:rPr lang="en-US" dirty="0"/>
              <a:t> Any observed path maximum transmission unit (maximum size of a packet that can be transmitted without fragmentation) and aging variables (required for all implementations).</a:t>
            </a:r>
            <a:endParaRPr lang="en-IN" dirty="0"/>
          </a:p>
          <a:p>
            <a:endParaRPr lang="en-IN" dirty="0"/>
          </a:p>
        </p:txBody>
      </p:sp>
    </p:spTree>
    <p:extLst>
      <p:ext uri="{BB962C8B-B14F-4D97-AF65-F5344CB8AC3E}">
        <p14:creationId xmlns:p14="http://schemas.microsoft.com/office/powerpoint/2010/main" val="124339202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IPSEC Protocol</a:t>
            </a:r>
            <a:endParaRPr lang="en-IN" dirty="0"/>
          </a:p>
        </p:txBody>
      </p:sp>
      <p:pic>
        <p:nvPicPr>
          <p:cNvPr id="4" name="Content Placeholder 3" descr="IPSec Protocol"/>
          <p:cNvPicPr>
            <a:picLocks noGrp="1"/>
          </p:cNvPicPr>
          <p:nvPr>
            <p:ph idx="1"/>
          </p:nvPr>
        </p:nvPicPr>
        <p:blipFill>
          <a:blip r:embed="rId2" r:link="rId3">
            <a:grayscl/>
          </a:blip>
          <a:srcRect t="20395" b="7697"/>
          <a:stretch>
            <a:fillRect/>
          </a:stretch>
        </p:blipFill>
        <p:spPr bwMode="auto">
          <a:xfrm>
            <a:off x="652304" y="1709089"/>
            <a:ext cx="7802880" cy="4208171"/>
          </a:xfrm>
          <a:prstGeom prst="rect">
            <a:avLst/>
          </a:prstGeom>
          <a:noFill/>
          <a:ln w="9525">
            <a:noFill/>
            <a:miter lim="800000"/>
            <a:headEnd/>
            <a:tailEnd/>
          </a:ln>
        </p:spPr>
      </p:pic>
    </p:spTree>
    <p:extLst>
      <p:ext uri="{BB962C8B-B14F-4D97-AF65-F5344CB8AC3E}">
        <p14:creationId xmlns:p14="http://schemas.microsoft.com/office/powerpoint/2010/main" val="45349711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IN" dirty="0"/>
              <a:t>Both protocols support two different modes:</a:t>
            </a:r>
          </a:p>
          <a:p>
            <a:pPr lvl="1"/>
            <a:r>
              <a:rPr lang="en-IN" b="1" dirty="0"/>
              <a:t>Transport mode</a:t>
            </a:r>
            <a:endParaRPr lang="en-IN" dirty="0"/>
          </a:p>
          <a:p>
            <a:pPr lvl="1"/>
            <a:r>
              <a:rPr lang="en-IN" b="1" dirty="0"/>
              <a:t>Tunnel mode</a:t>
            </a:r>
            <a:endParaRPr lang="en-IN" dirty="0"/>
          </a:p>
          <a:p>
            <a:r>
              <a:rPr lang="en-IN" dirty="0"/>
              <a:t>The main difference between the two is that with transport mode we will use the </a:t>
            </a:r>
            <a:r>
              <a:rPr lang="en-IN" b="1" dirty="0"/>
              <a:t>original IP header where only  the packet payload is encrypted</a:t>
            </a:r>
            <a:r>
              <a:rPr lang="en-IN" dirty="0"/>
              <a:t> while in tunnel mode, we use a new </a:t>
            </a:r>
            <a:r>
              <a:rPr lang="en-IN" b="1" dirty="0"/>
              <a:t>IP header where the entire packet is encrypted</a:t>
            </a:r>
            <a:r>
              <a:rPr lang="en-IN" dirty="0"/>
              <a:t>.</a:t>
            </a:r>
          </a:p>
        </p:txBody>
      </p:sp>
    </p:spTree>
    <p:extLst>
      <p:ext uri="{BB962C8B-B14F-4D97-AF65-F5344CB8AC3E}">
        <p14:creationId xmlns:p14="http://schemas.microsoft.com/office/powerpoint/2010/main" val="250936296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Transport and Tunnel Mode</a:t>
            </a:r>
            <a:endParaRPr lang="en-IN" dirty="0"/>
          </a:p>
        </p:txBody>
      </p:sp>
      <p:pic>
        <p:nvPicPr>
          <p:cNvPr id="1026" name="Picture 2"/>
          <p:cNvPicPr>
            <a:picLocks noGrp="1" noChangeAspect="1" noChangeArrowheads="1"/>
          </p:cNvPicPr>
          <p:nvPr>
            <p:ph idx="1"/>
          </p:nvPr>
        </p:nvPicPr>
        <p:blipFill>
          <a:blip r:embed="rId2"/>
          <a:srcRect/>
          <a:stretch>
            <a:fillRect/>
          </a:stretch>
        </p:blipFill>
        <p:spPr bwMode="auto">
          <a:xfrm>
            <a:off x="374174" y="1782445"/>
            <a:ext cx="8359140" cy="4061460"/>
          </a:xfrm>
          <a:prstGeom prst="rect">
            <a:avLst/>
          </a:prstGeom>
          <a:noFill/>
          <a:ln w="9525">
            <a:noFill/>
            <a:miter lim="800000"/>
            <a:headEnd/>
            <a:tailEnd/>
          </a:ln>
          <a:effectLst/>
        </p:spPr>
      </p:pic>
    </p:spTree>
    <p:extLst>
      <p:ext uri="{BB962C8B-B14F-4D97-AF65-F5344CB8AC3E}">
        <p14:creationId xmlns:p14="http://schemas.microsoft.com/office/powerpoint/2010/main" val="149964991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lvl="1"/>
            <a:r>
              <a:rPr lang="en-IN" b="1" dirty="0"/>
              <a:t>AH (Authentication Header)</a:t>
            </a:r>
            <a:endParaRPr lang="en-IN" dirty="0"/>
          </a:p>
          <a:p>
            <a:pPr lvl="1"/>
            <a:r>
              <a:rPr lang="en-IN" b="1" dirty="0"/>
              <a:t>ESP (Encapsulating Security Payload)</a:t>
            </a:r>
            <a:endParaRPr lang="en-IN" dirty="0"/>
          </a:p>
          <a:p>
            <a:r>
              <a:rPr lang="en-IN" dirty="0"/>
              <a:t>AH and ESP both offer authentication and integrity but only </a:t>
            </a:r>
            <a:r>
              <a:rPr lang="en-IN" b="1" dirty="0"/>
              <a:t>ESP supports encryption</a:t>
            </a:r>
            <a:r>
              <a:rPr lang="en-IN" dirty="0"/>
              <a:t>. Because of this, ESP is the most popular choice nowadays.</a:t>
            </a:r>
          </a:p>
          <a:p>
            <a:endParaRPr lang="en-IN" dirty="0"/>
          </a:p>
        </p:txBody>
      </p:sp>
    </p:spTree>
    <p:extLst>
      <p:ext uri="{BB962C8B-B14F-4D97-AF65-F5344CB8AC3E}">
        <p14:creationId xmlns:p14="http://schemas.microsoft.com/office/powerpoint/2010/main" val="209449867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27376D-4F69-7E78-CE74-93C24C6066B5}"/>
              </a:ext>
            </a:extLst>
          </p:cNvPr>
          <p:cNvSpPr>
            <a:spLocks noGrp="1"/>
          </p:cNvSpPr>
          <p:nvPr>
            <p:ph type="title"/>
          </p:nvPr>
        </p:nvSpPr>
        <p:spPr/>
        <p:txBody>
          <a:bodyPr/>
          <a:lstStyle/>
          <a:p>
            <a:r>
              <a:rPr lang="en-IN" dirty="0"/>
              <a:t>Point to point protocol (</a:t>
            </a:r>
            <a:r>
              <a:rPr lang="en-IN" dirty="0" err="1"/>
              <a:t>ppp</a:t>
            </a:r>
            <a:r>
              <a:rPr lang="en-IN" dirty="0"/>
              <a:t>)</a:t>
            </a:r>
          </a:p>
        </p:txBody>
      </p:sp>
      <p:sp>
        <p:nvSpPr>
          <p:cNvPr id="3" name="Content Placeholder 2">
            <a:extLst>
              <a:ext uri="{FF2B5EF4-FFF2-40B4-BE49-F238E27FC236}">
                <a16:creationId xmlns:a16="http://schemas.microsoft.com/office/drawing/2014/main" id="{3B516246-86AB-4F0B-8BE7-4CEEF6675DB2}"/>
              </a:ext>
            </a:extLst>
          </p:cNvPr>
          <p:cNvSpPr>
            <a:spLocks noGrp="1"/>
          </p:cNvSpPr>
          <p:nvPr>
            <p:ph idx="1"/>
          </p:nvPr>
        </p:nvSpPr>
        <p:spPr/>
        <p:txBody>
          <a:bodyPr>
            <a:normAutofit fontScale="92500" lnSpcReduction="20000"/>
          </a:bodyPr>
          <a:lstStyle/>
          <a:p>
            <a:r>
              <a:rPr lang="en-IN" dirty="0"/>
              <a:t>Point to point protocol is basically an asymmetrical protocol suite for different connections or links</a:t>
            </a:r>
          </a:p>
          <a:p>
            <a:r>
              <a:rPr lang="en-IN" dirty="0"/>
              <a:t>PPP also wants other protocols to establish connection, authenticate users and to carry the network layer data.</a:t>
            </a:r>
          </a:p>
          <a:p>
            <a:r>
              <a:rPr lang="en-IN" dirty="0"/>
              <a:t>PPP is not a single protocol but a protocol suite that includes protocols that simply address different aspects of point to point layer 2 communication</a:t>
            </a:r>
          </a:p>
          <a:p>
            <a:r>
              <a:rPr lang="en-IN" dirty="0"/>
              <a:t>There are basically 2 routers in the PPP session i.e., initiator (mainly client) and Responder (mainly server).</a:t>
            </a:r>
          </a:p>
        </p:txBody>
      </p:sp>
    </p:spTree>
    <p:extLst>
      <p:ext uri="{BB962C8B-B14F-4D97-AF65-F5344CB8AC3E}">
        <p14:creationId xmlns:p14="http://schemas.microsoft.com/office/powerpoint/2010/main" val="19297943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PAP</a:t>
            </a:r>
            <a:endParaRPr lang="en-IN" dirty="0"/>
          </a:p>
        </p:txBody>
      </p:sp>
      <p:pic>
        <p:nvPicPr>
          <p:cNvPr id="1026" name="Picture 2"/>
          <p:cNvPicPr>
            <a:picLocks noGrp="1" noChangeAspect="1" noChangeArrowheads="1"/>
          </p:cNvPicPr>
          <p:nvPr>
            <p:ph idx="1"/>
          </p:nvPr>
        </p:nvPicPr>
        <p:blipFill>
          <a:blip r:embed="rId2"/>
          <a:stretch>
            <a:fillRect/>
          </a:stretch>
        </p:blipFill>
        <p:spPr bwMode="auto">
          <a:xfrm>
            <a:off x="835748" y="2286000"/>
            <a:ext cx="7155003" cy="4022725"/>
          </a:xfrm>
          <a:prstGeom prst="rect">
            <a:avLst/>
          </a:prstGeom>
          <a:noFill/>
          <a:ln w="9525">
            <a:noFill/>
            <a:miter lim="800000"/>
            <a:headEnd/>
            <a:tailEnd/>
          </a:ln>
          <a:effectLst/>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CHAP</a:t>
            </a:r>
            <a:endParaRPr lang="en-IN" dirty="0"/>
          </a:p>
        </p:txBody>
      </p:sp>
      <p:pic>
        <p:nvPicPr>
          <p:cNvPr id="3074" name="Picture 2"/>
          <p:cNvPicPr>
            <a:picLocks noGrp="1" noChangeAspect="1" noChangeArrowheads="1"/>
          </p:cNvPicPr>
          <p:nvPr>
            <p:ph idx="1"/>
          </p:nvPr>
        </p:nvPicPr>
        <p:blipFill>
          <a:blip r:embed="rId2"/>
          <a:srcRect/>
          <a:stretch>
            <a:fillRect/>
          </a:stretch>
        </p:blipFill>
        <p:spPr bwMode="auto">
          <a:xfrm>
            <a:off x="1785918" y="1756410"/>
            <a:ext cx="6357982" cy="4775394"/>
          </a:xfrm>
          <a:prstGeom prst="rect">
            <a:avLst/>
          </a:prstGeom>
          <a:noFill/>
          <a:ln w="9525">
            <a:noFill/>
            <a:miter lim="800000"/>
            <a:headEnd/>
            <a:tailEnd/>
          </a:ln>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Challenge</a:t>
            </a:r>
            <a:endParaRPr lang="en-IN" dirty="0"/>
          </a:p>
        </p:txBody>
      </p:sp>
      <p:pic>
        <p:nvPicPr>
          <p:cNvPr id="4098" name="Picture 2"/>
          <p:cNvPicPr>
            <a:picLocks noGrp="1" noChangeAspect="1" noChangeArrowheads="1"/>
          </p:cNvPicPr>
          <p:nvPr>
            <p:ph idx="1"/>
          </p:nvPr>
        </p:nvPicPr>
        <p:blipFill>
          <a:blip r:embed="rId2"/>
          <a:srcRect/>
          <a:stretch>
            <a:fillRect/>
          </a:stretch>
        </p:blipFill>
        <p:spPr bwMode="auto">
          <a:xfrm>
            <a:off x="1293192" y="1643050"/>
            <a:ext cx="7350774" cy="5000660"/>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Response</a:t>
            </a:r>
            <a:endParaRPr lang="en-IN" dirty="0"/>
          </a:p>
        </p:txBody>
      </p:sp>
      <p:pic>
        <p:nvPicPr>
          <p:cNvPr id="5122" name="Picture 2"/>
          <p:cNvPicPr>
            <a:picLocks noGrp="1" noChangeAspect="1" noChangeArrowheads="1"/>
          </p:cNvPicPr>
          <p:nvPr>
            <p:ph idx="1"/>
          </p:nvPr>
        </p:nvPicPr>
        <p:blipFill>
          <a:blip r:embed="rId2"/>
          <a:stretch>
            <a:fillRect/>
          </a:stretch>
        </p:blipFill>
        <p:spPr bwMode="auto">
          <a:xfrm>
            <a:off x="1626320" y="2286000"/>
            <a:ext cx="5573860" cy="4022725"/>
          </a:xfrm>
          <a:prstGeom prst="rect">
            <a:avLst/>
          </a:prstGeom>
          <a:noFill/>
          <a:ln w="9525">
            <a:noFill/>
            <a:miter lim="800000"/>
            <a:headEnd/>
            <a:tailEnd/>
          </a:ln>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Success</a:t>
            </a:r>
            <a:endParaRPr lang="en-IN" dirty="0"/>
          </a:p>
        </p:txBody>
      </p:sp>
      <p:pic>
        <p:nvPicPr>
          <p:cNvPr id="6146" name="Picture 2"/>
          <p:cNvPicPr>
            <a:picLocks noGrp="1" noChangeAspect="1" noChangeArrowheads="1"/>
          </p:cNvPicPr>
          <p:nvPr>
            <p:ph idx="1"/>
          </p:nvPr>
        </p:nvPicPr>
        <p:blipFill>
          <a:blip r:embed="rId2"/>
          <a:srcRect/>
          <a:stretch>
            <a:fillRect/>
          </a:stretch>
        </p:blipFill>
        <p:spPr bwMode="auto">
          <a:xfrm>
            <a:off x="1357290" y="1643050"/>
            <a:ext cx="7500990" cy="4929222"/>
          </a:xfrm>
          <a:prstGeom prst="rect">
            <a:avLst/>
          </a:prstGeom>
          <a:noFill/>
          <a:ln w="9525">
            <a:noFill/>
            <a:miter lim="800000"/>
            <a:headEnd/>
            <a:tailEnd/>
          </a:ln>
          <a:effectLst/>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AAA</a:t>
            </a:r>
            <a:endParaRPr lang="en-IN" dirty="0"/>
          </a:p>
        </p:txBody>
      </p:sp>
      <p:sp>
        <p:nvSpPr>
          <p:cNvPr id="3" name="Content Placeholder 2"/>
          <p:cNvSpPr>
            <a:spLocks noGrp="1"/>
          </p:cNvSpPr>
          <p:nvPr>
            <p:ph idx="1"/>
          </p:nvPr>
        </p:nvSpPr>
        <p:spPr/>
        <p:txBody>
          <a:bodyPr/>
          <a:lstStyle/>
          <a:p>
            <a:r>
              <a:rPr lang="en-IN" dirty="0"/>
              <a:t>Authentication, Authorization and Accounting (AAA).</a:t>
            </a:r>
          </a:p>
          <a:p>
            <a:r>
              <a:rPr lang="en-IN" dirty="0"/>
              <a:t>Before allowing and entity to perform certain actions, you must ensure you know who that entity actually is (Authentication) and if the entity is authorized to perform that action (Authorization). Additionally, you need to ensure that accurate records are maintained showing that the action has occurred, so you keep a security log of the events (Accounting).  </a:t>
            </a:r>
          </a:p>
          <a:p>
            <a:endParaRPr lang="en-IN"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RADIUS and TACACS+</a:t>
            </a:r>
            <a:endParaRPr lang="en-IN" dirty="0"/>
          </a:p>
        </p:txBody>
      </p:sp>
      <p:sp>
        <p:nvSpPr>
          <p:cNvPr id="3" name="Content Placeholder 2"/>
          <p:cNvSpPr>
            <a:spLocks noGrp="1"/>
          </p:cNvSpPr>
          <p:nvPr>
            <p:ph idx="1"/>
          </p:nvPr>
        </p:nvSpPr>
        <p:spPr/>
        <p:txBody>
          <a:bodyPr>
            <a:normAutofit/>
          </a:bodyPr>
          <a:lstStyle/>
          <a:p>
            <a:r>
              <a:rPr lang="en-IN" dirty="0"/>
              <a:t>Remote Access Dial In User Service (RADIUS) and Terminal Access Controller Access-Control System Plus (TACACS+) are two common security protocols used to provide centralized access into networks. </a:t>
            </a:r>
          </a:p>
          <a:p>
            <a:r>
              <a:rPr lang="en-IN" dirty="0"/>
              <a:t>RADIUS was designed to authenticate and log remote network users, while TACACS+ is most commonly used for administrator access to network devices like routers and switches. Both protocols provide centralized Authentication, Authorization, and Accounting (AAA) management for computers that connect and use a network service.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170" name="Picture 2"/>
          <p:cNvPicPr>
            <a:picLocks noGrp="1" noChangeAspect="1" noChangeArrowheads="1"/>
          </p:cNvPicPr>
          <p:nvPr>
            <p:ph idx="1"/>
          </p:nvPr>
        </p:nvPicPr>
        <p:blipFill>
          <a:blip r:embed="rId2"/>
          <a:srcRect/>
          <a:stretch>
            <a:fillRect/>
          </a:stretch>
        </p:blipFill>
        <p:spPr bwMode="auto">
          <a:xfrm>
            <a:off x="464331" y="44624"/>
            <a:ext cx="8215338" cy="6858000"/>
          </a:xfrm>
          <a:prstGeom prst="rect">
            <a:avLst/>
          </a:prstGeom>
          <a:noFill/>
          <a:ln w="9525">
            <a:noFill/>
            <a:miter lim="800000"/>
            <a:headEnd/>
            <a:tailEnd/>
          </a:ln>
          <a:effectLst/>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758B13-F596-2831-77E8-6AF25214EF8A}"/>
              </a:ext>
            </a:extLst>
          </p:cNvPr>
          <p:cNvSpPr>
            <a:spLocks noGrp="1"/>
          </p:cNvSpPr>
          <p:nvPr>
            <p:ph type="title"/>
          </p:nvPr>
        </p:nvSpPr>
        <p:spPr/>
        <p:txBody>
          <a:bodyPr/>
          <a:lstStyle/>
          <a:p>
            <a:r>
              <a:rPr lang="en-IN" dirty="0"/>
              <a:t>HDLC</a:t>
            </a:r>
          </a:p>
        </p:txBody>
      </p:sp>
      <p:sp>
        <p:nvSpPr>
          <p:cNvPr id="3" name="Content Placeholder 2">
            <a:extLst>
              <a:ext uri="{FF2B5EF4-FFF2-40B4-BE49-F238E27FC236}">
                <a16:creationId xmlns:a16="http://schemas.microsoft.com/office/drawing/2014/main" id="{5B355ECB-2890-6E46-707B-1E4254027194}"/>
              </a:ext>
            </a:extLst>
          </p:cNvPr>
          <p:cNvSpPr>
            <a:spLocks noGrp="1"/>
          </p:cNvSpPr>
          <p:nvPr>
            <p:ph idx="1"/>
          </p:nvPr>
        </p:nvSpPr>
        <p:spPr>
          <a:xfrm>
            <a:off x="768095" y="1988840"/>
            <a:ext cx="7290055" cy="4023360"/>
          </a:xfrm>
        </p:spPr>
        <p:txBody>
          <a:bodyPr>
            <a:normAutofit lnSpcReduction="10000"/>
          </a:bodyPr>
          <a:lstStyle/>
          <a:p>
            <a:r>
              <a:rPr lang="en-IN" dirty="0"/>
              <a:t>High – Level Data Link Control (HDLC) is a group of communication protocols of the data link layer for transmitting data between network points or nodes.</a:t>
            </a:r>
          </a:p>
          <a:p>
            <a:r>
              <a:rPr lang="en-IN" dirty="0"/>
              <a:t>Since it is a data link protocol, data is organized into frames.</a:t>
            </a:r>
          </a:p>
          <a:p>
            <a:r>
              <a:rPr lang="en-IN" dirty="0"/>
              <a:t>A frame is transmitted via the network to the destination that verifies its successful arrival.</a:t>
            </a:r>
          </a:p>
          <a:p>
            <a:r>
              <a:rPr lang="en-IN" dirty="0"/>
              <a:t>It is a bit – oriented protocol that is applicable for both point – to – point and multipoint communications.</a:t>
            </a:r>
          </a:p>
        </p:txBody>
      </p:sp>
    </p:spTree>
    <p:extLst>
      <p:ext uri="{BB962C8B-B14F-4D97-AF65-F5344CB8AC3E}">
        <p14:creationId xmlns:p14="http://schemas.microsoft.com/office/powerpoint/2010/main" val="42493216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20A18-76C3-99D9-BF13-85A3EBB65100}"/>
              </a:ext>
            </a:extLst>
          </p:cNvPr>
          <p:cNvSpPr>
            <a:spLocks noGrp="1"/>
          </p:cNvSpPr>
          <p:nvPr>
            <p:ph type="title"/>
          </p:nvPr>
        </p:nvSpPr>
        <p:spPr/>
        <p:txBody>
          <a:bodyPr/>
          <a:lstStyle/>
          <a:p>
            <a:r>
              <a:rPr lang="en-IN" dirty="0"/>
              <a:t>HDLC</a:t>
            </a:r>
          </a:p>
        </p:txBody>
      </p:sp>
      <p:sp>
        <p:nvSpPr>
          <p:cNvPr id="3" name="Content Placeholder 2">
            <a:extLst>
              <a:ext uri="{FF2B5EF4-FFF2-40B4-BE49-F238E27FC236}">
                <a16:creationId xmlns:a16="http://schemas.microsoft.com/office/drawing/2014/main" id="{FE71C5B6-DF60-0090-96FB-B2598CFCD3E2}"/>
              </a:ext>
            </a:extLst>
          </p:cNvPr>
          <p:cNvSpPr>
            <a:spLocks noGrp="1"/>
          </p:cNvSpPr>
          <p:nvPr>
            <p:ph idx="1"/>
          </p:nvPr>
        </p:nvSpPr>
        <p:spPr/>
        <p:txBody>
          <a:bodyPr/>
          <a:lstStyle/>
          <a:p>
            <a:r>
              <a:rPr lang="en-IN" dirty="0"/>
              <a:t>HDLC supports two types of transfer modes are</a:t>
            </a:r>
          </a:p>
          <a:p>
            <a:r>
              <a:rPr lang="en-IN" dirty="0"/>
              <a:t>1. Normal Response mode (NRM)</a:t>
            </a:r>
          </a:p>
          <a:p>
            <a:r>
              <a:rPr lang="en-IN" dirty="0"/>
              <a:t>2. Asynchronous Balanced Mode (ABM)</a:t>
            </a:r>
          </a:p>
          <a:p>
            <a:endParaRPr lang="en-IN" dirty="0"/>
          </a:p>
        </p:txBody>
      </p:sp>
    </p:spTree>
    <p:extLst>
      <p:ext uri="{BB962C8B-B14F-4D97-AF65-F5344CB8AC3E}">
        <p14:creationId xmlns:p14="http://schemas.microsoft.com/office/powerpoint/2010/main" val="348951770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221F34-9619-2812-61A6-ECEC90581A81}"/>
              </a:ext>
            </a:extLst>
          </p:cNvPr>
          <p:cNvSpPr>
            <a:spLocks noGrp="1"/>
          </p:cNvSpPr>
          <p:nvPr>
            <p:ph type="title"/>
          </p:nvPr>
        </p:nvSpPr>
        <p:spPr>
          <a:xfrm>
            <a:off x="768096" y="585216"/>
            <a:ext cx="7764344" cy="1499616"/>
          </a:xfrm>
        </p:spPr>
        <p:txBody>
          <a:bodyPr>
            <a:normAutofit fontScale="90000"/>
          </a:bodyPr>
          <a:lstStyle/>
          <a:p>
            <a:r>
              <a:rPr lang="en-US" b="0" i="0" dirty="0">
                <a:solidFill>
                  <a:srgbClr val="212529"/>
                </a:solidFill>
                <a:effectLst/>
                <a:latin typeface="system-ui"/>
              </a:rPr>
              <a:t>Normal Response Mode (NRM)</a:t>
            </a:r>
            <a:br>
              <a:rPr lang="en-US" b="0" i="0" dirty="0">
                <a:solidFill>
                  <a:srgbClr val="212529"/>
                </a:solidFill>
                <a:effectLst/>
                <a:latin typeface="system-ui"/>
              </a:rPr>
            </a:br>
            <a:endParaRPr lang="en-IN" dirty="0"/>
          </a:p>
        </p:txBody>
      </p:sp>
      <p:sp>
        <p:nvSpPr>
          <p:cNvPr id="3" name="Content Placeholder 2">
            <a:extLst>
              <a:ext uri="{FF2B5EF4-FFF2-40B4-BE49-F238E27FC236}">
                <a16:creationId xmlns:a16="http://schemas.microsoft.com/office/drawing/2014/main" id="{7525C8EE-865E-71DE-7EC0-DD12D9130A86}"/>
              </a:ext>
            </a:extLst>
          </p:cNvPr>
          <p:cNvSpPr>
            <a:spLocks noGrp="1"/>
          </p:cNvSpPr>
          <p:nvPr>
            <p:ph idx="1"/>
          </p:nvPr>
        </p:nvSpPr>
        <p:spPr/>
        <p:txBody>
          <a:bodyPr/>
          <a:lstStyle/>
          <a:p>
            <a:r>
              <a:rPr lang="en-US" b="0" i="0" dirty="0">
                <a:solidFill>
                  <a:srgbClr val="212529"/>
                </a:solidFill>
                <a:effectLst/>
              </a:rPr>
              <a:t>In this mode, the configuration of the station is unbalanced. There are one primary station and multiple secondary stations. Where the primary station can send the commands and the secondary station can only respond.</a:t>
            </a:r>
          </a:p>
          <a:p>
            <a:r>
              <a:rPr lang="en-US" b="0" i="0" dirty="0">
                <a:solidFill>
                  <a:srgbClr val="212529"/>
                </a:solidFill>
                <a:effectLst/>
              </a:rPr>
              <a:t>This mode is used for both </a:t>
            </a:r>
            <a:r>
              <a:rPr lang="en-US" b="1" i="0" dirty="0">
                <a:solidFill>
                  <a:srgbClr val="212529"/>
                </a:solidFill>
                <a:effectLst/>
              </a:rPr>
              <a:t>point-to-point</a:t>
            </a:r>
            <a:r>
              <a:rPr lang="en-US" b="0" i="0" dirty="0">
                <a:solidFill>
                  <a:srgbClr val="212529"/>
                </a:solidFill>
                <a:effectLst/>
              </a:rPr>
              <a:t> as well as </a:t>
            </a:r>
            <a:r>
              <a:rPr lang="en-US" b="1" i="0" dirty="0">
                <a:solidFill>
                  <a:srgbClr val="212529"/>
                </a:solidFill>
                <a:effectLst/>
              </a:rPr>
              <a:t>multiple-point links.</a:t>
            </a:r>
            <a:endParaRPr lang="en-US" b="0" i="0" dirty="0">
              <a:solidFill>
                <a:srgbClr val="212529"/>
              </a:solidFill>
              <a:effectLst/>
            </a:endParaRPr>
          </a:p>
          <a:p>
            <a:endParaRPr lang="en-IN" dirty="0"/>
          </a:p>
        </p:txBody>
      </p:sp>
    </p:spTree>
    <p:extLst>
      <p:ext uri="{BB962C8B-B14F-4D97-AF65-F5344CB8AC3E}">
        <p14:creationId xmlns:p14="http://schemas.microsoft.com/office/powerpoint/2010/main" val="224581742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06913CE6-5F4F-5AA5-9FBF-311BB9B91533}"/>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9749" y="692696"/>
            <a:ext cx="5611008" cy="2267266"/>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CEAED21A-27F3-D99D-D689-45D475C3B5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3582007"/>
            <a:ext cx="7477125" cy="25622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5911401"/>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9A6476-C72B-3787-D6F6-CA038C73343C}"/>
              </a:ext>
            </a:extLst>
          </p:cNvPr>
          <p:cNvSpPr>
            <a:spLocks noGrp="1"/>
          </p:cNvSpPr>
          <p:nvPr>
            <p:ph type="title"/>
          </p:nvPr>
        </p:nvSpPr>
        <p:spPr>
          <a:xfrm>
            <a:off x="768096" y="585216"/>
            <a:ext cx="7764344" cy="1499616"/>
          </a:xfrm>
        </p:spPr>
        <p:txBody>
          <a:bodyPr>
            <a:normAutofit fontScale="90000"/>
          </a:bodyPr>
          <a:lstStyle/>
          <a:p>
            <a:r>
              <a:rPr lang="en-US" b="0" i="0" dirty="0">
                <a:solidFill>
                  <a:srgbClr val="212529"/>
                </a:solidFill>
                <a:effectLst/>
                <a:latin typeface="system-ui"/>
              </a:rPr>
              <a:t>Asynchronous Balance Mode (ABM)</a:t>
            </a:r>
            <a:br>
              <a:rPr lang="en-US" b="0" i="0" dirty="0">
                <a:solidFill>
                  <a:srgbClr val="212529"/>
                </a:solidFill>
                <a:effectLst/>
                <a:latin typeface="system-ui"/>
              </a:rPr>
            </a:br>
            <a:endParaRPr lang="en-IN" dirty="0"/>
          </a:p>
        </p:txBody>
      </p:sp>
      <p:sp>
        <p:nvSpPr>
          <p:cNvPr id="3" name="Content Placeholder 2">
            <a:extLst>
              <a:ext uri="{FF2B5EF4-FFF2-40B4-BE49-F238E27FC236}">
                <a16:creationId xmlns:a16="http://schemas.microsoft.com/office/drawing/2014/main" id="{A61777BA-9951-3392-A8E9-A82CF36112B2}"/>
              </a:ext>
            </a:extLst>
          </p:cNvPr>
          <p:cNvSpPr>
            <a:spLocks noGrp="1"/>
          </p:cNvSpPr>
          <p:nvPr>
            <p:ph idx="1"/>
          </p:nvPr>
        </p:nvSpPr>
        <p:spPr/>
        <p:txBody>
          <a:bodyPr/>
          <a:lstStyle/>
          <a:p>
            <a:r>
              <a:rPr lang="en-US" b="0" i="0" dirty="0">
                <a:solidFill>
                  <a:srgbClr val="212529"/>
                </a:solidFill>
                <a:effectLst/>
              </a:rPr>
              <a:t>In this mode, the configuration of the station is balanced. In this mode, the link is point-to-point, and each station can function as a primary and as secondary.</a:t>
            </a:r>
          </a:p>
          <a:p>
            <a:r>
              <a:rPr lang="en-US" b="0" i="0" dirty="0">
                <a:solidFill>
                  <a:srgbClr val="212529"/>
                </a:solidFill>
                <a:effectLst/>
              </a:rPr>
              <a:t>Asynchronous Balance mode(ABM) is a commonly used mode today.</a:t>
            </a:r>
          </a:p>
          <a:p>
            <a:endParaRPr lang="en-IN" dirty="0"/>
          </a:p>
        </p:txBody>
      </p:sp>
      <p:pic>
        <p:nvPicPr>
          <p:cNvPr id="2050" name="Picture 2">
            <a:extLst>
              <a:ext uri="{FF2B5EF4-FFF2-40B4-BE49-F238E27FC236}">
                <a16:creationId xmlns:a16="http://schemas.microsoft.com/office/drawing/2014/main" id="{225E2376-1870-12DE-D65A-A55A68F345E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25523" y="4243992"/>
            <a:ext cx="5962650" cy="2486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40260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E958BF-45F0-CBD3-6AEC-B40C38A4C33B}"/>
              </a:ext>
            </a:extLst>
          </p:cNvPr>
          <p:cNvSpPr>
            <a:spLocks noGrp="1"/>
          </p:cNvSpPr>
          <p:nvPr>
            <p:ph type="title"/>
          </p:nvPr>
        </p:nvSpPr>
        <p:spPr/>
        <p:txBody>
          <a:bodyPr/>
          <a:lstStyle/>
          <a:p>
            <a:r>
              <a:rPr lang="en-IN" dirty="0"/>
              <a:t>HDLC Frame</a:t>
            </a:r>
          </a:p>
        </p:txBody>
      </p:sp>
      <p:pic>
        <p:nvPicPr>
          <p:cNvPr id="3074" name="Picture 2">
            <a:extLst>
              <a:ext uri="{FF2B5EF4-FFF2-40B4-BE49-F238E27FC236}">
                <a16:creationId xmlns:a16="http://schemas.microsoft.com/office/drawing/2014/main" id="{11CA55E4-D370-043D-9D41-8DC1C9FC83EC}"/>
              </a:ext>
            </a:extLst>
          </p:cNvPr>
          <p:cNvPicPr>
            <a:picLocks noGrp="1" noChangeAspect="1" noChangeArrowheads="1"/>
          </p:cNvPicPr>
          <p:nvPr>
            <p:ph idx="1"/>
          </p:nvPr>
        </p:nvPicPr>
        <p:blipFill rotWithShape="1">
          <a:blip r:embed="rId2">
            <a:extLst>
              <a:ext uri="{28A0092B-C50C-407E-A947-70E740481C1C}">
                <a14:useLocalDpi xmlns:a14="http://schemas.microsoft.com/office/drawing/2010/main" val="0"/>
              </a:ext>
            </a:extLst>
          </a:blip>
          <a:srcRect t="-1569" r="10386" b="73915"/>
          <a:stretch/>
        </p:blipFill>
        <p:spPr bwMode="auto">
          <a:xfrm>
            <a:off x="768096" y="3068960"/>
            <a:ext cx="7359063" cy="122413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8453922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44EF3-B325-34DE-EC4A-BE2B981E9C00}"/>
              </a:ext>
            </a:extLst>
          </p:cNvPr>
          <p:cNvSpPr>
            <a:spLocks noGrp="1"/>
          </p:cNvSpPr>
          <p:nvPr>
            <p:ph type="title"/>
          </p:nvPr>
        </p:nvSpPr>
        <p:spPr/>
        <p:txBody>
          <a:bodyPr/>
          <a:lstStyle/>
          <a:p>
            <a:r>
              <a:rPr lang="en-IN" dirty="0"/>
              <a:t>Layer 2 forwarding protocol (l2f)</a:t>
            </a:r>
          </a:p>
        </p:txBody>
      </p:sp>
      <p:sp>
        <p:nvSpPr>
          <p:cNvPr id="3" name="Content Placeholder 2">
            <a:extLst>
              <a:ext uri="{FF2B5EF4-FFF2-40B4-BE49-F238E27FC236}">
                <a16:creationId xmlns:a16="http://schemas.microsoft.com/office/drawing/2014/main" id="{9A68F1CF-F10E-2C76-3118-117BBFABB7D4}"/>
              </a:ext>
            </a:extLst>
          </p:cNvPr>
          <p:cNvSpPr>
            <a:spLocks noGrp="1"/>
          </p:cNvSpPr>
          <p:nvPr>
            <p:ph idx="1"/>
          </p:nvPr>
        </p:nvSpPr>
        <p:spPr/>
        <p:txBody>
          <a:bodyPr/>
          <a:lstStyle/>
          <a:p>
            <a:r>
              <a:rPr lang="en-IN" dirty="0"/>
              <a:t>L2F, or Layer 2 Forwarding, is a tunnelling protocol developed by Cisco systems to establish VPN connections over the Internet.</a:t>
            </a:r>
          </a:p>
          <a:p>
            <a:r>
              <a:rPr lang="en-IN" dirty="0"/>
              <a:t>L2F does not provide encryption or confidentiality by itself.</a:t>
            </a:r>
          </a:p>
          <a:p>
            <a:r>
              <a:rPr lang="en-IN" dirty="0"/>
              <a:t>L2F was specifically designed to tunnel point – to – point protocol traffic.</a:t>
            </a:r>
          </a:p>
          <a:p>
            <a:r>
              <a:rPr lang="en-IN" dirty="0"/>
              <a:t>L2F has been superseded by L2TP, L2F uses port 1701/</a:t>
            </a:r>
            <a:r>
              <a:rPr lang="en-IN" dirty="0" err="1"/>
              <a:t>udp</a:t>
            </a:r>
            <a:r>
              <a:rPr lang="en-IN" dirty="0"/>
              <a:t>.</a:t>
            </a:r>
          </a:p>
        </p:txBody>
      </p:sp>
    </p:spTree>
    <p:extLst>
      <p:ext uri="{BB962C8B-B14F-4D97-AF65-F5344CB8AC3E}">
        <p14:creationId xmlns:p14="http://schemas.microsoft.com/office/powerpoint/2010/main" val="103331569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FA4D40-7371-0A23-D429-CE2F5A46EB45}"/>
              </a:ext>
            </a:extLst>
          </p:cNvPr>
          <p:cNvSpPr>
            <a:spLocks noGrp="1"/>
          </p:cNvSpPr>
          <p:nvPr>
            <p:ph type="title"/>
          </p:nvPr>
        </p:nvSpPr>
        <p:spPr/>
        <p:txBody>
          <a:bodyPr/>
          <a:lstStyle/>
          <a:p>
            <a:r>
              <a:rPr lang="en-US" b="1" i="0" dirty="0">
                <a:solidFill>
                  <a:srgbClr val="001D2F"/>
                </a:solidFill>
                <a:effectLst/>
                <a:latin typeface="Inter"/>
              </a:rPr>
              <a:t>Point-to-Point Tunneling Protocol</a:t>
            </a:r>
            <a:endParaRPr lang="en-IN" dirty="0"/>
          </a:p>
        </p:txBody>
      </p:sp>
      <p:sp>
        <p:nvSpPr>
          <p:cNvPr id="3" name="Content Placeholder 2">
            <a:extLst>
              <a:ext uri="{FF2B5EF4-FFF2-40B4-BE49-F238E27FC236}">
                <a16:creationId xmlns:a16="http://schemas.microsoft.com/office/drawing/2014/main" id="{4A7FD02C-3E16-BE76-A72D-CCA75EDE0AFF}"/>
              </a:ext>
            </a:extLst>
          </p:cNvPr>
          <p:cNvSpPr>
            <a:spLocks noGrp="1"/>
          </p:cNvSpPr>
          <p:nvPr>
            <p:ph idx="1"/>
          </p:nvPr>
        </p:nvSpPr>
        <p:spPr/>
        <p:txBody>
          <a:bodyPr>
            <a:normAutofit fontScale="92500" lnSpcReduction="10000"/>
          </a:bodyPr>
          <a:lstStyle/>
          <a:p>
            <a:r>
              <a:rPr lang="en-US" b="1" i="0" dirty="0">
                <a:solidFill>
                  <a:srgbClr val="001D2F"/>
                </a:solidFill>
                <a:effectLst/>
              </a:rPr>
              <a:t>PPTP stands for Point-to-Point Tunneling Protocol</a:t>
            </a:r>
            <a:r>
              <a:rPr lang="en-US" b="0" i="0" dirty="0">
                <a:solidFill>
                  <a:srgbClr val="001D2F"/>
                </a:solidFill>
                <a:effectLst/>
              </a:rPr>
              <a:t>. PPTP, operating on TCP port 1723, is one of the oldest VPN protocols</a:t>
            </a:r>
          </a:p>
          <a:p>
            <a:r>
              <a:rPr lang="en-US" b="0" i="0" dirty="0">
                <a:solidFill>
                  <a:srgbClr val="001D2F"/>
                </a:solidFill>
                <a:effectLst/>
              </a:rPr>
              <a:t> PPTP was developed by a Microsoft </a:t>
            </a:r>
            <a:r>
              <a:rPr lang="en-US" b="1" dirty="0">
                <a:solidFill>
                  <a:srgbClr val="001D2F"/>
                </a:solidFill>
              </a:rPr>
              <a:t>	</a:t>
            </a:r>
          </a:p>
          <a:p>
            <a:r>
              <a:rPr lang="en-US" b="0" i="0" dirty="0">
                <a:solidFill>
                  <a:srgbClr val="001D2F"/>
                </a:solidFill>
                <a:effectLst/>
              </a:rPr>
              <a:t>Out of all the VPN protocols, </a:t>
            </a:r>
            <a:r>
              <a:rPr lang="en-US" b="1" i="0" dirty="0">
                <a:solidFill>
                  <a:srgbClr val="001D2F"/>
                </a:solidFill>
                <a:effectLst/>
              </a:rPr>
              <a:t>PPTP is one of the most common, easiest to set up, and computationally fastest</a:t>
            </a:r>
            <a:r>
              <a:rPr lang="en-US" b="0" i="0" dirty="0">
                <a:solidFill>
                  <a:srgbClr val="001D2F"/>
                </a:solidFill>
                <a:effectLst/>
              </a:rPr>
              <a:t>.</a:t>
            </a:r>
            <a:endParaRPr lang="en-US" b="1" i="0" dirty="0">
              <a:solidFill>
                <a:srgbClr val="001D2F"/>
              </a:solidFill>
              <a:effectLst/>
            </a:endParaRPr>
          </a:p>
          <a:p>
            <a:r>
              <a:rPr lang="en-US" b="0" i="0" dirty="0">
                <a:solidFill>
                  <a:srgbClr val="001D2F"/>
                </a:solidFill>
                <a:effectLst/>
              </a:rPr>
              <a:t>However, </a:t>
            </a:r>
            <a:r>
              <a:rPr lang="en-US" b="1" i="0" dirty="0">
                <a:solidFill>
                  <a:srgbClr val="001D2F"/>
                </a:solidFill>
                <a:effectLst/>
              </a:rPr>
              <a:t>PPTP is also subject to serious security vulnerabilities</a:t>
            </a:r>
            <a:r>
              <a:rPr lang="en-US" b="0" i="0" dirty="0">
                <a:solidFill>
                  <a:srgbClr val="001D2F"/>
                </a:solidFill>
                <a:effectLst/>
              </a:rPr>
              <a:t>.</a:t>
            </a:r>
            <a:endParaRPr lang="en-US" b="1" dirty="0">
              <a:solidFill>
                <a:srgbClr val="001D2F"/>
              </a:solidFill>
            </a:endParaRPr>
          </a:p>
          <a:p>
            <a:r>
              <a:rPr lang="en-US" b="0" i="0" dirty="0">
                <a:solidFill>
                  <a:srgbClr val="001D2F"/>
                </a:solidFill>
                <a:effectLst/>
              </a:rPr>
              <a:t>For this reason, PPTP is NOT recommended except in cases </a:t>
            </a:r>
            <a:r>
              <a:rPr lang="en-US" b="1" i="0" dirty="0">
                <a:solidFill>
                  <a:srgbClr val="001D2F"/>
                </a:solidFill>
                <a:effectLst/>
              </a:rPr>
              <a:t>where security is absolutely non-essential</a:t>
            </a:r>
            <a:endParaRPr lang="en-IN" dirty="0"/>
          </a:p>
        </p:txBody>
      </p:sp>
    </p:spTree>
    <p:extLst>
      <p:ext uri="{BB962C8B-B14F-4D97-AF65-F5344CB8AC3E}">
        <p14:creationId xmlns:p14="http://schemas.microsoft.com/office/powerpoint/2010/main" val="260570384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AB8B57-6D20-F9DF-EE5B-826E9FEC4B1A}"/>
              </a:ext>
            </a:extLst>
          </p:cNvPr>
          <p:cNvSpPr>
            <a:spLocks noGrp="1"/>
          </p:cNvSpPr>
          <p:nvPr>
            <p:ph type="title"/>
          </p:nvPr>
        </p:nvSpPr>
        <p:spPr/>
        <p:txBody>
          <a:bodyPr/>
          <a:lstStyle/>
          <a:p>
            <a:r>
              <a:rPr lang="en-US" b="1" i="0" dirty="0">
                <a:solidFill>
                  <a:srgbClr val="001D2F"/>
                </a:solidFill>
                <a:effectLst/>
                <a:latin typeface="Inter"/>
              </a:rPr>
              <a:t>Layer 2 Tunneling Protocol (L2TP)</a:t>
            </a:r>
            <a:endParaRPr lang="en-IN" dirty="0"/>
          </a:p>
        </p:txBody>
      </p:sp>
      <p:sp>
        <p:nvSpPr>
          <p:cNvPr id="3" name="Content Placeholder 2">
            <a:extLst>
              <a:ext uri="{FF2B5EF4-FFF2-40B4-BE49-F238E27FC236}">
                <a16:creationId xmlns:a16="http://schemas.microsoft.com/office/drawing/2014/main" id="{423ED174-D1E7-6914-88CF-DA2D295DD2C8}"/>
              </a:ext>
            </a:extLst>
          </p:cNvPr>
          <p:cNvSpPr>
            <a:spLocks noGrp="1"/>
          </p:cNvSpPr>
          <p:nvPr>
            <p:ph idx="1"/>
          </p:nvPr>
        </p:nvSpPr>
        <p:spPr/>
        <p:txBody>
          <a:bodyPr/>
          <a:lstStyle/>
          <a:p>
            <a:r>
              <a:rPr lang="en-US" b="1" i="0" dirty="0">
                <a:solidFill>
                  <a:srgbClr val="001D2F"/>
                </a:solidFill>
                <a:effectLst/>
                <a:latin typeface="Inter"/>
              </a:rPr>
              <a:t>L2TP stands for Layer 2 Tunneling Protocol.</a:t>
            </a:r>
            <a:r>
              <a:rPr lang="en-US" b="0" i="0" dirty="0">
                <a:solidFill>
                  <a:srgbClr val="001D2F"/>
                </a:solidFill>
                <a:effectLst/>
                <a:latin typeface="Inter"/>
              </a:rPr>
              <a:t> </a:t>
            </a:r>
          </a:p>
          <a:p>
            <a:r>
              <a:rPr lang="en-US" b="0" i="0" dirty="0">
                <a:solidFill>
                  <a:srgbClr val="001D2F"/>
                </a:solidFill>
                <a:effectLst/>
                <a:latin typeface="Inter"/>
              </a:rPr>
              <a:t>L2TP was first proposed in 1999 as an upgrade to both L2F (Layer 2 Forwarding Protocol) and </a:t>
            </a:r>
            <a:r>
              <a:rPr lang="en-US" b="0" i="0" u="none" strike="noStrike" dirty="0">
                <a:effectLst/>
                <a:latin typeface="Inter"/>
              </a:rPr>
              <a:t>PPTP (Point-to-Point Tunneling Protocol)</a:t>
            </a:r>
            <a:r>
              <a:rPr lang="en-US" b="0" i="0" dirty="0">
                <a:effectLst/>
                <a:latin typeface="Inter"/>
              </a:rPr>
              <a:t>. </a:t>
            </a:r>
            <a:r>
              <a:rPr lang="en-US" b="0" i="0" dirty="0">
                <a:solidFill>
                  <a:srgbClr val="001D2F"/>
                </a:solidFill>
                <a:effectLst/>
                <a:latin typeface="Inter"/>
              </a:rPr>
              <a:t>Because L2TP does not provide strong encryption or authentication by itself, another protocol called IPsec is most often used in conjunction with L2TP.</a:t>
            </a:r>
            <a:endParaRPr lang="en-IN" dirty="0"/>
          </a:p>
        </p:txBody>
      </p:sp>
    </p:spTree>
    <p:extLst>
      <p:ext uri="{BB962C8B-B14F-4D97-AF65-F5344CB8AC3E}">
        <p14:creationId xmlns:p14="http://schemas.microsoft.com/office/powerpoint/2010/main" val="312295808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What Is Cryptography?</a:t>
            </a:r>
            <a:br>
              <a:rPr lang="en-IN" dirty="0"/>
            </a:br>
            <a:endParaRPr lang="en-IN" dirty="0"/>
          </a:p>
        </p:txBody>
      </p:sp>
      <p:sp>
        <p:nvSpPr>
          <p:cNvPr id="3" name="Content Placeholder 2"/>
          <p:cNvSpPr>
            <a:spLocks noGrp="1"/>
          </p:cNvSpPr>
          <p:nvPr>
            <p:ph idx="1"/>
          </p:nvPr>
        </p:nvSpPr>
        <p:spPr/>
        <p:txBody>
          <a:bodyPr/>
          <a:lstStyle/>
          <a:p>
            <a:r>
              <a:rPr lang="en-IN" dirty="0"/>
              <a:t> Cryptography is the practice and study of techniques for securing communication and data in the presence of adversaries.</a:t>
            </a:r>
          </a:p>
        </p:txBody>
      </p:sp>
      <p:pic>
        <p:nvPicPr>
          <p:cNvPr id="9218" name="Picture 2"/>
          <p:cNvPicPr>
            <a:picLocks noChangeAspect="1" noChangeArrowheads="1"/>
          </p:cNvPicPr>
          <p:nvPr/>
        </p:nvPicPr>
        <p:blipFill>
          <a:blip r:embed="rId2"/>
          <a:srcRect/>
          <a:stretch>
            <a:fillRect/>
          </a:stretch>
        </p:blipFill>
        <p:spPr bwMode="auto">
          <a:xfrm>
            <a:off x="1676400" y="3571876"/>
            <a:ext cx="7039004" cy="2819400"/>
          </a:xfrm>
          <a:prstGeom prst="rect">
            <a:avLst/>
          </a:prstGeom>
          <a:noFill/>
          <a:ln w="9525">
            <a:noFill/>
            <a:miter lim="800000"/>
            <a:headEnd/>
            <a:tailEnd/>
          </a:ln>
          <a:effectLst/>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10242" name="Picture 2" descr="encryption-what is cryptography-edureka"/>
          <p:cNvPicPr>
            <a:picLocks noGrp="1" noChangeAspect="1" noChangeArrowheads="1"/>
          </p:cNvPicPr>
          <p:nvPr>
            <p:ph idx="1"/>
          </p:nvPr>
        </p:nvPicPr>
        <p:blipFill>
          <a:blip r:embed="rId2"/>
          <a:stretch>
            <a:fillRect/>
          </a:stretch>
        </p:blipFill>
        <p:spPr bwMode="auto">
          <a:xfrm>
            <a:off x="768350" y="2731195"/>
            <a:ext cx="7289800" cy="3132335"/>
          </a:xfrm>
          <a:prstGeom prst="rect">
            <a:avLst/>
          </a:prstGeom>
          <a:noFill/>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Terminologies</a:t>
            </a:r>
            <a:endParaRPr lang="en-IN" dirty="0"/>
          </a:p>
        </p:txBody>
      </p:sp>
      <p:sp>
        <p:nvSpPr>
          <p:cNvPr id="3" name="Content Placeholder 2"/>
          <p:cNvSpPr>
            <a:spLocks noGrp="1"/>
          </p:cNvSpPr>
          <p:nvPr>
            <p:ph idx="1"/>
          </p:nvPr>
        </p:nvSpPr>
        <p:spPr/>
        <p:txBody>
          <a:bodyPr/>
          <a:lstStyle/>
          <a:p>
            <a:pPr>
              <a:lnSpc>
                <a:spcPct val="80000"/>
              </a:lnSpc>
            </a:pPr>
            <a:r>
              <a:rPr lang="en-AU" b="1" dirty="0"/>
              <a:t>Plaintext</a:t>
            </a:r>
            <a:r>
              <a:rPr lang="en-AU" dirty="0"/>
              <a:t> - original message </a:t>
            </a:r>
          </a:p>
          <a:p>
            <a:pPr>
              <a:lnSpc>
                <a:spcPct val="80000"/>
              </a:lnSpc>
            </a:pPr>
            <a:r>
              <a:rPr lang="en-AU" b="1" dirty="0" err="1"/>
              <a:t>Ciphertext</a:t>
            </a:r>
            <a:r>
              <a:rPr lang="en-AU" dirty="0"/>
              <a:t> - coded message </a:t>
            </a:r>
          </a:p>
          <a:p>
            <a:pPr>
              <a:lnSpc>
                <a:spcPct val="80000"/>
              </a:lnSpc>
            </a:pPr>
            <a:r>
              <a:rPr lang="en-AU" b="1" dirty="0"/>
              <a:t>Cipher</a:t>
            </a:r>
            <a:r>
              <a:rPr lang="en-AU" dirty="0"/>
              <a:t> - algorithm for transforming plaintext to </a:t>
            </a:r>
            <a:r>
              <a:rPr lang="en-AU" dirty="0" err="1"/>
              <a:t>ciphertext</a:t>
            </a:r>
            <a:r>
              <a:rPr lang="en-AU" dirty="0"/>
              <a:t> </a:t>
            </a:r>
          </a:p>
          <a:p>
            <a:pPr>
              <a:lnSpc>
                <a:spcPct val="80000"/>
              </a:lnSpc>
            </a:pPr>
            <a:r>
              <a:rPr lang="en-AU" b="1" dirty="0"/>
              <a:t>Key</a:t>
            </a:r>
            <a:r>
              <a:rPr lang="en-AU" dirty="0"/>
              <a:t> - info used in cipher known only to sender/receiver </a:t>
            </a:r>
          </a:p>
          <a:p>
            <a:pPr>
              <a:lnSpc>
                <a:spcPct val="80000"/>
              </a:lnSpc>
            </a:pPr>
            <a:r>
              <a:rPr lang="en-AU" b="1" dirty="0"/>
              <a:t>Encipher (encrypt)</a:t>
            </a:r>
            <a:r>
              <a:rPr lang="en-AU" dirty="0"/>
              <a:t> - converting plaintext to </a:t>
            </a:r>
            <a:r>
              <a:rPr lang="en-AU" dirty="0" err="1"/>
              <a:t>ciphertext</a:t>
            </a:r>
            <a:r>
              <a:rPr lang="en-AU" dirty="0"/>
              <a:t> </a:t>
            </a:r>
          </a:p>
          <a:p>
            <a:pPr>
              <a:lnSpc>
                <a:spcPct val="80000"/>
              </a:lnSpc>
            </a:pPr>
            <a:r>
              <a:rPr lang="en-AU" b="1" dirty="0"/>
              <a:t>Decipher (decrypt)</a:t>
            </a:r>
            <a:r>
              <a:rPr lang="en-AU" dirty="0"/>
              <a:t> - recovering plaintext </a:t>
            </a:r>
            <a:r>
              <a:rPr lang="en-AU"/>
              <a:t>from ciphertext</a:t>
            </a:r>
            <a:endParaRPr lang="en-AU" dirty="0"/>
          </a:p>
          <a:p>
            <a:pPr>
              <a:lnSpc>
                <a:spcPct val="80000"/>
              </a:lnSpc>
            </a:pPr>
            <a:r>
              <a:rPr lang="en-AU" b="1" dirty="0"/>
              <a:t>Cryptography</a:t>
            </a:r>
            <a:r>
              <a:rPr lang="en-AU" dirty="0"/>
              <a:t> - study of encryption principles/methods</a:t>
            </a:r>
          </a:p>
          <a:p>
            <a:pPr>
              <a:lnSpc>
                <a:spcPct val="80000"/>
              </a:lnSpc>
            </a:pPr>
            <a:r>
              <a:rPr lang="en-AU" b="1" dirty="0"/>
              <a:t>Cryptanalysis (</a:t>
            </a:r>
            <a:r>
              <a:rPr lang="en-AU" b="1" dirty="0" err="1"/>
              <a:t>codebreaking</a:t>
            </a:r>
            <a:r>
              <a:rPr lang="en-AU" b="1" dirty="0"/>
              <a:t>)</a:t>
            </a:r>
            <a:r>
              <a:rPr lang="en-AU" dirty="0"/>
              <a:t> - study of principles/ methods of deciphering </a:t>
            </a:r>
            <a:r>
              <a:rPr lang="en-AU" dirty="0" err="1"/>
              <a:t>ciphertext</a:t>
            </a:r>
            <a:r>
              <a:rPr lang="en-AU" dirty="0"/>
              <a:t> </a:t>
            </a:r>
            <a:r>
              <a:rPr lang="en-AU" i="1" dirty="0"/>
              <a:t>without</a:t>
            </a:r>
            <a:r>
              <a:rPr lang="en-AU" dirty="0"/>
              <a:t> knowing key</a:t>
            </a:r>
          </a:p>
          <a:p>
            <a:pPr>
              <a:lnSpc>
                <a:spcPct val="80000"/>
              </a:lnSpc>
            </a:pPr>
            <a:r>
              <a:rPr lang="en-AU" b="1" dirty="0"/>
              <a:t>Cryptology</a:t>
            </a:r>
            <a:r>
              <a:rPr lang="en-AU" dirty="0"/>
              <a:t> - field of both cryptography and cryptanalysis</a:t>
            </a:r>
            <a:endParaRPr lang="en-AU" sz="2000" dirty="0"/>
          </a:p>
          <a:p>
            <a:endParaRPr lang="en-IN"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70658" name="Picture 2" descr="encryption algorithms-what is cryptography-edureka"/>
          <p:cNvPicPr>
            <a:picLocks noGrp="1" noChangeAspect="1" noChangeArrowheads="1"/>
          </p:cNvPicPr>
          <p:nvPr>
            <p:ph idx="1"/>
          </p:nvPr>
        </p:nvPicPr>
        <p:blipFill>
          <a:blip r:embed="rId2"/>
          <a:stretch>
            <a:fillRect/>
          </a:stretch>
        </p:blipFill>
        <p:spPr bwMode="auto">
          <a:xfrm>
            <a:off x="768350" y="2627970"/>
            <a:ext cx="7289800" cy="3338785"/>
          </a:xfrm>
          <a:prstGeom prst="rect">
            <a:avLst/>
          </a:prstGeom>
          <a:noFill/>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Symmetric Key Cryptography</a:t>
            </a:r>
            <a:endParaRPr lang="en-IN" dirty="0"/>
          </a:p>
        </p:txBody>
      </p:sp>
      <p:sp>
        <p:nvSpPr>
          <p:cNvPr id="3" name="Content Placeholder 2"/>
          <p:cNvSpPr>
            <a:spLocks noGrp="1"/>
          </p:cNvSpPr>
          <p:nvPr>
            <p:ph idx="1"/>
          </p:nvPr>
        </p:nvSpPr>
        <p:spPr/>
        <p:txBody>
          <a:bodyPr/>
          <a:lstStyle/>
          <a:p>
            <a:r>
              <a:rPr lang="en-IN" dirty="0"/>
              <a:t>An encryption system in which the sender and receiver of a message share a single, common key that is used to encrypt and decrypt the message. The most popular symmetric–key system is the Data Encryption Standard (DES)</a:t>
            </a:r>
          </a:p>
        </p:txBody>
      </p:sp>
      <p:pic>
        <p:nvPicPr>
          <p:cNvPr id="5" name="Picture 4" descr="symmetric key-what is cryptography-edureka"/>
          <p:cNvPicPr/>
          <p:nvPr/>
        </p:nvPicPr>
        <p:blipFill>
          <a:blip r:embed="rId2"/>
          <a:srcRect/>
          <a:stretch>
            <a:fillRect/>
          </a:stretch>
        </p:blipFill>
        <p:spPr bwMode="auto">
          <a:xfrm>
            <a:off x="1714480" y="4500570"/>
            <a:ext cx="6715172" cy="2000264"/>
          </a:xfrm>
          <a:prstGeom prst="rect">
            <a:avLst/>
          </a:prstGeom>
          <a:noFill/>
        </p:spPr>
      </p:pic>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Substitution Cipher</a:t>
            </a:r>
            <a:endParaRPr lang="en-IN" dirty="0"/>
          </a:p>
        </p:txBody>
      </p:sp>
      <p:sp>
        <p:nvSpPr>
          <p:cNvPr id="3" name="Content Placeholder 2"/>
          <p:cNvSpPr>
            <a:spLocks noGrp="1"/>
          </p:cNvSpPr>
          <p:nvPr>
            <p:ph idx="1"/>
          </p:nvPr>
        </p:nvSpPr>
        <p:spPr/>
        <p:txBody>
          <a:bodyPr/>
          <a:lstStyle/>
          <a:p>
            <a:r>
              <a:rPr lang="en-IN" dirty="0"/>
              <a:t>Method of encryption by which units of plaintext are replaced with </a:t>
            </a:r>
            <a:r>
              <a:rPr lang="en-IN" dirty="0" err="1"/>
              <a:t>ciphertext</a:t>
            </a:r>
            <a:r>
              <a:rPr lang="en-IN" dirty="0"/>
              <a:t>, according to a fixed system; the “units” may be single letters (the most common), pairs of letters, triplets of letters, mixtures of the above, and so forth.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Caesar Cipher</a:t>
            </a:r>
            <a:endParaRPr lang="en-IN" dirty="0"/>
          </a:p>
        </p:txBody>
      </p:sp>
      <p:pic>
        <p:nvPicPr>
          <p:cNvPr id="72706" name="Picture 2" descr="https://microbit-challenges.readthedocs.io/en/latest/_images/shift.png"/>
          <p:cNvPicPr>
            <a:picLocks noGrp="1" noChangeAspect="1" noChangeArrowheads="1"/>
          </p:cNvPicPr>
          <p:nvPr>
            <p:ph idx="1"/>
          </p:nvPr>
        </p:nvPicPr>
        <p:blipFill>
          <a:blip r:embed="rId2"/>
          <a:stretch>
            <a:fillRect/>
          </a:stretch>
        </p:blipFill>
        <p:spPr bwMode="auto">
          <a:xfrm>
            <a:off x="768350" y="3215709"/>
            <a:ext cx="7289800" cy="2163307"/>
          </a:xfrm>
          <a:prstGeom prst="rect">
            <a:avLst/>
          </a:prstGeom>
          <a:noFill/>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Monoalphabetic</a:t>
            </a:r>
            <a:r>
              <a:rPr lang="en-US" dirty="0"/>
              <a:t> Substitution</a:t>
            </a:r>
            <a:endParaRPr lang="en-IN" dirty="0"/>
          </a:p>
        </p:txBody>
      </p:sp>
      <p:pic>
        <p:nvPicPr>
          <p:cNvPr id="75778" name="Picture 2" descr="https://i.ytimg.com/vi/Dz1RW_W2zGI/maxresdefault.jpg"/>
          <p:cNvPicPr>
            <a:picLocks noGrp="1" noChangeAspect="1" noChangeArrowheads="1"/>
          </p:cNvPicPr>
          <p:nvPr>
            <p:ph idx="1"/>
          </p:nvPr>
        </p:nvPicPr>
        <p:blipFill>
          <a:blip r:embed="rId2"/>
          <a:stretch>
            <a:fillRect/>
          </a:stretch>
        </p:blipFill>
        <p:spPr bwMode="auto">
          <a:xfrm>
            <a:off x="837494" y="2286000"/>
            <a:ext cx="7151511" cy="4022725"/>
          </a:xfrm>
          <a:prstGeom prst="rect">
            <a:avLst/>
          </a:prstGeom>
          <a:noFill/>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One-Time Pad</a:t>
            </a:r>
            <a:endParaRPr lang="en-IN" dirty="0"/>
          </a:p>
        </p:txBody>
      </p:sp>
      <p:sp>
        <p:nvSpPr>
          <p:cNvPr id="3" name="Content Placeholder 2"/>
          <p:cNvSpPr>
            <a:spLocks noGrp="1"/>
          </p:cNvSpPr>
          <p:nvPr>
            <p:ph idx="1"/>
          </p:nvPr>
        </p:nvSpPr>
        <p:spPr/>
        <p:txBody>
          <a:bodyPr>
            <a:normAutofit fontScale="92500" lnSpcReduction="20000"/>
          </a:bodyPr>
          <a:lstStyle/>
          <a:p>
            <a:r>
              <a:rPr lang="en-AU" dirty="0"/>
              <a:t>If a truly random key as long as the message is used, the cipher will be secure </a:t>
            </a:r>
          </a:p>
          <a:p>
            <a:r>
              <a:rPr lang="en-US" dirty="0"/>
              <a:t>Is unbreakable since </a:t>
            </a:r>
            <a:r>
              <a:rPr lang="en-US" dirty="0" err="1"/>
              <a:t>ciphertext</a:t>
            </a:r>
            <a:r>
              <a:rPr lang="en-US" dirty="0"/>
              <a:t> bears no statistical relationship to the plaintext</a:t>
            </a:r>
          </a:p>
          <a:p>
            <a:r>
              <a:rPr lang="en-US" dirty="0"/>
              <a:t>Since for </a:t>
            </a:r>
            <a:r>
              <a:rPr lang="en-US" b="1" dirty="0"/>
              <a:t>any plaintext</a:t>
            </a:r>
            <a:r>
              <a:rPr lang="en-US" dirty="0"/>
              <a:t> &amp; </a:t>
            </a:r>
            <a:r>
              <a:rPr lang="en-US" b="1" dirty="0"/>
              <a:t>any </a:t>
            </a:r>
            <a:r>
              <a:rPr lang="en-US" b="1" dirty="0" err="1"/>
              <a:t>ciphertext</a:t>
            </a:r>
            <a:r>
              <a:rPr lang="en-US" dirty="0"/>
              <a:t> there exists a key mapping one to other</a:t>
            </a:r>
          </a:p>
          <a:p>
            <a:r>
              <a:rPr lang="en-US" dirty="0"/>
              <a:t>Can only use the key </a:t>
            </a:r>
            <a:r>
              <a:rPr lang="en-US" b="1" dirty="0"/>
              <a:t>once</a:t>
            </a:r>
            <a:r>
              <a:rPr lang="en-US" dirty="0"/>
              <a:t> though</a:t>
            </a:r>
          </a:p>
          <a:p>
            <a:r>
              <a:rPr lang="en-US" dirty="0"/>
              <a:t>Problems in generation &amp; safe distribution of key</a:t>
            </a:r>
            <a:endParaRPr lang="en-AU" dirty="0"/>
          </a:p>
          <a:p>
            <a:endParaRPr lang="en-IN"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Transposition Ciphers</a:t>
            </a:r>
            <a:br>
              <a:rPr lang="en-IN" dirty="0"/>
            </a:br>
            <a:endParaRPr lang="en-IN" dirty="0"/>
          </a:p>
        </p:txBody>
      </p:sp>
      <p:sp>
        <p:nvSpPr>
          <p:cNvPr id="3" name="Content Placeholder 2"/>
          <p:cNvSpPr>
            <a:spLocks noGrp="1"/>
          </p:cNvSpPr>
          <p:nvPr>
            <p:ph idx="1"/>
          </p:nvPr>
        </p:nvSpPr>
        <p:spPr/>
        <p:txBody>
          <a:bodyPr/>
          <a:lstStyle/>
          <a:p>
            <a:r>
              <a:rPr lang="en-IN" dirty="0"/>
              <a:t>In Cryptography, a transposition cipher is a method of encryption by which the positions held by units of plaintext (which are commonly characters or groups of characters) are shifted according to a regular system, so that the </a:t>
            </a:r>
            <a:r>
              <a:rPr lang="en-IN" dirty="0" err="1"/>
              <a:t>ciphertext</a:t>
            </a:r>
            <a:r>
              <a:rPr lang="en-IN" dirty="0"/>
              <a:t> constitutes a permutation of the plaintext.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Rail Fence Cipher</a:t>
            </a:r>
            <a:endParaRPr lang="en-IN" dirty="0"/>
          </a:p>
        </p:txBody>
      </p:sp>
      <p:pic>
        <p:nvPicPr>
          <p:cNvPr id="81925" name="Picture 5"/>
          <p:cNvPicPr>
            <a:picLocks noGrp="1" noChangeAspect="1" noChangeArrowheads="1"/>
          </p:cNvPicPr>
          <p:nvPr>
            <p:ph idx="1"/>
          </p:nvPr>
        </p:nvPicPr>
        <p:blipFill>
          <a:blip r:embed="rId2"/>
          <a:srcRect/>
          <a:stretch>
            <a:fillRect/>
          </a:stretch>
        </p:blipFill>
        <p:spPr bwMode="auto">
          <a:xfrm>
            <a:off x="1571604" y="2000240"/>
            <a:ext cx="7215238" cy="2867988"/>
          </a:xfrm>
          <a:prstGeom prst="rect">
            <a:avLst/>
          </a:prstGeom>
          <a:noFill/>
          <a:ln w="9525">
            <a:noFill/>
            <a:miter lim="800000"/>
            <a:headEnd/>
            <a:tailEnd/>
          </a:ln>
          <a:effectLst/>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Row Transposition Cipher</a:t>
            </a:r>
            <a:endParaRPr lang="en-IN" dirty="0"/>
          </a:p>
        </p:txBody>
      </p:sp>
      <p:pic>
        <p:nvPicPr>
          <p:cNvPr id="84994" name="Picture 2" descr="https://slideplayer.com/slide/9748623/31/images/38/Row+Transposition+Ciphers.jpg"/>
          <p:cNvPicPr>
            <a:picLocks noGrp="1" noChangeAspect="1" noChangeArrowheads="1"/>
          </p:cNvPicPr>
          <p:nvPr>
            <p:ph idx="1"/>
          </p:nvPr>
        </p:nvPicPr>
        <p:blipFill>
          <a:blip r:embed="rId2"/>
          <a:stretch>
            <a:fillRect/>
          </a:stretch>
        </p:blipFill>
        <p:spPr bwMode="auto">
          <a:xfrm>
            <a:off x="837494" y="2286000"/>
            <a:ext cx="7151511" cy="4022725"/>
          </a:xfrm>
          <a:prstGeom prst="rect">
            <a:avLst/>
          </a:prstGeom>
          <a:noFill/>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Stream Cipher</a:t>
            </a:r>
            <a:br>
              <a:rPr lang="en-IN" dirty="0"/>
            </a:br>
            <a:endParaRPr lang="en-IN" dirty="0"/>
          </a:p>
        </p:txBody>
      </p:sp>
      <p:sp>
        <p:nvSpPr>
          <p:cNvPr id="3" name="Content Placeholder 2"/>
          <p:cNvSpPr>
            <a:spLocks noGrp="1"/>
          </p:cNvSpPr>
          <p:nvPr>
            <p:ph idx="1"/>
          </p:nvPr>
        </p:nvSpPr>
        <p:spPr/>
        <p:txBody>
          <a:bodyPr/>
          <a:lstStyle/>
          <a:p>
            <a:r>
              <a:rPr lang="en-IN" dirty="0"/>
              <a:t>Symmetric or secret-key encryption algorithm that encrypts a single bit at a time. With a Stream Cipher, the same plaintext bit or byte will encrypt to a different bit or byte every time it is encrypted.</a:t>
            </a:r>
          </a:p>
          <a:p>
            <a:endParaRPr lang="en-IN" dirty="0"/>
          </a:p>
        </p:txBody>
      </p:sp>
      <p:pic>
        <p:nvPicPr>
          <p:cNvPr id="78850" name="Picture 2" descr="Stream cipher-what is cryptography-edureka"/>
          <p:cNvPicPr>
            <a:picLocks noChangeAspect="1" noChangeArrowheads="1"/>
          </p:cNvPicPr>
          <p:nvPr/>
        </p:nvPicPr>
        <p:blipFill>
          <a:blip r:embed="rId2"/>
          <a:srcRect/>
          <a:stretch>
            <a:fillRect/>
          </a:stretch>
        </p:blipFill>
        <p:spPr bwMode="auto">
          <a:xfrm>
            <a:off x="2000232" y="3857628"/>
            <a:ext cx="6803966" cy="2747500"/>
          </a:xfrm>
          <a:prstGeom prst="rect">
            <a:avLst/>
          </a:prstGeom>
          <a:noFill/>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Block Cipher</a:t>
            </a:r>
            <a:br>
              <a:rPr lang="en-IN" dirty="0"/>
            </a:br>
            <a:endParaRPr lang="en-IN" dirty="0"/>
          </a:p>
        </p:txBody>
      </p:sp>
      <p:sp>
        <p:nvSpPr>
          <p:cNvPr id="3" name="Content Placeholder 2"/>
          <p:cNvSpPr>
            <a:spLocks noGrp="1"/>
          </p:cNvSpPr>
          <p:nvPr>
            <p:ph idx="1"/>
          </p:nvPr>
        </p:nvSpPr>
        <p:spPr/>
        <p:txBody>
          <a:bodyPr/>
          <a:lstStyle/>
          <a:p>
            <a:r>
              <a:rPr lang="en-IN" dirty="0"/>
              <a:t>An encryption method that applies a deterministic algorithm along with a symmetric key to encrypt a block of text, rather than encrypting one bit at a time as in stream ciphers</a:t>
            </a:r>
          </a:p>
        </p:txBody>
      </p:sp>
      <p:pic>
        <p:nvPicPr>
          <p:cNvPr id="80898" name="Picture 2" descr="Block cipher-aht is cryptography-edureka"/>
          <p:cNvPicPr>
            <a:picLocks noChangeAspect="1" noChangeArrowheads="1"/>
          </p:cNvPicPr>
          <p:nvPr/>
        </p:nvPicPr>
        <p:blipFill>
          <a:blip r:embed="rId2"/>
          <a:srcRect/>
          <a:stretch>
            <a:fillRect/>
          </a:stretch>
        </p:blipFill>
        <p:spPr bwMode="auto">
          <a:xfrm>
            <a:off x="2143108" y="3786190"/>
            <a:ext cx="5789517" cy="2571768"/>
          </a:xfrm>
          <a:prstGeom prst="rect">
            <a:avLst/>
          </a:prstGeom>
          <a:noFill/>
        </p:spPr>
      </p:pic>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Asymmetric Key Encryption (or Public Key Cryptography)</a:t>
            </a:r>
            <a:endParaRPr lang="en-IN" dirty="0"/>
          </a:p>
        </p:txBody>
      </p:sp>
      <p:sp>
        <p:nvSpPr>
          <p:cNvPr id="3" name="Content Placeholder 2"/>
          <p:cNvSpPr>
            <a:spLocks noGrp="1"/>
          </p:cNvSpPr>
          <p:nvPr>
            <p:ph idx="1"/>
          </p:nvPr>
        </p:nvSpPr>
        <p:spPr>
          <a:xfrm>
            <a:off x="1435608" y="1857364"/>
            <a:ext cx="7498080" cy="4391036"/>
          </a:xfrm>
        </p:spPr>
        <p:txBody>
          <a:bodyPr/>
          <a:lstStyle/>
          <a:p>
            <a:r>
              <a:rPr lang="en-IN" dirty="0"/>
              <a:t>The encryption process where different keys are used for encrypting and decrypting the information. </a:t>
            </a:r>
          </a:p>
          <a:p>
            <a:r>
              <a:rPr lang="en-IN" dirty="0"/>
              <a:t>Keys are different but are mathematically related, such that retrieving the plain text by decrypting </a:t>
            </a:r>
            <a:r>
              <a:rPr lang="en-IN" dirty="0" err="1"/>
              <a:t>ciphertext</a:t>
            </a:r>
            <a:r>
              <a:rPr lang="en-IN" dirty="0"/>
              <a:t> is feasible. </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Asymmetric Key Encryption</a:t>
            </a:r>
            <a:endParaRPr lang="en-IN" dirty="0"/>
          </a:p>
        </p:txBody>
      </p:sp>
      <p:pic>
        <p:nvPicPr>
          <p:cNvPr id="86018" name="Picture 2" descr="public-key encryption-what is cryptography-edureka"/>
          <p:cNvPicPr>
            <a:picLocks noGrp="1" noChangeAspect="1" noChangeArrowheads="1"/>
          </p:cNvPicPr>
          <p:nvPr>
            <p:ph idx="1"/>
          </p:nvPr>
        </p:nvPicPr>
        <p:blipFill>
          <a:blip r:embed="rId2"/>
          <a:srcRect/>
          <a:stretch>
            <a:fillRect/>
          </a:stretch>
        </p:blipFill>
        <p:spPr bwMode="auto">
          <a:xfrm>
            <a:off x="1238269" y="1928802"/>
            <a:ext cx="7696181" cy="3742870"/>
          </a:xfrm>
          <a:prstGeom prst="rect">
            <a:avLst/>
          </a:prstGeom>
          <a:noFill/>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RSA Algorithm</a:t>
            </a:r>
            <a:br>
              <a:rPr lang="en-IN" dirty="0"/>
            </a:br>
            <a:endParaRPr lang="en-IN" dirty="0"/>
          </a:p>
        </p:txBody>
      </p:sp>
      <p:sp>
        <p:nvSpPr>
          <p:cNvPr id="3" name="Content Placeholder 2"/>
          <p:cNvSpPr>
            <a:spLocks noGrp="1"/>
          </p:cNvSpPr>
          <p:nvPr>
            <p:ph idx="1"/>
          </p:nvPr>
        </p:nvSpPr>
        <p:spPr/>
        <p:txBody>
          <a:bodyPr/>
          <a:lstStyle/>
          <a:p>
            <a:r>
              <a:rPr lang="en-IN" dirty="0"/>
              <a:t>RSA stands for </a:t>
            </a:r>
            <a:r>
              <a:rPr lang="en-IN" i="1" dirty="0" err="1"/>
              <a:t>Rivest</a:t>
            </a:r>
            <a:r>
              <a:rPr lang="en-IN" i="1" dirty="0"/>
              <a:t>, Shamir, and Adelman</a:t>
            </a:r>
            <a:r>
              <a:rPr lang="en-IN" dirty="0"/>
              <a:t>, inventors of this technique</a:t>
            </a:r>
          </a:p>
          <a:p>
            <a:r>
              <a:rPr lang="en-IN" dirty="0"/>
              <a:t>Both public and private key are interchangeable</a:t>
            </a:r>
          </a:p>
          <a:p>
            <a:r>
              <a:rPr lang="en-IN" dirty="0"/>
              <a:t>Variable Key Size (512, 1024, or 2048 bits)</a:t>
            </a:r>
          </a:p>
          <a:p>
            <a:endParaRPr lang="en-IN"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RSA</a:t>
            </a:r>
            <a:endParaRPr lang="en-IN" dirty="0"/>
          </a:p>
        </p:txBody>
      </p:sp>
      <p:pic>
        <p:nvPicPr>
          <p:cNvPr id="88066" name="Picture 2" descr="RSA encryption-what is cryptography-edureka"/>
          <p:cNvPicPr>
            <a:picLocks noGrp="1" noChangeAspect="1" noChangeArrowheads="1"/>
          </p:cNvPicPr>
          <p:nvPr>
            <p:ph idx="1"/>
          </p:nvPr>
        </p:nvPicPr>
        <p:blipFill>
          <a:blip r:embed="rId2"/>
          <a:stretch>
            <a:fillRect/>
          </a:stretch>
        </p:blipFill>
        <p:spPr bwMode="auto">
          <a:xfrm>
            <a:off x="768350" y="2922383"/>
            <a:ext cx="7289800" cy="2749959"/>
          </a:xfrm>
          <a:prstGeom prst="rect">
            <a:avLst/>
          </a:prstGeom>
          <a:noFill/>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90114" name="Picture 2" descr="Public-Key Encryption - ppt video online download"/>
          <p:cNvPicPr>
            <a:picLocks noGrp="1" noChangeAspect="1" noChangeArrowheads="1"/>
          </p:cNvPicPr>
          <p:nvPr>
            <p:ph idx="1"/>
          </p:nvPr>
        </p:nvPicPr>
        <p:blipFill>
          <a:blip r:embed="rId2"/>
          <a:srcRect/>
          <a:stretch>
            <a:fillRect/>
          </a:stretch>
        </p:blipFill>
        <p:spPr bwMode="auto">
          <a:xfrm>
            <a:off x="0" y="0"/>
            <a:ext cx="9144000" cy="6858000"/>
          </a:xfrm>
          <a:prstGeom prst="rect">
            <a:avLst/>
          </a:prstGeom>
          <a:noFill/>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ELECTRONIC CODE BOOK</a:t>
            </a:r>
            <a:endParaRPr lang="en-IN" dirty="0"/>
          </a:p>
        </p:txBody>
      </p:sp>
      <p:sp>
        <p:nvSpPr>
          <p:cNvPr id="3" name="Content Placeholder 2"/>
          <p:cNvSpPr>
            <a:spLocks noGrp="1"/>
          </p:cNvSpPr>
          <p:nvPr>
            <p:ph idx="1"/>
          </p:nvPr>
        </p:nvSpPr>
        <p:spPr/>
        <p:txBody>
          <a:bodyPr>
            <a:normAutofit fontScale="85000" lnSpcReduction="10000"/>
          </a:bodyPr>
          <a:lstStyle/>
          <a:p>
            <a:pPr algn="l"/>
            <a:r>
              <a:rPr lang="en-US" dirty="0"/>
              <a:t>A block cipher takes a fixed-length block of text of length b bits and a key as input and produces a b bit block of </a:t>
            </a:r>
            <a:r>
              <a:rPr lang="en-US" dirty="0" err="1"/>
              <a:t>ciphertext</a:t>
            </a:r>
            <a:r>
              <a:rPr lang="en-US" dirty="0"/>
              <a:t>.</a:t>
            </a:r>
            <a:endParaRPr lang="en-IN" dirty="0"/>
          </a:p>
          <a:p>
            <a:r>
              <a:rPr lang="en-IN" dirty="0"/>
              <a:t>The ECB method is ideal for a short amount of data, such as an encryption key. Thus, if you want to transmit a DES or AES key securely, ECB is the appropriate mode to use.</a:t>
            </a:r>
          </a:p>
          <a:p>
            <a:r>
              <a:rPr lang="en-IN" dirty="0"/>
              <a:t>The most significant characteristic of ECB is that if the same </a:t>
            </a:r>
            <a:r>
              <a:rPr lang="en-IN" i="1" dirty="0"/>
              <a:t>b</a:t>
            </a:r>
            <a:r>
              <a:rPr lang="en-IN" dirty="0"/>
              <a:t>-bit block of plaintext appears more than once in the message, it always produces the same </a:t>
            </a:r>
            <a:r>
              <a:rPr lang="en-IN" dirty="0" err="1"/>
              <a:t>ciphertext</a:t>
            </a:r>
            <a:r>
              <a:rPr lang="en-IN" dirty="0"/>
              <a:t>.</a:t>
            </a:r>
          </a:p>
          <a:p>
            <a:r>
              <a:rPr lang="en-IN" dirty="0"/>
              <a:t>For lengthy messages, the ECB mode may not be secure.</a:t>
            </a:r>
          </a:p>
          <a:p>
            <a:endParaRPr lang="en-IN"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en-US" dirty="0"/>
              <a:t>ECB</a:t>
            </a:r>
            <a:endParaRPr lang="en-IN" dirty="0"/>
          </a:p>
        </p:txBody>
      </p:sp>
      <p:sp>
        <p:nvSpPr>
          <p:cNvPr id="9" name="Text Placeholder 8"/>
          <p:cNvSpPr>
            <a:spLocks noGrp="1"/>
          </p:cNvSpPr>
          <p:nvPr>
            <p:ph type="body" idx="1"/>
          </p:nvPr>
        </p:nvSpPr>
        <p:spPr/>
        <p:txBody>
          <a:bodyPr>
            <a:normAutofit/>
          </a:bodyPr>
          <a:lstStyle/>
          <a:p>
            <a:r>
              <a:rPr lang="en-US" dirty="0"/>
              <a:t>Encryption			</a:t>
            </a:r>
            <a:endParaRPr lang="en-IN" dirty="0"/>
          </a:p>
        </p:txBody>
      </p:sp>
      <p:pic>
        <p:nvPicPr>
          <p:cNvPr id="1026" name="Picture 2"/>
          <p:cNvPicPr>
            <a:picLocks noGrp="1" noChangeAspect="1" noChangeArrowheads="1"/>
          </p:cNvPicPr>
          <p:nvPr>
            <p:ph sz="half" idx="2"/>
          </p:nvPr>
        </p:nvPicPr>
        <p:blipFill>
          <a:blip r:embed="rId2"/>
          <a:stretch>
            <a:fillRect/>
          </a:stretch>
        </p:blipFill>
        <p:spPr bwMode="auto">
          <a:xfrm>
            <a:off x="768350" y="3896130"/>
            <a:ext cx="3565525" cy="1483503"/>
          </a:xfrm>
          <a:prstGeom prst="rect">
            <a:avLst/>
          </a:prstGeom>
          <a:noFill/>
          <a:ln w="9525">
            <a:noFill/>
            <a:miter lim="800000"/>
            <a:headEnd/>
            <a:tailEnd/>
          </a:ln>
          <a:effectLst/>
        </p:spPr>
      </p:pic>
      <p:sp>
        <p:nvSpPr>
          <p:cNvPr id="10" name="Text Placeholder 9"/>
          <p:cNvSpPr>
            <a:spLocks noGrp="1"/>
          </p:cNvSpPr>
          <p:nvPr>
            <p:ph type="body" sz="quarter" idx="3"/>
          </p:nvPr>
        </p:nvSpPr>
        <p:spPr/>
        <p:txBody>
          <a:bodyPr/>
          <a:lstStyle/>
          <a:p>
            <a:r>
              <a:rPr lang="en-US" dirty="0"/>
              <a:t>Decryption</a:t>
            </a:r>
            <a:endParaRPr lang="en-IN" dirty="0"/>
          </a:p>
        </p:txBody>
      </p:sp>
      <p:pic>
        <p:nvPicPr>
          <p:cNvPr id="7" name="Picture 2"/>
          <p:cNvPicPr>
            <a:picLocks noGrp="1" noChangeAspect="1" noChangeArrowheads="1"/>
          </p:cNvPicPr>
          <p:nvPr>
            <p:ph sz="quarter" idx="4"/>
          </p:nvPr>
        </p:nvPicPr>
        <p:blipFill>
          <a:blip r:embed="rId3"/>
          <a:stretch>
            <a:fillRect/>
          </a:stretch>
        </p:blipFill>
        <p:spPr bwMode="auto">
          <a:xfrm>
            <a:off x="4492625" y="3906629"/>
            <a:ext cx="3565525" cy="1462505"/>
          </a:xfrm>
          <a:prstGeom prst="rect">
            <a:avLst/>
          </a:prstGeom>
          <a:noFill/>
          <a:ln w="9525">
            <a:noFill/>
            <a:miter lim="800000"/>
            <a:headEnd/>
            <a:tailEnd/>
          </a:ln>
          <a:effectLst/>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Cipher Block Chaining(CBC) Mode</a:t>
            </a:r>
            <a:br>
              <a:rPr lang="en-IN" dirty="0"/>
            </a:br>
            <a:endParaRPr lang="en-IN" dirty="0"/>
          </a:p>
        </p:txBody>
      </p:sp>
      <p:sp>
        <p:nvSpPr>
          <p:cNvPr id="5" name="Content Placeholder 4"/>
          <p:cNvSpPr>
            <a:spLocks noGrp="1"/>
          </p:cNvSpPr>
          <p:nvPr>
            <p:ph idx="1"/>
          </p:nvPr>
        </p:nvSpPr>
        <p:spPr/>
        <p:txBody>
          <a:bodyPr>
            <a:normAutofit/>
          </a:bodyPr>
          <a:lstStyle/>
          <a:p>
            <a:r>
              <a:rPr lang="en-IN" dirty="0"/>
              <a:t>In this scheme, the input to the encryption algorithm is the XOR of the current plain- text block and the preceding </a:t>
            </a:r>
            <a:r>
              <a:rPr lang="en-IN" dirty="0" err="1"/>
              <a:t>ciphertext</a:t>
            </a:r>
            <a:r>
              <a:rPr lang="en-IN" dirty="0"/>
              <a:t> block; the same key is used for each block. In effect, we have chained together the processing of the sequence of plaintext blocks.</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357166"/>
            <a:ext cx="7498080" cy="5891234"/>
          </a:xfrm>
        </p:spPr>
        <p:txBody>
          <a:bodyPr>
            <a:normAutofit/>
          </a:bodyPr>
          <a:lstStyle/>
          <a:p>
            <a:r>
              <a:rPr lang="en-IN" dirty="0"/>
              <a:t>For decryption, each cipher block is passed through the decryption algorithm. The result is </a:t>
            </a:r>
            <a:r>
              <a:rPr lang="en-IN" dirty="0" err="1"/>
              <a:t>XORed</a:t>
            </a:r>
            <a:r>
              <a:rPr lang="en-IN" dirty="0"/>
              <a:t> with the preceding </a:t>
            </a:r>
            <a:r>
              <a:rPr lang="en-IN" dirty="0" err="1"/>
              <a:t>ciphertext</a:t>
            </a:r>
            <a:r>
              <a:rPr lang="en-IN" dirty="0"/>
              <a:t> block to produce the plaintext block. </a:t>
            </a:r>
          </a:p>
          <a:p>
            <a:r>
              <a:rPr lang="en-IN" dirty="0"/>
              <a:t>Because of the chaining mechanism of CBC, it is an appropriate mode for encrypting messages of length greater than </a:t>
            </a:r>
            <a:r>
              <a:rPr lang="en-IN" i="1" dirty="0"/>
              <a:t>b   </a:t>
            </a:r>
            <a:r>
              <a:rPr lang="en-IN" dirty="0"/>
              <a:t>bits.</a:t>
            </a:r>
          </a:p>
          <a:p>
            <a:r>
              <a:rPr lang="en-IN" dirty="0"/>
              <a:t>In addition to its use to achieve confidentiality, the CBC mode can be used for authentication. </a:t>
            </a:r>
          </a:p>
          <a:p>
            <a:endParaRPr lang="en-IN"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CBC Mode</a:t>
            </a:r>
            <a:endParaRPr lang="en-IN" dirty="0"/>
          </a:p>
        </p:txBody>
      </p:sp>
      <p:sp>
        <p:nvSpPr>
          <p:cNvPr id="5" name="Text Placeholder 4"/>
          <p:cNvSpPr>
            <a:spLocks noGrp="1"/>
          </p:cNvSpPr>
          <p:nvPr>
            <p:ph type="body" idx="1"/>
          </p:nvPr>
        </p:nvSpPr>
        <p:spPr/>
        <p:txBody>
          <a:bodyPr/>
          <a:lstStyle/>
          <a:p>
            <a:r>
              <a:rPr lang="en-US" dirty="0"/>
              <a:t>Encryption	</a:t>
            </a:r>
            <a:endParaRPr lang="en-IN" dirty="0"/>
          </a:p>
        </p:txBody>
      </p:sp>
      <p:pic>
        <p:nvPicPr>
          <p:cNvPr id="3074" name="Picture 2"/>
          <p:cNvPicPr>
            <a:picLocks noGrp="1" noChangeAspect="1" noChangeArrowheads="1"/>
          </p:cNvPicPr>
          <p:nvPr>
            <p:ph sz="half" idx="2"/>
          </p:nvPr>
        </p:nvPicPr>
        <p:blipFill>
          <a:blip r:embed="rId2"/>
          <a:stretch>
            <a:fillRect/>
          </a:stretch>
        </p:blipFill>
        <p:spPr bwMode="auto">
          <a:xfrm>
            <a:off x="768350" y="3951804"/>
            <a:ext cx="3565525" cy="1372155"/>
          </a:xfrm>
          <a:prstGeom prst="rect">
            <a:avLst/>
          </a:prstGeom>
          <a:noFill/>
          <a:ln w="9525">
            <a:noFill/>
            <a:miter lim="800000"/>
            <a:headEnd/>
            <a:tailEnd/>
          </a:ln>
          <a:effectLst/>
        </p:spPr>
      </p:pic>
      <p:sp>
        <p:nvSpPr>
          <p:cNvPr id="7" name="Text Placeholder 6"/>
          <p:cNvSpPr>
            <a:spLocks noGrp="1"/>
          </p:cNvSpPr>
          <p:nvPr>
            <p:ph type="body" sz="quarter" idx="3"/>
          </p:nvPr>
        </p:nvSpPr>
        <p:spPr/>
        <p:txBody>
          <a:bodyPr/>
          <a:lstStyle/>
          <a:p>
            <a:r>
              <a:rPr lang="en-US" dirty="0"/>
              <a:t>Decryption</a:t>
            </a:r>
            <a:endParaRPr lang="en-IN" dirty="0"/>
          </a:p>
        </p:txBody>
      </p:sp>
      <p:pic>
        <p:nvPicPr>
          <p:cNvPr id="3075" name="Picture 3"/>
          <p:cNvPicPr>
            <a:picLocks noGrp="1" noChangeAspect="1" noChangeArrowheads="1"/>
          </p:cNvPicPr>
          <p:nvPr>
            <p:ph sz="quarter" idx="4"/>
          </p:nvPr>
        </p:nvPicPr>
        <p:blipFill>
          <a:blip r:embed="rId3"/>
          <a:stretch>
            <a:fillRect/>
          </a:stretch>
        </p:blipFill>
        <p:spPr bwMode="auto">
          <a:xfrm>
            <a:off x="4492625" y="3956856"/>
            <a:ext cx="3565525" cy="1362051"/>
          </a:xfrm>
          <a:prstGeom prst="rect">
            <a:avLst/>
          </a:prstGeom>
          <a:noFill/>
          <a:ln w="9525">
            <a:noFill/>
            <a:miter lim="800000"/>
            <a:headEnd/>
            <a:tailEnd/>
          </a:ln>
          <a:effectLst/>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785794"/>
            <a:ext cx="7498080" cy="5462606"/>
          </a:xfrm>
        </p:spPr>
        <p:txBody>
          <a:bodyPr>
            <a:normAutofit/>
          </a:bodyPr>
          <a:lstStyle/>
          <a:p>
            <a:pPr algn="l"/>
            <a:r>
              <a:rPr lang="en-IN" dirty="0"/>
              <a:t>For AES, DES, or any block cipher, encryption is performed on a block of </a:t>
            </a:r>
            <a:r>
              <a:rPr lang="en-IN" i="1" dirty="0"/>
              <a:t>b </a:t>
            </a:r>
            <a:r>
              <a:rPr lang="en-IN" dirty="0"/>
              <a:t>bits. </a:t>
            </a:r>
            <a:r>
              <a:rPr lang="en-IN" dirty="0" err="1"/>
              <a:t>Inthe</a:t>
            </a:r>
            <a:r>
              <a:rPr lang="en-IN" dirty="0"/>
              <a:t> case of DES, </a:t>
            </a:r>
            <a:r>
              <a:rPr lang="en-IN" i="1" dirty="0"/>
              <a:t>b </a:t>
            </a:r>
            <a:r>
              <a:rPr lang="en-IN" dirty="0"/>
              <a:t>= 64 and in the case of AES, </a:t>
            </a:r>
            <a:r>
              <a:rPr lang="en-IN" i="1" dirty="0"/>
              <a:t>b </a:t>
            </a:r>
            <a:r>
              <a:rPr lang="en-IN" dirty="0"/>
              <a:t>= 12</a:t>
            </a:r>
          </a:p>
          <a:p>
            <a:pPr algn="l"/>
            <a:r>
              <a:rPr lang="en-IN" dirty="0"/>
              <a:t>However, it is possible </a:t>
            </a:r>
            <a:r>
              <a:rPr lang="en-IN" dirty="0" err="1"/>
              <a:t>toconvert</a:t>
            </a:r>
            <a:r>
              <a:rPr lang="en-IN" dirty="0"/>
              <a:t> a block cipher into a stream cipher, using one of the three modes : </a:t>
            </a:r>
          </a:p>
          <a:p>
            <a:pPr algn="l"/>
            <a:r>
              <a:rPr lang="en-IN" b="1" dirty="0"/>
              <a:t>cipher feedback </a:t>
            </a:r>
            <a:r>
              <a:rPr lang="en-IN" dirty="0"/>
              <a:t>(CFB) mode, </a:t>
            </a:r>
            <a:r>
              <a:rPr lang="en-IN" b="1" dirty="0"/>
              <a:t>output feedback </a:t>
            </a:r>
            <a:r>
              <a:rPr lang="en-IN" dirty="0"/>
              <a:t>(OFB) mode, and </a:t>
            </a:r>
            <a:r>
              <a:rPr lang="en-IN" b="1" dirty="0"/>
              <a:t>counter </a:t>
            </a:r>
            <a:r>
              <a:rPr lang="en-IN" dirty="0"/>
              <a:t>(CTR) mode. </a:t>
            </a:r>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Cipher Feedback Mode</a:t>
            </a:r>
            <a:br>
              <a:rPr lang="en-IN" dirty="0"/>
            </a:br>
            <a:endParaRPr lang="en-IN" dirty="0"/>
          </a:p>
        </p:txBody>
      </p:sp>
      <p:sp>
        <p:nvSpPr>
          <p:cNvPr id="3" name="Content Placeholder 2"/>
          <p:cNvSpPr>
            <a:spLocks noGrp="1"/>
          </p:cNvSpPr>
          <p:nvPr>
            <p:ph idx="1"/>
          </p:nvPr>
        </p:nvSpPr>
        <p:spPr/>
        <p:txBody>
          <a:bodyPr>
            <a:normAutofit/>
          </a:bodyPr>
          <a:lstStyle/>
          <a:p>
            <a:r>
              <a:rPr lang="en-IN" dirty="0"/>
              <a:t>the input to the encryption function is a </a:t>
            </a:r>
            <a:r>
              <a:rPr lang="en-IN" i="1" dirty="0"/>
              <a:t>b</a:t>
            </a:r>
            <a:r>
              <a:rPr lang="en-IN" dirty="0"/>
              <a:t>-bit shift register that is initially set to some initialization vector (IV).</a:t>
            </a:r>
          </a:p>
          <a:p>
            <a:r>
              <a:rPr lang="en-IN" dirty="0"/>
              <a:t> The leftmost (most significant) </a:t>
            </a:r>
            <a:r>
              <a:rPr lang="en-IN" i="1" dirty="0"/>
              <a:t>s </a:t>
            </a:r>
            <a:r>
              <a:rPr lang="en-IN" dirty="0"/>
              <a:t>bits of the output of the encryption function are </a:t>
            </a:r>
            <a:r>
              <a:rPr lang="en-IN" dirty="0" err="1"/>
              <a:t>XORed</a:t>
            </a:r>
            <a:r>
              <a:rPr lang="en-IN" dirty="0"/>
              <a:t> with the first segment of plaintext </a:t>
            </a:r>
            <a:r>
              <a:rPr lang="en-IN" i="1" dirty="0"/>
              <a:t>P</a:t>
            </a:r>
            <a:r>
              <a:rPr lang="en-IN" dirty="0"/>
              <a:t>1 to produce the first unit of </a:t>
            </a:r>
            <a:r>
              <a:rPr lang="en-IN" dirty="0" err="1"/>
              <a:t>ciphertext</a:t>
            </a:r>
            <a:r>
              <a:rPr lang="en-IN" dirty="0"/>
              <a:t> </a:t>
            </a:r>
            <a:r>
              <a:rPr lang="en-IN" i="1" dirty="0"/>
              <a:t>C</a:t>
            </a:r>
            <a:r>
              <a:rPr lang="en-IN" dirty="0"/>
              <a:t>1, which is then transmitted.</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Encryption</a:t>
            </a:r>
            <a:endParaRPr lang="en-IN" dirty="0"/>
          </a:p>
        </p:txBody>
      </p:sp>
      <p:pic>
        <p:nvPicPr>
          <p:cNvPr id="4" name="Picture 2" descr="http://www.brainkart.com/media/extra/mYeUwf4.jpg"/>
          <p:cNvPicPr>
            <a:picLocks noGrp="1" noChangeAspect="1" noChangeArrowheads="1"/>
          </p:cNvPicPr>
          <p:nvPr>
            <p:ph idx="1"/>
          </p:nvPr>
        </p:nvPicPr>
        <p:blipFill>
          <a:blip r:embed="rId2"/>
          <a:srcRect/>
          <a:stretch>
            <a:fillRect/>
          </a:stretch>
        </p:blipFill>
        <p:spPr bwMode="auto">
          <a:xfrm>
            <a:off x="1142976" y="2071678"/>
            <a:ext cx="7568096" cy="4000528"/>
          </a:xfrm>
          <a:prstGeom prst="rect">
            <a:avLst/>
          </a:prstGeom>
          <a:noFill/>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Decryption</a:t>
            </a:r>
            <a:endParaRPr lang="en-IN" dirty="0"/>
          </a:p>
        </p:txBody>
      </p:sp>
      <p:pic>
        <p:nvPicPr>
          <p:cNvPr id="7" name="Picture 2" descr="http://www.brainkart.com/media/extra/68hjI0I.jpg"/>
          <p:cNvPicPr>
            <a:picLocks noGrp="1" noChangeAspect="1" noChangeArrowheads="1"/>
          </p:cNvPicPr>
          <p:nvPr>
            <p:ph idx="1"/>
          </p:nvPr>
        </p:nvPicPr>
        <p:blipFill>
          <a:blip r:embed="rId2"/>
          <a:srcRect b="31038"/>
          <a:stretch>
            <a:fillRect/>
          </a:stretch>
        </p:blipFill>
        <p:spPr bwMode="auto">
          <a:xfrm>
            <a:off x="1285852" y="2285992"/>
            <a:ext cx="7215238" cy="3357586"/>
          </a:xfrm>
          <a:prstGeom prst="rect">
            <a:avLst/>
          </a:prstGeom>
          <a:noFill/>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OUTPUT FEEDBACK MODE</a:t>
            </a:r>
            <a:endParaRPr lang="en-IN" dirty="0"/>
          </a:p>
        </p:txBody>
      </p:sp>
      <p:sp>
        <p:nvSpPr>
          <p:cNvPr id="3" name="Content Placeholder 2"/>
          <p:cNvSpPr>
            <a:spLocks noGrp="1"/>
          </p:cNvSpPr>
          <p:nvPr>
            <p:ph idx="1"/>
          </p:nvPr>
        </p:nvSpPr>
        <p:spPr/>
        <p:txBody>
          <a:bodyPr/>
          <a:lstStyle/>
          <a:p>
            <a:r>
              <a:rPr lang="en-IN" dirty="0"/>
              <a:t>The </a:t>
            </a:r>
            <a:r>
              <a:rPr lang="en-IN" b="1" dirty="0"/>
              <a:t>output feedback </a:t>
            </a:r>
            <a:r>
              <a:rPr lang="en-IN" dirty="0"/>
              <a:t>(OFB) mode is similar in structure to that of CFB.</a:t>
            </a:r>
          </a:p>
          <a:p>
            <a:r>
              <a:rPr lang="en-IN" dirty="0"/>
              <a:t>The output of the encryption function that is fed back to </a:t>
            </a:r>
            <a:r>
              <a:rPr lang="en-IN" dirty="0" err="1"/>
              <a:t>theshift</a:t>
            </a:r>
            <a:r>
              <a:rPr lang="en-IN" dirty="0"/>
              <a:t> register in OFB, whereas in CFB, the </a:t>
            </a:r>
            <a:r>
              <a:rPr lang="en-IN" dirty="0" err="1"/>
              <a:t>ciphertext</a:t>
            </a:r>
            <a:r>
              <a:rPr lang="en-IN" dirty="0"/>
              <a:t> unit is fed back to the shift register. </a:t>
            </a:r>
          </a:p>
          <a:p>
            <a:r>
              <a:rPr lang="en-IN" dirty="0"/>
              <a:t>The other difference is that the OFB mode operates on   full blocks of plaintext and </a:t>
            </a:r>
            <a:r>
              <a:rPr lang="en-IN" dirty="0" err="1"/>
              <a:t>ciphertext</a:t>
            </a:r>
            <a:r>
              <a:rPr lang="en-IN" dirty="0"/>
              <a:t>, not on an </a:t>
            </a:r>
            <a:r>
              <a:rPr lang="en-IN" i="1" dirty="0"/>
              <a:t>s</a:t>
            </a:r>
            <a:r>
              <a:rPr lang="en-IN" dirty="0"/>
              <a:t>-bit subset. </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Encryption and Decryption</a:t>
            </a:r>
            <a:endParaRPr lang="en-IN" dirty="0"/>
          </a:p>
        </p:txBody>
      </p:sp>
      <p:pic>
        <p:nvPicPr>
          <p:cNvPr id="5" name="Picture 2" descr="http://www.brainkart.com/media/extra/CsFsh1t.jpg"/>
          <p:cNvPicPr>
            <a:picLocks noGrp="1" noChangeAspect="1" noChangeArrowheads="1"/>
          </p:cNvPicPr>
          <p:nvPr>
            <p:ph idx="1"/>
          </p:nvPr>
        </p:nvPicPr>
        <p:blipFill>
          <a:blip r:embed="rId2"/>
          <a:stretch>
            <a:fillRect/>
          </a:stretch>
        </p:blipFill>
        <p:spPr bwMode="auto">
          <a:xfrm>
            <a:off x="2292010" y="2286000"/>
            <a:ext cx="4242479" cy="4022725"/>
          </a:xfrm>
          <a:prstGeom prst="rect">
            <a:avLst/>
          </a:prstGeom>
          <a:noFill/>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dirty="0"/>
              <a:t>Counter Mode</a:t>
            </a:r>
            <a:br>
              <a:rPr lang="en-IN" dirty="0"/>
            </a:br>
            <a:endParaRPr lang="en-IN" dirty="0"/>
          </a:p>
        </p:txBody>
      </p:sp>
      <p:sp>
        <p:nvSpPr>
          <p:cNvPr id="3" name="Content Placeholder 2"/>
          <p:cNvSpPr>
            <a:spLocks noGrp="1"/>
          </p:cNvSpPr>
          <p:nvPr>
            <p:ph idx="1"/>
          </p:nvPr>
        </p:nvSpPr>
        <p:spPr/>
        <p:txBody>
          <a:bodyPr>
            <a:normAutofit fontScale="85000" lnSpcReduction="10000"/>
          </a:bodyPr>
          <a:lstStyle/>
          <a:p>
            <a:r>
              <a:rPr lang="en-IN" dirty="0"/>
              <a:t>Counter (CTR) mode has increased recently with applications to ATM (asynchronous transfer mode) network security and IP sec (IP security)</a:t>
            </a:r>
          </a:p>
          <a:p>
            <a:r>
              <a:rPr lang="en-IN" dirty="0"/>
              <a:t>Typically, the counter is initialized to some value and then incremented by 1 for each subsequent block</a:t>
            </a:r>
          </a:p>
          <a:p>
            <a:r>
              <a:rPr lang="en-IN" dirty="0"/>
              <a:t>For encryption, the counter is encrypted and then </a:t>
            </a:r>
            <a:r>
              <a:rPr lang="en-IN" dirty="0" err="1"/>
              <a:t>XORed</a:t>
            </a:r>
            <a:r>
              <a:rPr lang="en-IN" dirty="0"/>
              <a:t> with the plaintext block to produce the </a:t>
            </a:r>
            <a:r>
              <a:rPr lang="en-IN" dirty="0" err="1"/>
              <a:t>ciphertext</a:t>
            </a:r>
            <a:r>
              <a:rPr lang="en-IN" dirty="0"/>
              <a:t> block; there is no chaining. </a:t>
            </a:r>
          </a:p>
          <a:p>
            <a:r>
              <a:rPr lang="en-IN" dirty="0"/>
              <a:t>For decryption, the same sequence of counter values is used, with each encrypted counter </a:t>
            </a:r>
            <a:r>
              <a:rPr lang="en-IN" dirty="0" err="1"/>
              <a:t>XORed</a:t>
            </a:r>
            <a:r>
              <a:rPr lang="en-IN" dirty="0"/>
              <a:t> with a </a:t>
            </a:r>
            <a:r>
              <a:rPr lang="en-IN" dirty="0" err="1"/>
              <a:t>ciphertext</a:t>
            </a:r>
            <a:r>
              <a:rPr lang="en-IN" dirty="0"/>
              <a:t> block to recover the corresponding plaintext block. </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Encryption</a:t>
            </a:r>
            <a:endParaRPr lang="en-IN" dirty="0"/>
          </a:p>
        </p:txBody>
      </p:sp>
      <p:pic>
        <p:nvPicPr>
          <p:cNvPr id="120834" name="Picture 2" descr="http://www.brainkart.com/media/extra/YV4K9zW.jpg"/>
          <p:cNvPicPr>
            <a:picLocks noGrp="1" noChangeAspect="1" noChangeArrowheads="1"/>
          </p:cNvPicPr>
          <p:nvPr>
            <p:ph idx="1"/>
          </p:nvPr>
        </p:nvPicPr>
        <p:blipFill>
          <a:blip r:embed="rId2"/>
          <a:srcRect/>
          <a:stretch>
            <a:fillRect/>
          </a:stretch>
        </p:blipFill>
        <p:spPr bwMode="auto">
          <a:xfrm>
            <a:off x="1285852" y="1928802"/>
            <a:ext cx="7622122" cy="3533794"/>
          </a:xfrm>
          <a:prstGeom prst="rect">
            <a:avLst/>
          </a:prstGeom>
          <a:noFill/>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Decryption</a:t>
            </a:r>
            <a:endParaRPr lang="en-IN" dirty="0"/>
          </a:p>
        </p:txBody>
      </p:sp>
      <p:pic>
        <p:nvPicPr>
          <p:cNvPr id="5" name="Picture 2" descr="http://www.brainkart.com/media/extra/qF1cFYY.jpg"/>
          <p:cNvPicPr>
            <a:picLocks noGrp="1" noChangeAspect="1" noChangeArrowheads="1"/>
          </p:cNvPicPr>
          <p:nvPr>
            <p:ph idx="1"/>
          </p:nvPr>
        </p:nvPicPr>
        <p:blipFill>
          <a:blip r:embed="rId2"/>
          <a:stretch>
            <a:fillRect/>
          </a:stretch>
        </p:blipFill>
        <p:spPr bwMode="auto">
          <a:xfrm>
            <a:off x="1074737" y="2616200"/>
            <a:ext cx="6677025" cy="3362325"/>
          </a:xfrm>
          <a:prstGeom prst="rect">
            <a:avLst/>
          </a:prstGeom>
          <a:noFill/>
        </p:spPr>
      </p:pic>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a:t>
            </a:r>
            <a:endParaRPr lang="en-IN" dirty="0"/>
          </a:p>
        </p:txBody>
      </p:sp>
      <p:sp>
        <p:nvSpPr>
          <p:cNvPr id="3" name="Content Placeholder 2"/>
          <p:cNvSpPr>
            <a:spLocks noGrp="1"/>
          </p:cNvSpPr>
          <p:nvPr>
            <p:ph idx="1"/>
          </p:nvPr>
        </p:nvSpPr>
        <p:spPr/>
        <p:txBody>
          <a:bodyPr>
            <a:normAutofit fontScale="85000" lnSpcReduction="10000"/>
          </a:bodyPr>
          <a:lstStyle/>
          <a:p>
            <a:r>
              <a:rPr lang="en-IN" dirty="0"/>
              <a:t>The most widely used encryption scheme is based on the Data Encryption Standard (DES) adopted in 1977 by the National Bureau of Standards, now the National Institute of Standards and Technology (NIST), as Federal Information Processing Standard 46 (FIPS PUB 46).</a:t>
            </a:r>
          </a:p>
          <a:p>
            <a:r>
              <a:rPr lang="en-IN" dirty="0"/>
              <a:t>The algorithm itself is referred to as the Data Encryption Algorithm (DEA).</a:t>
            </a:r>
          </a:p>
          <a:p>
            <a:r>
              <a:rPr lang="en-IN" dirty="0"/>
              <a:t>For DES, data are encrypted in 64-bit blocks using a 56-bit key. The algorithm transforms 64-bit input in a series of steps into a 64-bit output. </a:t>
            </a:r>
          </a:p>
          <a:p>
            <a:r>
              <a:rPr lang="en-IN" dirty="0"/>
              <a:t>The same steps, with the same key, are used to reverse the encryption.</a:t>
            </a:r>
          </a:p>
        </p:txBody>
      </p:sp>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DES algorithm</a:t>
            </a:r>
            <a:endParaRPr lang="en-IN" dirty="0"/>
          </a:p>
        </p:txBody>
      </p:sp>
      <p:pic>
        <p:nvPicPr>
          <p:cNvPr id="5" name="Picture 2" descr="http://www.brainkart.com/media/extra/ou0Yhej.jpg"/>
          <p:cNvPicPr>
            <a:picLocks noGrp="1" noChangeAspect="1" noChangeArrowheads="1"/>
          </p:cNvPicPr>
          <p:nvPr>
            <p:ph idx="1"/>
          </p:nvPr>
        </p:nvPicPr>
        <p:blipFill>
          <a:blip r:embed="rId2"/>
          <a:srcRect/>
          <a:stretch>
            <a:fillRect/>
          </a:stretch>
        </p:blipFill>
        <p:spPr bwMode="auto">
          <a:xfrm>
            <a:off x="1571604" y="1619250"/>
            <a:ext cx="6572296" cy="5024460"/>
          </a:xfrm>
          <a:prstGeom prst="rect">
            <a:avLst/>
          </a:prstGeom>
          <a:noFill/>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Permutation Table</a:t>
            </a:r>
            <a:endParaRPr lang="en-IN" dirty="0"/>
          </a:p>
        </p:txBody>
      </p:sp>
      <p:pic>
        <p:nvPicPr>
          <p:cNvPr id="6" name="Picture 2" descr="http://www.brainkart.com/media/extra/csRi1xZ.jpg"/>
          <p:cNvPicPr>
            <a:picLocks noGrp="1" noChangeAspect="1" noChangeArrowheads="1"/>
          </p:cNvPicPr>
          <p:nvPr>
            <p:ph idx="1"/>
          </p:nvPr>
        </p:nvPicPr>
        <p:blipFill>
          <a:blip r:embed="rId2"/>
          <a:stretch>
            <a:fillRect/>
          </a:stretch>
        </p:blipFill>
        <p:spPr bwMode="auto">
          <a:xfrm>
            <a:off x="2230131" y="2286000"/>
            <a:ext cx="4366238" cy="4022725"/>
          </a:xfrm>
          <a:prstGeom prst="rect">
            <a:avLst/>
          </a:prstGeom>
          <a:noFill/>
        </p:spPr>
      </p:pic>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Permutation Table</a:t>
            </a:r>
            <a:endParaRPr lang="en-IN" dirty="0"/>
          </a:p>
        </p:txBody>
      </p:sp>
      <p:pic>
        <p:nvPicPr>
          <p:cNvPr id="5" name="Picture 2" descr="http://www.brainkart.com/media/extra/H2og855.jpg"/>
          <p:cNvPicPr>
            <a:picLocks noGrp="1" noChangeAspect="1" noChangeArrowheads="1"/>
          </p:cNvPicPr>
          <p:nvPr>
            <p:ph idx="1"/>
          </p:nvPr>
        </p:nvPicPr>
        <p:blipFill>
          <a:blip r:embed="rId2"/>
          <a:stretch>
            <a:fillRect/>
          </a:stretch>
        </p:blipFill>
        <p:spPr bwMode="auto">
          <a:xfrm>
            <a:off x="2084387" y="2635250"/>
            <a:ext cx="4657725" cy="3324225"/>
          </a:xfrm>
          <a:prstGeom prst="rect">
            <a:avLst/>
          </a:prstGeom>
          <a:noFill/>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Single Round of DES</a:t>
            </a:r>
            <a:endParaRPr lang="en-IN" dirty="0"/>
          </a:p>
        </p:txBody>
      </p:sp>
      <p:pic>
        <p:nvPicPr>
          <p:cNvPr id="5" name="Picture 2" descr="http://www.brainkart.com/media/extra/BsM33Rk.jpg"/>
          <p:cNvPicPr>
            <a:picLocks noGrp="1" noChangeAspect="1" noChangeArrowheads="1"/>
          </p:cNvPicPr>
          <p:nvPr>
            <p:ph idx="1"/>
          </p:nvPr>
        </p:nvPicPr>
        <p:blipFill>
          <a:blip r:embed="rId2"/>
          <a:srcRect/>
          <a:stretch>
            <a:fillRect/>
          </a:stretch>
        </p:blipFill>
        <p:spPr bwMode="auto">
          <a:xfrm>
            <a:off x="1714480" y="1794510"/>
            <a:ext cx="6500858" cy="4563448"/>
          </a:xfrm>
          <a:prstGeom prst="rect">
            <a:avLst/>
          </a:prstGeom>
          <a:noFill/>
        </p:spPr>
      </p:pic>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S-Boxes</a:t>
            </a:r>
            <a:endParaRPr lang="en-IN" dirty="0"/>
          </a:p>
        </p:txBody>
      </p:sp>
      <p:pic>
        <p:nvPicPr>
          <p:cNvPr id="5" name="Picture 2" descr="http://www.brainkart.com/media/extra/YE2ZgG2.jpg"/>
          <p:cNvPicPr>
            <a:picLocks noGrp="1" noChangeAspect="1" noChangeArrowheads="1"/>
          </p:cNvPicPr>
          <p:nvPr>
            <p:ph idx="1"/>
          </p:nvPr>
        </p:nvPicPr>
        <p:blipFill>
          <a:blip r:embed="rId2"/>
          <a:srcRect/>
          <a:stretch>
            <a:fillRect/>
          </a:stretch>
        </p:blipFill>
        <p:spPr bwMode="auto">
          <a:xfrm>
            <a:off x="1785918" y="1428736"/>
            <a:ext cx="6286544" cy="4888230"/>
          </a:xfrm>
          <a:prstGeom prst="rect">
            <a:avLst/>
          </a:prstGeom>
          <a:noFill/>
        </p:spPr>
      </p:pic>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DES S-Boxes</a:t>
            </a:r>
            <a:endParaRPr lang="en-IN" dirty="0"/>
          </a:p>
        </p:txBody>
      </p:sp>
      <p:pic>
        <p:nvPicPr>
          <p:cNvPr id="5" name="Picture 2" descr="http://www.brainkart.com/media/extra/x6FMxAp.jpg"/>
          <p:cNvPicPr>
            <a:picLocks noGrp="1" noChangeAspect="1" noChangeArrowheads="1"/>
          </p:cNvPicPr>
          <p:nvPr>
            <p:ph idx="1"/>
          </p:nvPr>
        </p:nvPicPr>
        <p:blipFill>
          <a:blip r:embed="rId2"/>
          <a:srcRect/>
          <a:stretch>
            <a:fillRect/>
          </a:stretch>
        </p:blipFill>
        <p:spPr bwMode="auto">
          <a:xfrm>
            <a:off x="1428728" y="2030730"/>
            <a:ext cx="6858048" cy="4470104"/>
          </a:xfrm>
          <a:prstGeom prst="rect">
            <a:avLst/>
          </a:prstGeom>
          <a:noFill/>
        </p:spPr>
      </p:pic>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AES STRUCTURE</a:t>
            </a:r>
            <a:endParaRPr lang="en-IN" dirty="0"/>
          </a:p>
        </p:txBody>
      </p:sp>
      <p:sp>
        <p:nvSpPr>
          <p:cNvPr id="3" name="Content Placeholder 2"/>
          <p:cNvSpPr>
            <a:spLocks noGrp="1"/>
          </p:cNvSpPr>
          <p:nvPr>
            <p:ph idx="1"/>
          </p:nvPr>
        </p:nvSpPr>
        <p:spPr/>
        <p:txBody>
          <a:bodyPr>
            <a:normAutofit/>
          </a:bodyPr>
          <a:lstStyle/>
          <a:p>
            <a:r>
              <a:rPr lang="en-IN" dirty="0"/>
              <a:t>The cipher takes a plaintext block size of 128 bits, or 16 bytes. The key length can be 16, 24, or 32 bytes (128, 192, or 256 bits). The algorithm is referred to as AES-128, AES-192, or AES-256, depending on the key length.</a:t>
            </a:r>
          </a:p>
          <a:p>
            <a:r>
              <a:rPr lang="en-IN" dirty="0"/>
              <a:t>The cipher consists of </a:t>
            </a:r>
            <a:r>
              <a:rPr lang="en-IN" i="1" dirty="0"/>
              <a:t>N </a:t>
            </a:r>
            <a:r>
              <a:rPr lang="en-IN" dirty="0"/>
              <a:t>rounds, where the number of rounds depends on the key length: 10 rounds for a 16-byte key, 12 rounds for a 24-byte key, and 14 rounds for a 32-byte key</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AES Encryption and Decryption</a:t>
            </a:r>
            <a:endParaRPr lang="en-IN" dirty="0"/>
          </a:p>
        </p:txBody>
      </p:sp>
      <p:pic>
        <p:nvPicPr>
          <p:cNvPr id="5" name="Picture 2" descr="http://www.brainkart.com/media/extra/QRvrZFg.jpg"/>
          <p:cNvPicPr>
            <a:picLocks noGrp="1" noChangeAspect="1" noChangeArrowheads="1"/>
          </p:cNvPicPr>
          <p:nvPr>
            <p:ph idx="1"/>
          </p:nvPr>
        </p:nvPicPr>
        <p:blipFill>
          <a:blip r:embed="rId2"/>
          <a:srcRect/>
          <a:stretch>
            <a:fillRect/>
          </a:stretch>
        </p:blipFill>
        <p:spPr bwMode="auto">
          <a:xfrm>
            <a:off x="928662" y="1447800"/>
            <a:ext cx="8215337" cy="5410200"/>
          </a:xfrm>
          <a:prstGeom prst="rect">
            <a:avLst/>
          </a:prstGeom>
          <a:noFill/>
        </p:spPr>
      </p:pic>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S-Box Substitution</a:t>
            </a:r>
            <a:endParaRPr lang="en-IN" dirty="0"/>
          </a:p>
        </p:txBody>
      </p:sp>
      <p:pic>
        <p:nvPicPr>
          <p:cNvPr id="92163" name="Picture 3"/>
          <p:cNvPicPr>
            <a:picLocks noGrp="1" noChangeAspect="1" noChangeArrowheads="1"/>
          </p:cNvPicPr>
          <p:nvPr>
            <p:ph idx="1"/>
          </p:nvPr>
        </p:nvPicPr>
        <p:blipFill>
          <a:blip r:embed="rId2"/>
          <a:stretch>
            <a:fillRect/>
          </a:stretch>
        </p:blipFill>
        <p:spPr bwMode="auto">
          <a:xfrm>
            <a:off x="1760584" y="2286000"/>
            <a:ext cx="5305332" cy="4022725"/>
          </a:xfrm>
          <a:prstGeom prst="rect">
            <a:avLst/>
          </a:prstGeom>
          <a:noFill/>
          <a:ln w="9525">
            <a:noFill/>
            <a:miter lim="800000"/>
            <a:headEnd/>
            <a:tailEnd/>
          </a:ln>
          <a:effectLst/>
        </p:spPr>
      </p:pic>
      <p:sp>
        <p:nvSpPr>
          <p:cNvPr id="92162" name="AutoShape 2" descr="https://miro.medium.com/max/1073/1*xR41vSGyDOH-awpIl-FOIw.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Shift Rows</a:t>
            </a:r>
            <a:endParaRPr lang="en-IN" dirty="0"/>
          </a:p>
        </p:txBody>
      </p:sp>
      <p:pic>
        <p:nvPicPr>
          <p:cNvPr id="93187" name="Picture 3"/>
          <p:cNvPicPr>
            <a:picLocks noGrp="1" noChangeAspect="1" noChangeArrowheads="1"/>
          </p:cNvPicPr>
          <p:nvPr>
            <p:ph idx="1"/>
          </p:nvPr>
        </p:nvPicPr>
        <p:blipFill>
          <a:blip r:embed="rId2"/>
          <a:srcRect/>
          <a:stretch>
            <a:fillRect/>
          </a:stretch>
        </p:blipFill>
        <p:spPr bwMode="auto">
          <a:xfrm>
            <a:off x="2214546" y="2571744"/>
            <a:ext cx="5346719" cy="2219393"/>
          </a:xfrm>
          <a:prstGeom prst="rect">
            <a:avLst/>
          </a:prstGeom>
          <a:noFill/>
          <a:ln w="9525">
            <a:noFill/>
            <a:miter lim="800000"/>
            <a:headEnd/>
            <a:tailEnd/>
          </a:ln>
          <a:effectLst/>
        </p:spPr>
      </p:pic>
      <p:sp>
        <p:nvSpPr>
          <p:cNvPr id="93186" name="AutoShape 2" descr="https://miro.medium.com/max/4245/1*QOseEP4FpmeqYKltRnO4WA.png"/>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Mix Columns and Add Round Key</a:t>
            </a:r>
            <a:endParaRPr lang="en-IN" dirty="0"/>
          </a:p>
        </p:txBody>
      </p:sp>
      <p:pic>
        <p:nvPicPr>
          <p:cNvPr id="94210" name="Picture 2"/>
          <p:cNvPicPr>
            <a:picLocks noGrp="1" noChangeAspect="1" noChangeArrowheads="1"/>
          </p:cNvPicPr>
          <p:nvPr>
            <p:ph idx="1"/>
          </p:nvPr>
        </p:nvPicPr>
        <p:blipFill>
          <a:blip r:embed="rId2"/>
          <a:srcRect/>
          <a:stretch>
            <a:fillRect/>
          </a:stretch>
        </p:blipFill>
        <p:spPr bwMode="auto">
          <a:xfrm>
            <a:off x="1357290" y="2143116"/>
            <a:ext cx="7053024" cy="3143272"/>
          </a:xfrm>
          <a:prstGeom prst="rect">
            <a:avLst/>
          </a:prstGeom>
          <a:noFill/>
          <a:ln w="9525">
            <a:noFill/>
            <a:miter lim="800000"/>
            <a:headEnd/>
            <a:tailEnd/>
          </a:ln>
          <a:effectLst/>
        </p:spPr>
      </p:pic>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Triple DES or 3DES</a:t>
            </a:r>
            <a:endParaRPr lang="en-IN" dirty="0"/>
          </a:p>
        </p:txBody>
      </p:sp>
      <p:sp>
        <p:nvSpPr>
          <p:cNvPr id="3" name="Content Placeholder 2"/>
          <p:cNvSpPr>
            <a:spLocks noGrp="1"/>
          </p:cNvSpPr>
          <p:nvPr>
            <p:ph idx="1"/>
          </p:nvPr>
        </p:nvSpPr>
        <p:spPr/>
        <p:txBody>
          <a:bodyPr/>
          <a:lstStyle/>
          <a:p>
            <a:r>
              <a:rPr lang="en-IN" dirty="0"/>
              <a:t>3DES uses 48 rounds in its computation, which makes it highly resistant to differential cryptanalysis. However, because of the extra work 3DES performs, there is a heavy performance hit. It can take up to three times longer than DES to perform encryption and decryption.</a:t>
            </a:r>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Modes of 3DES</a:t>
            </a:r>
            <a:endParaRPr lang="en-IN" dirty="0"/>
          </a:p>
        </p:txBody>
      </p:sp>
      <p:sp>
        <p:nvSpPr>
          <p:cNvPr id="3" name="Content Placeholder 2"/>
          <p:cNvSpPr>
            <a:spLocks noGrp="1"/>
          </p:cNvSpPr>
          <p:nvPr>
            <p:ph idx="1"/>
          </p:nvPr>
        </p:nvSpPr>
        <p:spPr/>
        <p:txBody>
          <a:bodyPr>
            <a:normAutofit fontScale="92500" lnSpcReduction="10000"/>
          </a:bodyPr>
          <a:lstStyle/>
          <a:p>
            <a:r>
              <a:rPr lang="en-IN" dirty="0"/>
              <a:t> </a:t>
            </a:r>
            <a:r>
              <a:rPr lang="en-IN" b="1" dirty="0"/>
              <a:t>DES-EEE3 </a:t>
            </a:r>
            <a:r>
              <a:rPr lang="en-IN" dirty="0"/>
              <a:t>Uses three different keys for encryption, and the data are encrypted, encrypted, encrypted.</a:t>
            </a:r>
          </a:p>
          <a:p>
            <a:r>
              <a:rPr lang="en-IN" dirty="0"/>
              <a:t> </a:t>
            </a:r>
            <a:r>
              <a:rPr lang="en-IN" b="1" dirty="0"/>
              <a:t>DES-EDE3 </a:t>
            </a:r>
            <a:r>
              <a:rPr lang="en-IN" dirty="0"/>
              <a:t>Uses three different keys for encryption, and the data are encrypted, decrypted, and encrypted.</a:t>
            </a:r>
          </a:p>
          <a:p>
            <a:r>
              <a:rPr lang="en-IN" dirty="0"/>
              <a:t> </a:t>
            </a:r>
            <a:r>
              <a:rPr lang="en-IN" b="1" dirty="0"/>
              <a:t>DES-EEE2 </a:t>
            </a:r>
            <a:r>
              <a:rPr lang="en-IN" dirty="0"/>
              <a:t>The same as DES-EEE3 but uses only two keys, and the first and third encryption processes use the same key.</a:t>
            </a:r>
          </a:p>
          <a:p>
            <a:r>
              <a:rPr lang="en-IN" dirty="0"/>
              <a:t> </a:t>
            </a:r>
            <a:r>
              <a:rPr lang="en-IN" b="1" dirty="0"/>
              <a:t>DES-EDE2 </a:t>
            </a:r>
            <a:r>
              <a:rPr lang="en-IN" dirty="0"/>
              <a:t>The same as DES-EDE3 but uses only two keys, and the first and third encryption processes use the same key.</a:t>
            </a:r>
          </a:p>
          <a:p>
            <a:endParaRPr lang="en-IN"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EDE</a:t>
            </a:r>
            <a:endParaRPr lang="en-IN" dirty="0"/>
          </a:p>
        </p:txBody>
      </p:sp>
      <p:sp>
        <p:nvSpPr>
          <p:cNvPr id="3" name="Content Placeholder 2"/>
          <p:cNvSpPr>
            <a:spLocks noGrp="1"/>
          </p:cNvSpPr>
          <p:nvPr>
            <p:ph idx="1"/>
          </p:nvPr>
        </p:nvSpPr>
        <p:spPr/>
        <p:txBody>
          <a:bodyPr>
            <a:normAutofit/>
          </a:bodyPr>
          <a:lstStyle/>
          <a:p>
            <a:r>
              <a:rPr lang="en-IN" dirty="0"/>
              <a:t>How much protection could be provided by encrypting something, decrypting it, and encrypting it again? </a:t>
            </a:r>
          </a:p>
          <a:p>
            <a:r>
              <a:rPr lang="en-IN" dirty="0"/>
              <a:t>The decrypting portion here is decrypted with a different key. When data are encrypted with one symmetric key and decrypted with a different symmetric key, it is jumbled even more. So the data are not actually decrypted in the middle function, they are just run through a decryption process with a different key.</a:t>
            </a:r>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b="1" dirty="0"/>
              <a:t>PKI </a:t>
            </a:r>
            <a:endParaRPr lang="en-IN" dirty="0"/>
          </a:p>
        </p:txBody>
      </p:sp>
      <p:sp>
        <p:nvSpPr>
          <p:cNvPr id="3" name="Content Placeholder 2"/>
          <p:cNvSpPr>
            <a:spLocks noGrp="1"/>
          </p:cNvSpPr>
          <p:nvPr>
            <p:ph idx="1"/>
          </p:nvPr>
        </p:nvSpPr>
        <p:spPr/>
        <p:txBody>
          <a:bodyPr>
            <a:normAutofit lnSpcReduction="10000"/>
          </a:bodyPr>
          <a:lstStyle/>
          <a:p>
            <a:r>
              <a:rPr lang="en-IN" dirty="0"/>
              <a:t>PKI (or Public Key Infrastructure) is the framework of encryption and cyber security that protects communications between the server (your website) and the client (the users). </a:t>
            </a:r>
          </a:p>
          <a:p>
            <a:r>
              <a:rPr lang="en-IN" dirty="0"/>
              <a:t>It works by using two different cryptographic keys: a public key and a private key. </a:t>
            </a:r>
          </a:p>
          <a:p>
            <a:r>
              <a:rPr lang="en-IN" dirty="0"/>
              <a:t>When communicating, the client uses the public key to encrypt and decrypt, and the server uses the private key. This protects the user’s information from theft or tampering.</a:t>
            </a:r>
          </a:p>
        </p:txBody>
      </p:sp>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Elements of PKI</a:t>
            </a:r>
            <a:endParaRPr lang="en-IN" dirty="0"/>
          </a:p>
        </p:txBody>
      </p:sp>
      <p:sp>
        <p:nvSpPr>
          <p:cNvPr id="3" name="Content Placeholder 2"/>
          <p:cNvSpPr>
            <a:spLocks noGrp="1"/>
          </p:cNvSpPr>
          <p:nvPr>
            <p:ph idx="1"/>
          </p:nvPr>
        </p:nvSpPr>
        <p:spPr/>
        <p:txBody>
          <a:bodyPr/>
          <a:lstStyle/>
          <a:p>
            <a:r>
              <a:rPr lang="en-IN" dirty="0"/>
              <a:t>A </a:t>
            </a:r>
            <a:r>
              <a:rPr lang="en-IN" i="1" dirty="0"/>
              <a:t>certificate authority</a:t>
            </a:r>
            <a:r>
              <a:rPr lang="en-IN" dirty="0"/>
              <a:t> (CA) that stores, issues and signs the digital certificates;</a:t>
            </a:r>
          </a:p>
          <a:p>
            <a:r>
              <a:rPr lang="en-IN" dirty="0"/>
              <a:t>A </a:t>
            </a:r>
            <a:r>
              <a:rPr lang="en-IN" i="1" dirty="0"/>
              <a:t>registration authority</a:t>
            </a:r>
            <a:r>
              <a:rPr lang="en-IN" dirty="0"/>
              <a:t> (RA) which verifies the identity of entities requesting their digital certificates to be stored at the CA;</a:t>
            </a:r>
          </a:p>
          <a:p>
            <a:r>
              <a:rPr lang="en-IN" dirty="0"/>
              <a:t>A </a:t>
            </a:r>
            <a:r>
              <a:rPr lang="en-IN" i="1" dirty="0"/>
              <a:t>central directory</a:t>
            </a:r>
            <a:r>
              <a:rPr lang="en-IN" dirty="0"/>
              <a:t>—i.e., a secure location in which keys are stored and indexed;</a:t>
            </a:r>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Certificate</a:t>
            </a:r>
            <a:endParaRPr lang="en-IN" dirty="0"/>
          </a:p>
        </p:txBody>
      </p:sp>
      <p:sp>
        <p:nvSpPr>
          <p:cNvPr id="3" name="Content Placeholder 2"/>
          <p:cNvSpPr>
            <a:spLocks noGrp="1"/>
          </p:cNvSpPr>
          <p:nvPr>
            <p:ph idx="1"/>
          </p:nvPr>
        </p:nvSpPr>
        <p:spPr/>
        <p:txBody>
          <a:bodyPr/>
          <a:lstStyle/>
          <a:p>
            <a:r>
              <a:rPr lang="en-IN" dirty="0"/>
              <a:t>A digital certificate is like a drivers license—it’s a form of electronic identification for websites and organizations. Secure connections between two communicating machines are made available through PKI because the identities of the two parties can be verified by way of certificates.</a:t>
            </a: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SSL and PKI</a:t>
            </a:r>
            <a:endParaRPr lang="en-IN" dirty="0"/>
          </a:p>
        </p:txBody>
      </p:sp>
      <p:sp>
        <p:nvSpPr>
          <p:cNvPr id="3" name="Content Placeholder 2"/>
          <p:cNvSpPr>
            <a:spLocks noGrp="1"/>
          </p:cNvSpPr>
          <p:nvPr>
            <p:ph idx="1"/>
          </p:nvPr>
        </p:nvSpPr>
        <p:spPr/>
        <p:txBody>
          <a:bodyPr>
            <a:normAutofit/>
          </a:bodyPr>
          <a:lstStyle/>
          <a:p>
            <a:r>
              <a:rPr lang="en-IN" dirty="0"/>
              <a:t>SSL (Secure Sockets Layer) Cryptography relies heavily on PKI security to encrypt and decrypt a public key exchange using both symmetric and asymmetric encryption. </a:t>
            </a:r>
          </a:p>
          <a:p>
            <a:endParaRPr lang="en-IN" dirty="0"/>
          </a:p>
        </p:txBody>
      </p:sp>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Working of PKI with SSL</a:t>
            </a:r>
            <a:endParaRPr lang="en-IN" dirty="0"/>
          </a:p>
        </p:txBody>
      </p:sp>
      <p:sp>
        <p:nvSpPr>
          <p:cNvPr id="3" name="Content Placeholder 2"/>
          <p:cNvSpPr>
            <a:spLocks noGrp="1"/>
          </p:cNvSpPr>
          <p:nvPr>
            <p:ph idx="1"/>
          </p:nvPr>
        </p:nvSpPr>
        <p:spPr/>
        <p:txBody>
          <a:bodyPr/>
          <a:lstStyle/>
          <a:p>
            <a:r>
              <a:rPr lang="en-IN" dirty="0"/>
              <a:t>First, the web server sends a copy of its unique asymmetric public key to the web browser.</a:t>
            </a:r>
          </a:p>
          <a:p>
            <a:r>
              <a:rPr lang="en-IN" dirty="0"/>
              <a:t>The browser responds by generating a symmetric session key and encrypting it with the asymmetric public key that was received by the server.</a:t>
            </a:r>
          </a:p>
          <a:p>
            <a:r>
              <a:rPr lang="en-IN" dirty="0"/>
              <a:t>In order to decrypt and utilize the session key, the web server uses the original unique asymmetric private key.</a:t>
            </a:r>
          </a:p>
          <a:p>
            <a:endParaRPr lang="en-IN" dirty="0"/>
          </a:p>
        </p:txBody>
      </p:sp>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Certificate Revocation List</a:t>
            </a:r>
            <a:endParaRPr lang="en-IN" dirty="0"/>
          </a:p>
        </p:txBody>
      </p:sp>
      <p:sp>
        <p:nvSpPr>
          <p:cNvPr id="3" name="Content Placeholder 2"/>
          <p:cNvSpPr>
            <a:spLocks noGrp="1"/>
          </p:cNvSpPr>
          <p:nvPr>
            <p:ph idx="1"/>
          </p:nvPr>
        </p:nvSpPr>
        <p:spPr/>
        <p:txBody>
          <a:bodyPr/>
          <a:lstStyle/>
          <a:p>
            <a:r>
              <a:rPr lang="en-IN" dirty="0"/>
              <a:t>A certificate revocation list, or CRL for short, is a list of certificates that have been revoked before their expiration date by certificate authorities. </a:t>
            </a:r>
          </a:p>
          <a:p>
            <a:r>
              <a:rPr lang="en-IN" dirty="0"/>
              <a:t>the main idea here is to provide a central location for web clients such as browsers to check whether or not a site's SSL/TLS certificate is trustworthy.</a:t>
            </a:r>
          </a:p>
          <a:p>
            <a:endParaRPr lang="en-IN"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Reasons</a:t>
            </a:r>
            <a:endParaRPr lang="en-IN" dirty="0"/>
          </a:p>
        </p:txBody>
      </p:sp>
      <p:sp>
        <p:nvSpPr>
          <p:cNvPr id="3" name="Content Placeholder 2"/>
          <p:cNvSpPr>
            <a:spLocks noGrp="1"/>
          </p:cNvSpPr>
          <p:nvPr>
            <p:ph idx="1"/>
          </p:nvPr>
        </p:nvSpPr>
        <p:spPr/>
        <p:txBody>
          <a:bodyPr/>
          <a:lstStyle/>
          <a:p>
            <a:r>
              <a:rPr lang="en-IN" dirty="0"/>
              <a:t>The private key has been lost or compromised, therefore it can no longer be trusted</a:t>
            </a:r>
          </a:p>
          <a:p>
            <a:r>
              <a:rPr lang="en-IN" dirty="0"/>
              <a:t>The previous owner of a domain no longer owns that domain or ceases operations entirely</a:t>
            </a:r>
          </a:p>
          <a:p>
            <a:r>
              <a:rPr lang="en-IN" dirty="0"/>
              <a:t>The certificate was discovered to be counterfeit</a:t>
            </a:r>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pic>
        <p:nvPicPr>
          <p:cNvPr id="5" name="Picture 2" descr="https://i.ytimg.com/vi/xSUMEer6J_E/maxresdefault.jpg"/>
          <p:cNvPicPr>
            <a:picLocks noGrp="1" noChangeAspect="1" noChangeArrowheads="1"/>
          </p:cNvPicPr>
          <p:nvPr>
            <p:ph idx="1"/>
          </p:nvPr>
        </p:nvPicPr>
        <p:blipFill>
          <a:blip r:embed="rId2"/>
          <a:srcRect b="9291"/>
          <a:stretch>
            <a:fillRect/>
          </a:stretch>
        </p:blipFill>
        <p:spPr bwMode="auto">
          <a:xfrm>
            <a:off x="1" y="0"/>
            <a:ext cx="9144000" cy="6858000"/>
          </a:xfrm>
          <a:prstGeom prst="rect">
            <a:avLst/>
          </a:prstGeom>
          <a:noFill/>
        </p:spPr>
      </p:pic>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Hash function</a:t>
            </a:r>
            <a:endParaRPr lang="en-IN" dirty="0"/>
          </a:p>
        </p:txBody>
      </p:sp>
      <p:sp>
        <p:nvSpPr>
          <p:cNvPr id="3" name="Content Placeholder 2"/>
          <p:cNvSpPr>
            <a:spLocks noGrp="1"/>
          </p:cNvSpPr>
          <p:nvPr>
            <p:ph idx="1"/>
          </p:nvPr>
        </p:nvSpPr>
        <p:spPr/>
        <p:txBody>
          <a:bodyPr/>
          <a:lstStyle/>
          <a:p>
            <a:r>
              <a:rPr lang="en-IN" dirty="0"/>
              <a:t>A </a:t>
            </a:r>
            <a:r>
              <a:rPr lang="en-IN" b="1" dirty="0"/>
              <a:t>hash function </a:t>
            </a:r>
            <a:r>
              <a:rPr lang="en-IN" dirty="0"/>
              <a:t>H accepts a variable-length block of data </a:t>
            </a:r>
            <a:r>
              <a:rPr lang="en-IN" i="1" dirty="0"/>
              <a:t>M </a:t>
            </a:r>
            <a:r>
              <a:rPr lang="en-IN" dirty="0"/>
              <a:t>as input and produces a fixed-size hash value </a:t>
            </a:r>
            <a:r>
              <a:rPr lang="en-IN" i="1" dirty="0"/>
              <a:t>h </a:t>
            </a:r>
            <a:r>
              <a:rPr lang="en-IN" dirty="0"/>
              <a:t>= H(</a:t>
            </a:r>
            <a:r>
              <a:rPr lang="en-IN" i="1" dirty="0"/>
              <a:t>M</a:t>
            </a:r>
            <a:r>
              <a:rPr lang="en-IN" dirty="0"/>
              <a:t>).</a:t>
            </a:r>
          </a:p>
          <a:p>
            <a:r>
              <a:rPr lang="en-US" dirty="0"/>
              <a:t>Some of the hashing algorithms are SHA, MD5</a:t>
            </a:r>
            <a:endParaRPr lang="en-IN" dirty="0"/>
          </a:p>
        </p:txBody>
      </p:sp>
      <p:pic>
        <p:nvPicPr>
          <p:cNvPr id="5" name="Picture 2" descr="http://www.brainkart.com/media/extra/bKgzNGt.jpg"/>
          <p:cNvPicPr>
            <a:picLocks noChangeAspect="1" noChangeArrowheads="1"/>
          </p:cNvPicPr>
          <p:nvPr/>
        </p:nvPicPr>
        <p:blipFill>
          <a:blip r:embed="rId2"/>
          <a:srcRect/>
          <a:stretch>
            <a:fillRect/>
          </a:stretch>
        </p:blipFill>
        <p:spPr bwMode="auto">
          <a:xfrm>
            <a:off x="5000596" y="3643314"/>
            <a:ext cx="4143404" cy="3214686"/>
          </a:xfrm>
          <a:prstGeom prst="rect">
            <a:avLst/>
          </a:prstGeom>
          <a:noFill/>
        </p:spPr>
      </p:pic>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Digital Signature</a:t>
            </a:r>
            <a:endParaRPr lang="en-IN" dirty="0"/>
          </a:p>
        </p:txBody>
      </p:sp>
      <p:sp>
        <p:nvSpPr>
          <p:cNvPr id="3" name="Content Placeholder 2"/>
          <p:cNvSpPr>
            <a:spLocks noGrp="1"/>
          </p:cNvSpPr>
          <p:nvPr>
            <p:ph idx="1"/>
          </p:nvPr>
        </p:nvSpPr>
        <p:spPr/>
        <p:txBody>
          <a:bodyPr/>
          <a:lstStyle/>
          <a:p>
            <a:r>
              <a:rPr lang="en-IN" dirty="0"/>
              <a:t>A digital signature is an authentication mechanism that enables the creator of a message to attach a code that acts as a signature. Typically the signature is formed by taking the hash of the message and encrypting the message with the creator’s private key. The signature guarantees the source and integrity of the message.</a:t>
            </a:r>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Process</a:t>
            </a:r>
            <a:endParaRPr lang="en-IN" dirty="0"/>
          </a:p>
        </p:txBody>
      </p:sp>
      <p:pic>
        <p:nvPicPr>
          <p:cNvPr id="10" name="Picture 4" descr="http://www.brainkart.com/media/extra/TIPllkC.jpg"/>
          <p:cNvPicPr>
            <a:picLocks noGrp="1" noChangeAspect="1" noChangeArrowheads="1"/>
          </p:cNvPicPr>
          <p:nvPr>
            <p:ph idx="1"/>
          </p:nvPr>
        </p:nvPicPr>
        <p:blipFill>
          <a:blip r:embed="rId3"/>
          <a:srcRect/>
          <a:stretch>
            <a:fillRect/>
          </a:stretch>
        </p:blipFill>
        <p:spPr bwMode="auto">
          <a:xfrm>
            <a:off x="1571604" y="1535430"/>
            <a:ext cx="6858048" cy="4625340"/>
          </a:xfrm>
          <a:prstGeom prst="rect">
            <a:avLst/>
          </a:prstGeom>
          <a:noFill/>
        </p:spPr>
      </p:pic>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Salting</a:t>
            </a:r>
            <a:endParaRPr lang="en-IN" dirty="0"/>
          </a:p>
        </p:txBody>
      </p:sp>
      <p:pic>
        <p:nvPicPr>
          <p:cNvPr id="5" name="Picture 2" descr="Example showing how using a salt with hashing produces unique hashes."/>
          <p:cNvPicPr>
            <a:picLocks noGrp="1" noChangeAspect="1" noChangeArrowheads="1"/>
          </p:cNvPicPr>
          <p:nvPr>
            <p:ph idx="1"/>
          </p:nvPr>
        </p:nvPicPr>
        <p:blipFill>
          <a:blip r:embed="rId2"/>
          <a:stretch>
            <a:fillRect/>
          </a:stretch>
        </p:blipFill>
        <p:spPr bwMode="auto">
          <a:xfrm>
            <a:off x="768350" y="2657157"/>
            <a:ext cx="7289800" cy="3280410"/>
          </a:xfrm>
          <a:prstGeom prst="rect">
            <a:avLst/>
          </a:prstGeom>
          <a:noFill/>
        </p:spPr>
      </p:pic>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35608" y="642918"/>
            <a:ext cx="7498080" cy="5605482"/>
          </a:xfrm>
        </p:spPr>
        <p:txBody>
          <a:bodyPr>
            <a:normAutofit/>
          </a:bodyPr>
          <a:lstStyle/>
          <a:p>
            <a:r>
              <a:rPr lang="en-IN" dirty="0"/>
              <a:t>A cryptographic salt is made up of random bits added to each password instance before its hashing.</a:t>
            </a:r>
          </a:p>
          <a:p>
            <a:r>
              <a:rPr lang="en-IN" dirty="0"/>
              <a:t>Salts create unique passwords even in the instance of two users choosing the same passwords.</a:t>
            </a:r>
          </a:p>
          <a:p>
            <a:r>
              <a:rPr lang="en-IN" dirty="0"/>
              <a:t>Salts help us mitigate rainbow table attacks by forcing attackers to re-compute them using the salts.</a:t>
            </a:r>
          </a:p>
          <a:p>
            <a:r>
              <a:rPr lang="en-IN" dirty="0"/>
              <a:t>Creating cryptographically strong random data to use as salts is very complex and it's a job better left to leading security solutions and providers</a:t>
            </a:r>
          </a:p>
          <a:p>
            <a:endParaRPr lang="en-IN"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IDEA</a:t>
            </a:r>
            <a:endParaRPr lang="en-IN" dirty="0"/>
          </a:p>
        </p:txBody>
      </p:sp>
      <p:sp>
        <p:nvSpPr>
          <p:cNvPr id="3" name="Content Placeholder 2"/>
          <p:cNvSpPr>
            <a:spLocks noGrp="1"/>
          </p:cNvSpPr>
          <p:nvPr>
            <p:ph idx="1"/>
          </p:nvPr>
        </p:nvSpPr>
        <p:spPr/>
        <p:txBody>
          <a:bodyPr/>
          <a:lstStyle/>
          <a:p>
            <a:r>
              <a:rPr lang="en-IN" dirty="0"/>
              <a:t>IDEA (International Data Encryption Algorithm) is an encryption algorithm. It is a symmetric block cipher which takes 64 bit as a input, 128-bit key and performs 8 identical rounds for encryption in which 6 different </a:t>
            </a:r>
            <a:r>
              <a:rPr lang="en-IN" dirty="0" err="1"/>
              <a:t>subkeys</a:t>
            </a:r>
            <a:r>
              <a:rPr lang="en-IN" dirty="0"/>
              <a:t> are used and four keys are used for output transformation.</a:t>
            </a:r>
          </a:p>
        </p:txBody>
      </p:sp>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IDEA</a:t>
            </a:r>
            <a:endParaRPr lang="en-IN" dirty="0"/>
          </a:p>
        </p:txBody>
      </p:sp>
      <p:pic>
        <p:nvPicPr>
          <p:cNvPr id="149507" name="Picture 3" descr="C:\Users\VISHNU\Downloads\IDEA-Algorithm1.jpg"/>
          <p:cNvPicPr>
            <a:picLocks noGrp="1" noChangeAspect="1" noChangeArrowheads="1"/>
          </p:cNvPicPr>
          <p:nvPr>
            <p:ph idx="1"/>
          </p:nvPr>
        </p:nvPicPr>
        <p:blipFill>
          <a:blip r:embed="rId2"/>
          <a:srcRect/>
          <a:stretch>
            <a:fillRect/>
          </a:stretch>
        </p:blipFill>
        <p:spPr bwMode="auto">
          <a:xfrm>
            <a:off x="1714480" y="1447800"/>
            <a:ext cx="6429420" cy="5410200"/>
          </a:xfrm>
          <a:prstGeom prst="rect">
            <a:avLst/>
          </a:prstGeom>
          <a:noFill/>
        </p:spPr>
      </p:pic>
      <p:sp>
        <p:nvSpPr>
          <p:cNvPr id="149506" name="AutoShape 2" descr="IDEA Algorithm - 64-bit input plain text block"/>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Steps in one Round</a:t>
            </a:r>
            <a:endParaRPr lang="en-IN" dirty="0"/>
          </a:p>
        </p:txBody>
      </p:sp>
      <p:pic>
        <p:nvPicPr>
          <p:cNvPr id="152578" name="Picture 2" descr="C:\Users\VISHNU\Downloads\IDEA-Algorithm2.jpg"/>
          <p:cNvPicPr>
            <a:picLocks noGrp="1" noChangeAspect="1" noChangeArrowheads="1"/>
          </p:cNvPicPr>
          <p:nvPr>
            <p:ph idx="1"/>
          </p:nvPr>
        </p:nvPicPr>
        <p:blipFill>
          <a:blip r:embed="rId2"/>
          <a:stretch>
            <a:fillRect/>
          </a:stretch>
        </p:blipFill>
        <p:spPr bwMode="auto">
          <a:xfrm>
            <a:off x="2566080" y="2286000"/>
            <a:ext cx="3694339" cy="4022725"/>
          </a:xfrm>
          <a:prstGeom prst="rect">
            <a:avLst/>
          </a:prstGeom>
          <a:noFill/>
        </p:spPr>
      </p:pic>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Output Transformation</a:t>
            </a:r>
            <a:endParaRPr lang="en-IN" dirty="0"/>
          </a:p>
        </p:txBody>
      </p:sp>
      <p:pic>
        <p:nvPicPr>
          <p:cNvPr id="153602" name="Picture 2" descr="C:\Users\VISHNU\Downloads\IDEA-Algorithm5.jpg"/>
          <p:cNvPicPr>
            <a:picLocks noGrp="1" noChangeAspect="1" noChangeArrowheads="1"/>
          </p:cNvPicPr>
          <p:nvPr>
            <p:ph idx="1"/>
          </p:nvPr>
        </p:nvPicPr>
        <p:blipFill>
          <a:blip r:embed="rId2"/>
          <a:stretch>
            <a:fillRect/>
          </a:stretch>
        </p:blipFill>
        <p:spPr bwMode="auto">
          <a:xfrm>
            <a:off x="2574925" y="2801937"/>
            <a:ext cx="3676650" cy="2990850"/>
          </a:xfrm>
          <a:prstGeom prst="rect">
            <a:avLst/>
          </a:prstGeom>
          <a:noFill/>
        </p:spPr>
      </p:pic>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104F08-1CAE-BBD7-CFA6-F6B2FF077778}"/>
              </a:ext>
            </a:extLst>
          </p:cNvPr>
          <p:cNvSpPr>
            <a:spLocks noGrp="1"/>
          </p:cNvSpPr>
          <p:nvPr>
            <p:ph type="title"/>
          </p:nvPr>
        </p:nvSpPr>
        <p:spPr>
          <a:xfrm>
            <a:off x="1043608" y="2679192"/>
            <a:ext cx="7290054" cy="1499616"/>
          </a:xfrm>
        </p:spPr>
        <p:txBody>
          <a:bodyPr/>
          <a:lstStyle/>
          <a:p>
            <a:pPr algn="ctr"/>
            <a:r>
              <a:rPr lang="en-IN" dirty="0"/>
              <a:t>Security threats and vulnerabilities</a:t>
            </a:r>
          </a:p>
        </p:txBody>
      </p:sp>
    </p:spTree>
    <p:extLst>
      <p:ext uri="{BB962C8B-B14F-4D97-AF65-F5344CB8AC3E}">
        <p14:creationId xmlns:p14="http://schemas.microsoft.com/office/powerpoint/2010/main" val="3192989615"/>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Network Vulnerability</a:t>
            </a:r>
            <a:br>
              <a:rPr lang="en-IN" b="1" dirty="0"/>
            </a:br>
            <a:endParaRPr lang="en-IN" dirty="0"/>
          </a:p>
        </p:txBody>
      </p:sp>
      <p:sp>
        <p:nvSpPr>
          <p:cNvPr id="3" name="Content Placeholder 2"/>
          <p:cNvSpPr>
            <a:spLocks noGrp="1"/>
          </p:cNvSpPr>
          <p:nvPr>
            <p:ph idx="1"/>
          </p:nvPr>
        </p:nvSpPr>
        <p:spPr/>
        <p:txBody>
          <a:bodyPr/>
          <a:lstStyle/>
          <a:p>
            <a:r>
              <a:rPr lang="en-IN" dirty="0"/>
              <a:t>A network vulnerability is a weakness or flaw in software, hardware, or organizational processes, which when compromised by a threat, can result in a security breach.</a:t>
            </a:r>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Malware (Malicious Software)</a:t>
            </a:r>
            <a:br>
              <a:rPr lang="en-IN" b="1" dirty="0"/>
            </a:br>
            <a:endParaRPr lang="en-IN" dirty="0"/>
          </a:p>
        </p:txBody>
      </p:sp>
      <p:sp>
        <p:nvSpPr>
          <p:cNvPr id="3" name="Content Placeholder 2"/>
          <p:cNvSpPr>
            <a:spLocks noGrp="1"/>
          </p:cNvSpPr>
          <p:nvPr>
            <p:ph idx="1"/>
          </p:nvPr>
        </p:nvSpPr>
        <p:spPr/>
        <p:txBody>
          <a:bodyPr/>
          <a:lstStyle/>
          <a:p>
            <a:r>
              <a:rPr lang="en-IN" dirty="0"/>
              <a:t>Malware is a malicious software that is unknowingly purchased, downloaded, or installed. The use of malware to exploit network vulnerabilities continue to rise hitting an all time high of 812.67 million infected devices in 2018.</a:t>
            </a:r>
          </a:p>
        </p:txBody>
      </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Viruses</a:t>
            </a:r>
            <a:br>
              <a:rPr lang="en-IN" dirty="0"/>
            </a:br>
            <a:endParaRPr lang="en-IN" dirty="0"/>
          </a:p>
        </p:txBody>
      </p:sp>
      <p:sp>
        <p:nvSpPr>
          <p:cNvPr id="3" name="Content Placeholder 2"/>
          <p:cNvSpPr>
            <a:spLocks noGrp="1"/>
          </p:cNvSpPr>
          <p:nvPr>
            <p:ph idx="1"/>
          </p:nvPr>
        </p:nvSpPr>
        <p:spPr/>
        <p:txBody>
          <a:bodyPr/>
          <a:lstStyle/>
          <a:p>
            <a:r>
              <a:rPr lang="en-IN" dirty="0"/>
              <a:t>A virus is the most common type of malware attack. In order for a virus to infect a system it requires a user to click or copy it to media or a host. </a:t>
            </a:r>
          </a:p>
          <a:p>
            <a:r>
              <a:rPr lang="en-IN" dirty="0"/>
              <a:t>Most viruses self-replicate without the knowledge of the user. These viruses can be spread from one system to another via email, instant messaging, website downloads, removable media (USB), and network connections.</a:t>
            </a:r>
          </a:p>
        </p:txBody>
      </p:sp>
      <p:sp>
        <p:nvSpPr>
          <p:cNvPr id="126978" name="AutoShape 2" descr="Viruses - Network Vulnerabilities"/>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IN"/>
          </a:p>
        </p:txBody>
      </p:sp>
    </p:spTree>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Worms</a:t>
            </a:r>
            <a:br>
              <a:rPr lang="en-IN" dirty="0"/>
            </a:br>
            <a:endParaRPr lang="en-IN" dirty="0"/>
          </a:p>
        </p:txBody>
      </p:sp>
      <p:sp>
        <p:nvSpPr>
          <p:cNvPr id="3" name="Content Placeholder 2"/>
          <p:cNvSpPr>
            <a:spLocks noGrp="1"/>
          </p:cNvSpPr>
          <p:nvPr>
            <p:ph idx="1"/>
          </p:nvPr>
        </p:nvSpPr>
        <p:spPr/>
        <p:txBody>
          <a:bodyPr>
            <a:normAutofit lnSpcReduction="10000"/>
          </a:bodyPr>
          <a:lstStyle/>
          <a:p>
            <a:r>
              <a:rPr lang="en-IN" dirty="0"/>
              <a:t>Similar to a virus, a worm can also self-replicate and spread full copies and segments of itself via network connections, email attachments, and instant messages. </a:t>
            </a:r>
          </a:p>
          <a:p>
            <a:r>
              <a:rPr lang="en-IN" dirty="0"/>
              <a:t>Unlike viruses, however, a worm does not require a host program in order to run, self-replicate, and propagate. Worms are commonly used against email servers, web servers, and database servers. </a:t>
            </a:r>
          </a:p>
          <a:p>
            <a:r>
              <a:rPr lang="en-IN" dirty="0"/>
              <a:t>Once infected, worms spread quickly over the internet and computer networks.</a:t>
            </a:r>
          </a:p>
        </p:txBody>
      </p:sp>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Trojan Horses</a:t>
            </a:r>
            <a:br>
              <a:rPr lang="en-IN" dirty="0"/>
            </a:br>
            <a:endParaRPr lang="en-IN" dirty="0"/>
          </a:p>
        </p:txBody>
      </p:sp>
      <p:sp>
        <p:nvSpPr>
          <p:cNvPr id="3" name="Content Placeholder 2"/>
          <p:cNvSpPr>
            <a:spLocks noGrp="1"/>
          </p:cNvSpPr>
          <p:nvPr>
            <p:ph idx="1"/>
          </p:nvPr>
        </p:nvSpPr>
        <p:spPr/>
        <p:txBody>
          <a:bodyPr>
            <a:normAutofit fontScale="92500" lnSpcReduction="20000"/>
          </a:bodyPr>
          <a:lstStyle/>
          <a:p>
            <a:r>
              <a:rPr lang="en-IN" dirty="0"/>
              <a:t>Trojan horse programs are malware that is disguised as legitimate software. </a:t>
            </a:r>
          </a:p>
          <a:p>
            <a:r>
              <a:rPr lang="en-IN" dirty="0"/>
              <a:t>A Trojan horse program will hide on your computer until it’s called upon. When activated, Trojans can allow threat actors to spy on you, steal your sensitive data, and gain backdoor access to your system.</a:t>
            </a:r>
          </a:p>
          <a:p>
            <a:r>
              <a:rPr lang="en-IN" dirty="0"/>
              <a:t>Trojans are commonly downloaded through email attachments, website downloads, and instant messages.</a:t>
            </a:r>
          </a:p>
          <a:p>
            <a:r>
              <a:rPr lang="en-IN" dirty="0"/>
              <a:t>Unlike computer viruses and worms, Trojans are not able to self-replicate.</a:t>
            </a:r>
          </a:p>
        </p:txBody>
      </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4D7CBC-B7C3-683B-DA3F-F43B64262BE7}"/>
              </a:ext>
            </a:extLst>
          </p:cNvPr>
          <p:cNvSpPr>
            <a:spLocks noGrp="1"/>
          </p:cNvSpPr>
          <p:nvPr>
            <p:ph type="title"/>
          </p:nvPr>
        </p:nvSpPr>
        <p:spPr/>
        <p:txBody>
          <a:bodyPr/>
          <a:lstStyle/>
          <a:p>
            <a:r>
              <a:rPr lang="en-IN" dirty="0"/>
              <a:t>Man in the middle attack</a:t>
            </a:r>
          </a:p>
        </p:txBody>
      </p:sp>
      <p:sp>
        <p:nvSpPr>
          <p:cNvPr id="3" name="Content Placeholder 2">
            <a:extLst>
              <a:ext uri="{FF2B5EF4-FFF2-40B4-BE49-F238E27FC236}">
                <a16:creationId xmlns:a16="http://schemas.microsoft.com/office/drawing/2014/main" id="{A9B6E5A3-0F84-9962-B57A-80435E07797A}"/>
              </a:ext>
            </a:extLst>
          </p:cNvPr>
          <p:cNvSpPr>
            <a:spLocks noGrp="1"/>
          </p:cNvSpPr>
          <p:nvPr>
            <p:ph idx="1"/>
          </p:nvPr>
        </p:nvSpPr>
        <p:spPr/>
        <p:txBody>
          <a:bodyPr/>
          <a:lstStyle/>
          <a:p>
            <a:r>
              <a:rPr lang="en-US" b="0" i="0" dirty="0">
                <a:solidFill>
                  <a:srgbClr val="000000"/>
                </a:solidFill>
                <a:effectLst/>
              </a:rPr>
              <a:t>A man in the middle (MITM) attack is a general term for when a perpetrator positions himself in a conversation between a user and an application—either to eavesdrop or to impersonate one of the parties, making it appear as if a normal exchange of information is underway.</a:t>
            </a:r>
            <a:endParaRPr lang="en-IN" dirty="0"/>
          </a:p>
        </p:txBody>
      </p:sp>
      <p:pic>
        <p:nvPicPr>
          <p:cNvPr id="8" name="Picture 7">
            <a:extLst>
              <a:ext uri="{FF2B5EF4-FFF2-40B4-BE49-F238E27FC236}">
                <a16:creationId xmlns:a16="http://schemas.microsoft.com/office/drawing/2014/main" id="{96CCC6CC-9CDB-5244-108D-EF801B982F1C}"/>
              </a:ext>
            </a:extLst>
          </p:cNvPr>
          <p:cNvPicPr>
            <a:picLocks noChangeAspect="1"/>
          </p:cNvPicPr>
          <p:nvPr/>
        </p:nvPicPr>
        <p:blipFill>
          <a:blip r:embed="rId2"/>
          <a:stretch>
            <a:fillRect/>
          </a:stretch>
        </p:blipFill>
        <p:spPr>
          <a:xfrm>
            <a:off x="3419872" y="4221088"/>
            <a:ext cx="5690940" cy="2636912"/>
          </a:xfrm>
          <a:prstGeom prst="rect">
            <a:avLst/>
          </a:prstGeom>
        </p:spPr>
      </p:pic>
    </p:spTree>
    <p:extLst>
      <p:ext uri="{BB962C8B-B14F-4D97-AF65-F5344CB8AC3E}">
        <p14:creationId xmlns:p14="http://schemas.microsoft.com/office/powerpoint/2010/main" val="556143823"/>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05B98B-2F0B-D86B-8514-7F0C9FFB8191}"/>
              </a:ext>
            </a:extLst>
          </p:cNvPr>
          <p:cNvSpPr>
            <a:spLocks noGrp="1"/>
          </p:cNvSpPr>
          <p:nvPr>
            <p:ph type="title"/>
          </p:nvPr>
        </p:nvSpPr>
        <p:spPr>
          <a:xfrm>
            <a:off x="785350" y="332656"/>
            <a:ext cx="7290054" cy="611536"/>
          </a:xfrm>
        </p:spPr>
        <p:txBody>
          <a:bodyPr>
            <a:normAutofit fontScale="90000"/>
          </a:bodyPr>
          <a:lstStyle/>
          <a:p>
            <a:r>
              <a:rPr lang="en-IN" dirty="0"/>
              <a:t>Spoofing</a:t>
            </a:r>
          </a:p>
        </p:txBody>
      </p:sp>
      <p:sp>
        <p:nvSpPr>
          <p:cNvPr id="3" name="Content Placeholder 2">
            <a:extLst>
              <a:ext uri="{FF2B5EF4-FFF2-40B4-BE49-F238E27FC236}">
                <a16:creationId xmlns:a16="http://schemas.microsoft.com/office/drawing/2014/main" id="{4A98E879-EFD1-B632-659C-42EFA1775F9F}"/>
              </a:ext>
            </a:extLst>
          </p:cNvPr>
          <p:cNvSpPr>
            <a:spLocks noGrp="1"/>
          </p:cNvSpPr>
          <p:nvPr>
            <p:ph idx="1"/>
          </p:nvPr>
        </p:nvSpPr>
        <p:spPr>
          <a:xfrm>
            <a:off x="926972" y="1052736"/>
            <a:ext cx="7290055" cy="5112568"/>
          </a:xfrm>
        </p:spPr>
        <p:txBody>
          <a:bodyPr>
            <a:normAutofit fontScale="85000" lnSpcReduction="10000"/>
          </a:bodyPr>
          <a:lstStyle/>
          <a:p>
            <a:pPr algn="l">
              <a:lnSpc>
                <a:spcPct val="170000"/>
              </a:lnSpc>
              <a:buFont typeface="Arial" panose="020B0604020202020204" pitchFamily="34" charset="0"/>
              <a:buChar char="•"/>
            </a:pPr>
            <a:r>
              <a:rPr lang="en-US" b="1" i="0" dirty="0">
                <a:solidFill>
                  <a:srgbClr val="000000"/>
                </a:solidFill>
                <a:effectLst/>
              </a:rPr>
              <a:t>IP spoofing</a:t>
            </a:r>
            <a:r>
              <a:rPr lang="en-US" b="0" i="0" dirty="0">
                <a:solidFill>
                  <a:srgbClr val="000000"/>
                </a:solidFill>
                <a:effectLst/>
              </a:rPr>
              <a:t> involves an attacker disguising himself as an application by altering packet headers in an IP address. As a result, users attempting to access a URL connected to the application are sent to the attacker’s website.</a:t>
            </a:r>
          </a:p>
          <a:p>
            <a:pPr algn="l">
              <a:lnSpc>
                <a:spcPct val="170000"/>
              </a:lnSpc>
              <a:buFont typeface="Arial" panose="020B0604020202020204" pitchFamily="34" charset="0"/>
              <a:buChar char="•"/>
            </a:pPr>
            <a:r>
              <a:rPr lang="en-US" b="1" i="0" dirty="0">
                <a:solidFill>
                  <a:srgbClr val="000000"/>
                </a:solidFill>
                <a:effectLst/>
              </a:rPr>
              <a:t>ARP spoofing</a:t>
            </a:r>
            <a:r>
              <a:rPr lang="en-US" b="0" i="0" dirty="0">
                <a:solidFill>
                  <a:srgbClr val="000000"/>
                </a:solidFill>
                <a:effectLst/>
              </a:rPr>
              <a:t> is the process of linking an attacker’s MAC address with the IP address of a legitimate user on a local area network using fake ARP messages. As a result, data sent by the user to the host IP address is instead transmitted to the attacker.</a:t>
            </a:r>
          </a:p>
          <a:p>
            <a:pPr algn="l">
              <a:lnSpc>
                <a:spcPct val="170000"/>
              </a:lnSpc>
              <a:buFont typeface="Arial" panose="020B0604020202020204" pitchFamily="34" charset="0"/>
              <a:buChar char="•"/>
            </a:pPr>
            <a:r>
              <a:rPr lang="en-US" b="1" i="0" dirty="0">
                <a:solidFill>
                  <a:srgbClr val="000000"/>
                </a:solidFill>
                <a:effectLst/>
              </a:rPr>
              <a:t>DNS spoofing</a:t>
            </a:r>
            <a:r>
              <a:rPr lang="en-US" b="0" i="0" dirty="0">
                <a:solidFill>
                  <a:srgbClr val="000000"/>
                </a:solidFill>
                <a:effectLst/>
              </a:rPr>
              <a:t>, also known as DNS cache poisoning, involves infiltrating a DNS server and altering a website’s address record. As a result, users attempting to access the site are sent by the altered DNS record to the attacker’s site.</a:t>
            </a:r>
          </a:p>
          <a:p>
            <a:pPr>
              <a:lnSpc>
                <a:spcPct val="170000"/>
              </a:lnSpc>
            </a:pPr>
            <a:endParaRPr lang="en-IN" dirty="0"/>
          </a:p>
        </p:txBody>
      </p:sp>
    </p:spTree>
    <p:extLst>
      <p:ext uri="{BB962C8B-B14F-4D97-AF65-F5344CB8AC3E}">
        <p14:creationId xmlns:p14="http://schemas.microsoft.com/office/powerpoint/2010/main" val="3305774275"/>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IN" b="1" dirty="0"/>
              <a:t>Bots/</a:t>
            </a:r>
            <a:r>
              <a:rPr lang="en-IN" b="1" dirty="0" err="1"/>
              <a:t>Botnets</a:t>
            </a:r>
            <a:br>
              <a:rPr lang="en-IN" dirty="0"/>
            </a:br>
            <a:endParaRPr lang="en-IN" dirty="0"/>
          </a:p>
        </p:txBody>
      </p:sp>
      <p:sp>
        <p:nvSpPr>
          <p:cNvPr id="3" name="Content Placeholder 2"/>
          <p:cNvSpPr>
            <a:spLocks noGrp="1"/>
          </p:cNvSpPr>
          <p:nvPr>
            <p:ph idx="1"/>
          </p:nvPr>
        </p:nvSpPr>
        <p:spPr/>
        <p:txBody>
          <a:bodyPr>
            <a:normAutofit fontScale="85000" lnSpcReduction="10000"/>
          </a:bodyPr>
          <a:lstStyle/>
          <a:p>
            <a:r>
              <a:rPr lang="en-IN" dirty="0" err="1"/>
              <a:t>Botnet</a:t>
            </a:r>
            <a:r>
              <a:rPr lang="en-IN" dirty="0"/>
              <a:t>, short for </a:t>
            </a:r>
            <a:r>
              <a:rPr lang="en-IN" dirty="0" err="1"/>
              <a:t>roBOT</a:t>
            </a:r>
            <a:r>
              <a:rPr lang="en-IN" dirty="0"/>
              <a:t> </a:t>
            </a:r>
            <a:r>
              <a:rPr lang="en-IN" dirty="0" err="1"/>
              <a:t>NETwork</a:t>
            </a:r>
            <a:r>
              <a:rPr lang="en-IN" dirty="0"/>
              <a:t>, is a group of bots, which are any type of computer system attached to a network whose security has been compromised. They are typically controlled remotely.</a:t>
            </a:r>
          </a:p>
          <a:p>
            <a:r>
              <a:rPr lang="en-IN" dirty="0"/>
              <a:t>The </a:t>
            </a:r>
            <a:r>
              <a:rPr lang="en-IN" dirty="0" err="1"/>
              <a:t>Mirai</a:t>
            </a:r>
            <a:r>
              <a:rPr lang="en-IN" dirty="0"/>
              <a:t> </a:t>
            </a:r>
            <a:r>
              <a:rPr lang="en-IN" dirty="0" err="1"/>
              <a:t>botnet</a:t>
            </a:r>
            <a:r>
              <a:rPr lang="en-IN" dirty="0"/>
              <a:t> was able to gain control of internet of things (</a:t>
            </a:r>
            <a:r>
              <a:rPr lang="en-IN" dirty="0" err="1"/>
              <a:t>IoT</a:t>
            </a:r>
            <a:r>
              <a:rPr lang="en-IN" dirty="0"/>
              <a:t>) connected devices like your DVR, home printer as well as smart appliances by entering the default username and password that the devices shipped with. </a:t>
            </a:r>
          </a:p>
          <a:p>
            <a:r>
              <a:rPr lang="en-IN" dirty="0"/>
              <a:t>The threat actors deployed a </a:t>
            </a:r>
            <a:r>
              <a:rPr lang="en-IN" dirty="0" err="1"/>
              <a:t>DDoS</a:t>
            </a:r>
            <a:r>
              <a:rPr lang="en-IN" dirty="0"/>
              <a:t> (distributed denial of service) attack by sending large amounts of data at a website hosting company, causing many popular websites to be taken offline.</a:t>
            </a:r>
          </a:p>
        </p:txBody>
      </p:sp>
    </p:spTree>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Rootkit</a:t>
            </a:r>
            <a:endParaRPr lang="en-IN" dirty="0"/>
          </a:p>
        </p:txBody>
      </p:sp>
      <p:sp>
        <p:nvSpPr>
          <p:cNvPr id="3" name="Content Placeholder 2"/>
          <p:cNvSpPr>
            <a:spLocks noGrp="1"/>
          </p:cNvSpPr>
          <p:nvPr>
            <p:ph idx="1"/>
          </p:nvPr>
        </p:nvSpPr>
        <p:spPr/>
        <p:txBody>
          <a:bodyPr/>
          <a:lstStyle/>
          <a:p>
            <a:r>
              <a:rPr lang="en-IN" dirty="0"/>
              <a:t>A </a:t>
            </a:r>
            <a:r>
              <a:rPr lang="en-IN" dirty="0" err="1"/>
              <a:t>rootkit</a:t>
            </a:r>
            <a:r>
              <a:rPr lang="en-IN" dirty="0"/>
              <a:t> allows someone to maintain command and control over a computer without the computer user/owner knowing about it. </a:t>
            </a:r>
          </a:p>
          <a:p>
            <a:r>
              <a:rPr lang="en-IN" dirty="0"/>
              <a:t>Once a </a:t>
            </a:r>
            <a:r>
              <a:rPr lang="en-IN" dirty="0" err="1"/>
              <a:t>rootkit</a:t>
            </a:r>
            <a:r>
              <a:rPr lang="en-IN" dirty="0"/>
              <a:t> has been installed, the controller of the </a:t>
            </a:r>
            <a:r>
              <a:rPr lang="en-IN" dirty="0" err="1"/>
              <a:t>rootkit</a:t>
            </a:r>
            <a:r>
              <a:rPr lang="en-IN" dirty="0"/>
              <a:t> has the ability to remotely execute files and change system configurations on the host machine. A </a:t>
            </a:r>
            <a:r>
              <a:rPr lang="en-IN" dirty="0" err="1"/>
              <a:t>rootkit</a:t>
            </a:r>
            <a:r>
              <a:rPr lang="en-IN" dirty="0"/>
              <a:t> on an infected computer can also access log files and spy on the legitimate computer owner’s usage.</a:t>
            </a:r>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IN" dirty="0"/>
              <a:t>Stuxnet - the first known rootkit for industrial control systems</a:t>
            </a:r>
            <a:br>
              <a:rPr lang="en-IN" dirty="0"/>
            </a:br>
            <a:endParaRPr lang="en-IN" dirty="0"/>
          </a:p>
        </p:txBody>
      </p:sp>
      <p:sp>
        <p:nvSpPr>
          <p:cNvPr id="3" name="Content Placeholder 2"/>
          <p:cNvSpPr>
            <a:spLocks noGrp="1"/>
          </p:cNvSpPr>
          <p:nvPr>
            <p:ph idx="1"/>
          </p:nvPr>
        </p:nvSpPr>
        <p:spPr>
          <a:xfrm>
            <a:off x="596646" y="3231962"/>
            <a:ext cx="7290055" cy="3437438"/>
          </a:xfrm>
        </p:spPr>
        <p:txBody>
          <a:bodyPr>
            <a:normAutofit/>
          </a:bodyPr>
          <a:lstStyle/>
          <a:p>
            <a:endParaRPr lang="en-IN" dirty="0"/>
          </a:p>
          <a:p>
            <a:endParaRPr lang="en-IN" dirty="0"/>
          </a:p>
        </p:txBody>
      </p:sp>
      <p:pic>
        <p:nvPicPr>
          <p:cNvPr id="1028" name="Picture 4" descr="img">
            <a:extLst>
              <a:ext uri="{FF2B5EF4-FFF2-40B4-BE49-F238E27FC236}">
                <a16:creationId xmlns:a16="http://schemas.microsoft.com/office/drawing/2014/main" id="{21F29BCA-4D11-468F-8413-3ABD0EA139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950" y="1844824"/>
            <a:ext cx="7315200" cy="4687416"/>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fontAlgn="base"/>
            <a:r>
              <a:rPr lang="en-IN" b="1" dirty="0" err="1"/>
              <a:t>DDoS</a:t>
            </a:r>
            <a:r>
              <a:rPr lang="en-IN" b="1" dirty="0"/>
              <a:t> attacks:</a:t>
            </a:r>
            <a:r>
              <a:rPr lang="en-IN" dirty="0"/>
              <a:t> </a:t>
            </a:r>
            <a:r>
              <a:rPr lang="en-IN" i="1" dirty="0" err="1"/>
              <a:t>Rootkits</a:t>
            </a:r>
            <a:r>
              <a:rPr lang="en-IN" dirty="0"/>
              <a:t> allow the compromised computer to be used as a </a:t>
            </a:r>
            <a:r>
              <a:rPr lang="en-IN" dirty="0" err="1"/>
              <a:t>bot</a:t>
            </a:r>
            <a:r>
              <a:rPr lang="en-IN" dirty="0"/>
              <a:t> for distributed-denial-of-service attacks. The attack would now be traced to the compromised computer and not to the attacker's system. These bots are also called as zombie computers and are used as part of </a:t>
            </a:r>
            <a:r>
              <a:rPr lang="en-IN" dirty="0" err="1"/>
              <a:t>bot</a:t>
            </a:r>
            <a:r>
              <a:rPr lang="en-IN" dirty="0"/>
              <a:t> networks to launch the </a:t>
            </a:r>
            <a:r>
              <a:rPr lang="en-IN" dirty="0" err="1"/>
              <a:t>DDoS</a:t>
            </a:r>
            <a:r>
              <a:rPr lang="en-IN" dirty="0"/>
              <a:t> attacks, and other malicious activities such as click fraud and spam email distribution.</a:t>
            </a:r>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DDOS attack</a:t>
            </a:r>
            <a:endParaRPr lang="en-IN" dirty="0"/>
          </a:p>
        </p:txBody>
      </p:sp>
      <p:pic>
        <p:nvPicPr>
          <p:cNvPr id="138242" name="Picture 2"/>
          <p:cNvPicPr>
            <a:picLocks noGrp="1" noChangeAspect="1" noChangeArrowheads="1"/>
          </p:cNvPicPr>
          <p:nvPr>
            <p:ph idx="1"/>
          </p:nvPr>
        </p:nvPicPr>
        <p:blipFill>
          <a:blip r:embed="rId2"/>
          <a:srcRect/>
          <a:stretch>
            <a:fillRect/>
          </a:stretch>
        </p:blipFill>
        <p:spPr bwMode="auto">
          <a:xfrm>
            <a:off x="458177" y="1840230"/>
            <a:ext cx="8304188" cy="4660604"/>
          </a:xfrm>
          <a:prstGeom prst="rect">
            <a:avLst/>
          </a:prstGeom>
          <a:noFill/>
          <a:ln w="9525">
            <a:noFill/>
            <a:miter lim="800000"/>
            <a:headEnd/>
            <a:tailEnd/>
          </a:ln>
          <a:effectLst/>
        </p:spPr>
      </p:pic>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4962D7-DDF8-7BE5-4919-2AC49C0F45F7}"/>
              </a:ext>
            </a:extLst>
          </p:cNvPr>
          <p:cNvSpPr>
            <a:spLocks noGrp="1"/>
          </p:cNvSpPr>
          <p:nvPr>
            <p:ph type="title"/>
          </p:nvPr>
        </p:nvSpPr>
        <p:spPr/>
        <p:txBody>
          <a:bodyPr/>
          <a:lstStyle/>
          <a:p>
            <a:r>
              <a:rPr lang="en-IN" dirty="0"/>
              <a:t>Brute force attack</a:t>
            </a:r>
          </a:p>
        </p:txBody>
      </p:sp>
      <p:sp>
        <p:nvSpPr>
          <p:cNvPr id="3" name="Content Placeholder 2">
            <a:extLst>
              <a:ext uri="{FF2B5EF4-FFF2-40B4-BE49-F238E27FC236}">
                <a16:creationId xmlns:a16="http://schemas.microsoft.com/office/drawing/2014/main" id="{C08A0836-FAFD-D7D1-BFBC-AD22E75FF42B}"/>
              </a:ext>
            </a:extLst>
          </p:cNvPr>
          <p:cNvSpPr>
            <a:spLocks noGrp="1"/>
          </p:cNvSpPr>
          <p:nvPr>
            <p:ph idx="1"/>
          </p:nvPr>
        </p:nvSpPr>
        <p:spPr/>
        <p:txBody>
          <a:bodyPr/>
          <a:lstStyle/>
          <a:p>
            <a:r>
              <a:rPr lang="en-US" b="0" i="0" dirty="0">
                <a:effectLst/>
              </a:rPr>
              <a:t>A brute force attack, also known as an exhaustive search, is a cryptographic hack that relies on guessing possible combinations of a targeted password until the correct password is discovered. The longer the password, the more combinations that will need to be tested.</a:t>
            </a:r>
          </a:p>
          <a:p>
            <a:endParaRPr lang="en-IN" dirty="0"/>
          </a:p>
        </p:txBody>
      </p:sp>
    </p:spTree>
    <p:extLst>
      <p:ext uri="{BB962C8B-B14F-4D97-AF65-F5344CB8AC3E}">
        <p14:creationId xmlns:p14="http://schemas.microsoft.com/office/powerpoint/2010/main" val="1384047523"/>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629CC1-D814-F28E-4CC8-E8A84475D8CA}"/>
              </a:ext>
            </a:extLst>
          </p:cNvPr>
          <p:cNvSpPr>
            <a:spLocks noGrp="1"/>
          </p:cNvSpPr>
          <p:nvPr>
            <p:ph type="title"/>
          </p:nvPr>
        </p:nvSpPr>
        <p:spPr/>
        <p:txBody>
          <a:bodyPr/>
          <a:lstStyle/>
          <a:p>
            <a:r>
              <a:rPr lang="en-IN" dirty="0"/>
              <a:t>Dictionary attack </a:t>
            </a:r>
          </a:p>
        </p:txBody>
      </p:sp>
      <p:sp>
        <p:nvSpPr>
          <p:cNvPr id="3" name="Content Placeholder 2">
            <a:extLst>
              <a:ext uri="{FF2B5EF4-FFF2-40B4-BE49-F238E27FC236}">
                <a16:creationId xmlns:a16="http://schemas.microsoft.com/office/drawing/2014/main" id="{5BCC0DB1-7D52-2707-96EC-9A1C8FCD6388}"/>
              </a:ext>
            </a:extLst>
          </p:cNvPr>
          <p:cNvSpPr>
            <a:spLocks noGrp="1"/>
          </p:cNvSpPr>
          <p:nvPr>
            <p:ph idx="1"/>
          </p:nvPr>
        </p:nvSpPr>
        <p:spPr/>
        <p:txBody>
          <a:bodyPr/>
          <a:lstStyle/>
          <a:p>
            <a:r>
              <a:rPr lang="en-US" b="0" i="0" dirty="0">
                <a:effectLst/>
              </a:rPr>
              <a:t>A dictionary attack is a systematic method of guessing a password by trying many common words and their simple variations. Attackers use extensive lists of the most commonly used passwords, popular pet names, fictional characters, or literally just words from a dictionary – hence the name of the attack. They also change some letters to numbers or special characters, like “p@ssw0rd”.</a:t>
            </a:r>
            <a:endParaRPr lang="en-IN" dirty="0"/>
          </a:p>
        </p:txBody>
      </p:sp>
    </p:spTree>
    <p:extLst>
      <p:ext uri="{BB962C8B-B14F-4D97-AF65-F5344CB8AC3E}">
        <p14:creationId xmlns:p14="http://schemas.microsoft.com/office/powerpoint/2010/main" val="3256997048"/>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HONEYPOT</a:t>
            </a:r>
            <a:endParaRPr lang="en-IN" dirty="0"/>
          </a:p>
        </p:txBody>
      </p:sp>
      <p:sp>
        <p:nvSpPr>
          <p:cNvPr id="3" name="Content Placeholder 2"/>
          <p:cNvSpPr>
            <a:spLocks noGrp="1"/>
          </p:cNvSpPr>
          <p:nvPr>
            <p:ph idx="1"/>
          </p:nvPr>
        </p:nvSpPr>
        <p:spPr/>
        <p:txBody>
          <a:bodyPr/>
          <a:lstStyle/>
          <a:p>
            <a:r>
              <a:rPr lang="en-IN" dirty="0"/>
              <a:t>A </a:t>
            </a:r>
            <a:r>
              <a:rPr lang="en-IN" dirty="0" err="1"/>
              <a:t>honeypot</a:t>
            </a:r>
            <a:r>
              <a:rPr lang="en-IN" dirty="0"/>
              <a:t> is a computer or computer system intended to mimic likely targets of </a:t>
            </a:r>
            <a:r>
              <a:rPr lang="en-IN" dirty="0" err="1"/>
              <a:t>cyberattacks</a:t>
            </a:r>
            <a:r>
              <a:rPr lang="en-IN" dirty="0"/>
              <a:t>. It can be used to detect attacks or deflect them from a legitimate target. It can also be used to gain information about how cybercriminals operate.</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2854</TotalTime>
  <Words>5322</Words>
  <Application>Microsoft Office PowerPoint</Application>
  <PresentationFormat>On-screen Show (4:3)</PresentationFormat>
  <Paragraphs>346</Paragraphs>
  <Slides>133</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133</vt:i4>
      </vt:variant>
    </vt:vector>
  </HeadingPairs>
  <TitlesOfParts>
    <vt:vector size="142" baseType="lpstr">
      <vt:lpstr>Arial</vt:lpstr>
      <vt:lpstr>Calibri</vt:lpstr>
      <vt:lpstr>Inter</vt:lpstr>
      <vt:lpstr>system-ui</vt:lpstr>
      <vt:lpstr>Times New Roman</vt:lpstr>
      <vt:lpstr>Tw Cen MT</vt:lpstr>
      <vt:lpstr>Tw Cen MT Condensed</vt:lpstr>
      <vt:lpstr>Wingdings 3</vt:lpstr>
      <vt:lpstr>Integral</vt:lpstr>
      <vt:lpstr>NETWORK SECURITY AND CRYPTOGRAPHY</vt:lpstr>
      <vt:lpstr>CIA Traid</vt:lpstr>
      <vt:lpstr>PowerPoint Presentation</vt:lpstr>
      <vt:lpstr>DAD Triad</vt:lpstr>
      <vt:lpstr>PGP</vt:lpstr>
      <vt:lpstr>S/MIME</vt:lpstr>
      <vt:lpstr>SSL </vt:lpstr>
      <vt:lpstr>SSL</vt:lpstr>
      <vt:lpstr>Salient Features</vt:lpstr>
      <vt:lpstr>PowerPoint Presentation</vt:lpstr>
      <vt:lpstr>Working</vt:lpstr>
      <vt:lpstr>TLS</vt:lpstr>
      <vt:lpstr>PowerPoint Presentation</vt:lpstr>
      <vt:lpstr>SET</vt:lpstr>
      <vt:lpstr>Wireless Authentication Protocols</vt:lpstr>
      <vt:lpstr>Extensible authentication Protocol (EAP)</vt:lpstr>
      <vt:lpstr>LEAP (Lightweight Extensible Authentication Protocol)</vt:lpstr>
      <vt:lpstr>Protected Extensible Authentication Protocol (PEAP)</vt:lpstr>
      <vt:lpstr>IPSEC</vt:lpstr>
      <vt:lpstr>Security Associations (SA)</vt:lpstr>
      <vt:lpstr>IKE (Internet Key Exchange)</vt:lpstr>
      <vt:lpstr>IKE phase 1</vt:lpstr>
      <vt:lpstr>IKE Phase 1</vt:lpstr>
      <vt:lpstr>Step 1 : Negotiation</vt:lpstr>
      <vt:lpstr>Step 2: DH Key Exchange</vt:lpstr>
      <vt:lpstr>Step 3: Authentication</vt:lpstr>
      <vt:lpstr>PowerPoint Presentation</vt:lpstr>
      <vt:lpstr>IKE-Phase 2</vt:lpstr>
      <vt:lpstr>PowerPoint Presentation</vt:lpstr>
      <vt:lpstr>PowerPoint Presentation</vt:lpstr>
      <vt:lpstr>IPSEC Protocol</vt:lpstr>
      <vt:lpstr>PowerPoint Presentation</vt:lpstr>
      <vt:lpstr>Transport and Tunnel Mode</vt:lpstr>
      <vt:lpstr>PowerPoint Presentation</vt:lpstr>
      <vt:lpstr>Point to point protocol (ppp)</vt:lpstr>
      <vt:lpstr>PAP</vt:lpstr>
      <vt:lpstr>CHAP</vt:lpstr>
      <vt:lpstr>Challenge</vt:lpstr>
      <vt:lpstr>Response</vt:lpstr>
      <vt:lpstr>Success</vt:lpstr>
      <vt:lpstr>AAA</vt:lpstr>
      <vt:lpstr>RADIUS and TACACS+</vt:lpstr>
      <vt:lpstr>PowerPoint Presentation</vt:lpstr>
      <vt:lpstr>HDLC</vt:lpstr>
      <vt:lpstr>HDLC</vt:lpstr>
      <vt:lpstr>Normal Response Mode (NRM) </vt:lpstr>
      <vt:lpstr>PowerPoint Presentation</vt:lpstr>
      <vt:lpstr>Asynchronous Balance Mode (ABM) </vt:lpstr>
      <vt:lpstr>HDLC Frame</vt:lpstr>
      <vt:lpstr>Layer 2 forwarding protocol (l2f)</vt:lpstr>
      <vt:lpstr>Point-to-Point Tunneling Protocol</vt:lpstr>
      <vt:lpstr>Layer 2 Tunneling Protocol (L2TP)</vt:lpstr>
      <vt:lpstr>What Is Cryptography? </vt:lpstr>
      <vt:lpstr>PowerPoint Presentation</vt:lpstr>
      <vt:lpstr>Basic Terminologies</vt:lpstr>
      <vt:lpstr>PowerPoint Presentation</vt:lpstr>
      <vt:lpstr>Symmetric Key Cryptography</vt:lpstr>
      <vt:lpstr>Substitution Cipher</vt:lpstr>
      <vt:lpstr>Caesar Cipher</vt:lpstr>
      <vt:lpstr>Monoalphabetic Substitution</vt:lpstr>
      <vt:lpstr>One-Time Pad</vt:lpstr>
      <vt:lpstr>Transposition Ciphers </vt:lpstr>
      <vt:lpstr>Rail Fence Cipher</vt:lpstr>
      <vt:lpstr>Row Transposition Cipher</vt:lpstr>
      <vt:lpstr>Stream Cipher </vt:lpstr>
      <vt:lpstr>Block Cipher </vt:lpstr>
      <vt:lpstr>Asymmetric Key Encryption (or Public Key Cryptography)</vt:lpstr>
      <vt:lpstr>Asymmetric Key Encryption</vt:lpstr>
      <vt:lpstr>RSA Algorithm </vt:lpstr>
      <vt:lpstr>RSA</vt:lpstr>
      <vt:lpstr>PowerPoint Presentation</vt:lpstr>
      <vt:lpstr>ELECTRONIC CODE BOOK</vt:lpstr>
      <vt:lpstr>ECB</vt:lpstr>
      <vt:lpstr>Cipher Block Chaining(CBC) Mode </vt:lpstr>
      <vt:lpstr>PowerPoint Presentation</vt:lpstr>
      <vt:lpstr>CBC Mode</vt:lpstr>
      <vt:lpstr>PowerPoint Presentation</vt:lpstr>
      <vt:lpstr>Cipher Feedback Mode </vt:lpstr>
      <vt:lpstr>Encryption</vt:lpstr>
      <vt:lpstr>Decryption</vt:lpstr>
      <vt:lpstr>OUTPUT FEEDBACK MODE</vt:lpstr>
      <vt:lpstr>Encryption and Decryption</vt:lpstr>
      <vt:lpstr>Counter Mode </vt:lpstr>
      <vt:lpstr>Encryption</vt:lpstr>
      <vt:lpstr>Decryption</vt:lpstr>
      <vt:lpstr>DES</vt:lpstr>
      <vt:lpstr>General DES algorithm</vt:lpstr>
      <vt:lpstr>Permutation Table</vt:lpstr>
      <vt:lpstr>Permutation Table</vt:lpstr>
      <vt:lpstr>Single Round of DES</vt:lpstr>
      <vt:lpstr>DES S-Boxes</vt:lpstr>
      <vt:lpstr>DES S-Boxes</vt:lpstr>
      <vt:lpstr>AES STRUCTURE</vt:lpstr>
      <vt:lpstr>AES Encryption and Decryption</vt:lpstr>
      <vt:lpstr>S-Box Substitution</vt:lpstr>
      <vt:lpstr>Shift Rows</vt:lpstr>
      <vt:lpstr>Mix Columns and Add Round Key</vt:lpstr>
      <vt:lpstr>Triple DES or 3DES</vt:lpstr>
      <vt:lpstr>Modes of 3DES</vt:lpstr>
      <vt:lpstr>EDE</vt:lpstr>
      <vt:lpstr>PKI </vt:lpstr>
      <vt:lpstr>Elements of PKI</vt:lpstr>
      <vt:lpstr>Digital Certificate</vt:lpstr>
      <vt:lpstr>SSL and PKI</vt:lpstr>
      <vt:lpstr>Working of PKI with SSL</vt:lpstr>
      <vt:lpstr>Certificate Revocation List</vt:lpstr>
      <vt:lpstr>Some Reasons</vt:lpstr>
      <vt:lpstr>PowerPoint Presentation</vt:lpstr>
      <vt:lpstr>Hash function</vt:lpstr>
      <vt:lpstr>Digital Signature</vt:lpstr>
      <vt:lpstr>Process</vt:lpstr>
      <vt:lpstr>Salting</vt:lpstr>
      <vt:lpstr>PowerPoint Presentation</vt:lpstr>
      <vt:lpstr>IDEA</vt:lpstr>
      <vt:lpstr>IDEA</vt:lpstr>
      <vt:lpstr>Steps in one Round</vt:lpstr>
      <vt:lpstr>Output Transformation</vt:lpstr>
      <vt:lpstr>Security threats and vulnerabilities</vt:lpstr>
      <vt:lpstr>Network Vulnerability </vt:lpstr>
      <vt:lpstr>Malware (Malicious Software) </vt:lpstr>
      <vt:lpstr>Viruses </vt:lpstr>
      <vt:lpstr>Worms </vt:lpstr>
      <vt:lpstr>Trojan Horses </vt:lpstr>
      <vt:lpstr>Man in the middle attack</vt:lpstr>
      <vt:lpstr>Spoofing</vt:lpstr>
      <vt:lpstr>Bots/Botnets </vt:lpstr>
      <vt:lpstr>Rootkit</vt:lpstr>
      <vt:lpstr>Stuxnet - the first known rootkit for industrial control systems </vt:lpstr>
      <vt:lpstr>PowerPoint Presentation</vt:lpstr>
      <vt:lpstr>DDOS attack</vt:lpstr>
      <vt:lpstr>Brute force attack</vt:lpstr>
      <vt:lpstr>Dictionary attack </vt:lpstr>
      <vt:lpstr>HONEYPOT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VISHNU</dc:creator>
  <cp:lastModifiedBy>kalidasan J</cp:lastModifiedBy>
  <cp:revision>132</cp:revision>
  <dcterms:created xsi:type="dcterms:W3CDTF">2020-05-26T10:53:17Z</dcterms:created>
  <dcterms:modified xsi:type="dcterms:W3CDTF">2025-02-09T04:43:00Z</dcterms:modified>
</cp:coreProperties>
</file>