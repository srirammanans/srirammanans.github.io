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6"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6858000" cy="9947275"/>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820" y="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337" cy="498721"/>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5120" y="0"/>
            <a:ext cx="2971336" cy="498721"/>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337" y="4787041"/>
            <a:ext cx="5487326" cy="391682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48555"/>
            <a:ext cx="2971337" cy="498721"/>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5120" y="9448555"/>
            <a:ext cx="2971336" cy="498721"/>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1:notes"/>
          <p:cNvSpPr txBox="1">
            <a:spLocks noGrp="1"/>
          </p:cNvSpPr>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 name="Google Shape;67;p1: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2:notes"/>
          <p:cNvSpPr txBox="1">
            <a:spLocks noGrp="1"/>
          </p:cNvSpPr>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 name="Google Shape;74;p2: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3:notes"/>
          <p:cNvSpPr txBox="1">
            <a:spLocks noGrp="1"/>
          </p:cNvSpPr>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 name="Google Shape;81;p3: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4:notes"/>
          <p:cNvSpPr txBox="1">
            <a:spLocks noGrp="1"/>
          </p:cNvSpPr>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 name="Google Shape;88;p4: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5:notes"/>
          <p:cNvSpPr txBox="1">
            <a:spLocks noGrp="1"/>
          </p:cNvSpPr>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5: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6:notes"/>
          <p:cNvSpPr txBox="1">
            <a:spLocks noGrp="1"/>
          </p:cNvSpPr>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6: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7:notes"/>
          <p:cNvSpPr txBox="1">
            <a:spLocks noGrp="1"/>
          </p:cNvSpPr>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p7: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8:notes"/>
          <p:cNvSpPr txBox="1">
            <a:spLocks noGrp="1"/>
          </p:cNvSpPr>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8: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9: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 name="Google Shape;123;p9:notes"/>
          <p:cNvSpPr txBox="1">
            <a:spLocks noGrp="1"/>
          </p:cNvSpPr>
          <p:nvPr>
            <p:ph type="body" idx="1"/>
          </p:nvPr>
        </p:nvSpPr>
        <p:spPr>
          <a:xfrm>
            <a:off x="685337" y="4787041"/>
            <a:ext cx="5487326" cy="3916825"/>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124" name="Google Shape;124;p9:notes"/>
          <p:cNvSpPr txBox="1">
            <a:spLocks noGrp="1"/>
          </p:cNvSpPr>
          <p:nvPr>
            <p:ph type="sldNum" idx="12"/>
          </p:nvPr>
        </p:nvSpPr>
        <p:spPr>
          <a:xfrm>
            <a:off x="3885120" y="9448555"/>
            <a:ext cx="2971336" cy="498721"/>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IN" sz="1200" b="0" i="0" u="none" strike="noStrike" cap="none">
                <a:solidFill>
                  <a:schemeClr val="dk1"/>
                </a:solidFill>
                <a:latin typeface="Calibri"/>
                <a:ea typeface="Calibri"/>
                <a:cs typeface="Calibri"/>
                <a:sym typeface="Calibri"/>
              </a:rPr>
              <a:t>9</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0:notes"/>
          <p:cNvSpPr txBox="1">
            <a:spLocks noGrp="1"/>
          </p:cNvSpPr>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p10: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11:notes"/>
          <p:cNvSpPr txBox="1">
            <a:spLocks noGrp="1"/>
          </p:cNvSpPr>
          <p:nvPr>
            <p:ph type="body" idx="1"/>
          </p:nvPr>
        </p:nvSpPr>
        <p:spPr>
          <a:xfrm>
            <a:off x="685337" y="4787041"/>
            <a:ext cx="5487326" cy="3916825"/>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11: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8c3515c07a_0_0:notes"/>
          <p:cNvSpPr txBox="1">
            <a:spLocks noGrp="1"/>
          </p:cNvSpPr>
          <p:nvPr>
            <p:ph type="body" idx="1"/>
          </p:nvPr>
        </p:nvSpPr>
        <p:spPr>
          <a:xfrm>
            <a:off x="685337" y="4787041"/>
            <a:ext cx="5487300" cy="3916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g8c3515c07a_0_0:notes"/>
          <p:cNvSpPr>
            <a:spLocks noGrp="1" noRot="1" noChangeAspect="1"/>
          </p:cNvSpPr>
          <p:nvPr>
            <p:ph type="sldImg" idx="2"/>
          </p:nvPr>
        </p:nvSpPr>
        <p:spPr>
          <a:xfrm>
            <a:off x="444500" y="1243013"/>
            <a:ext cx="5969100" cy="33576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8c3515c07a_0_6:notes"/>
          <p:cNvSpPr txBox="1">
            <a:spLocks noGrp="1"/>
          </p:cNvSpPr>
          <p:nvPr>
            <p:ph type="body" idx="1"/>
          </p:nvPr>
        </p:nvSpPr>
        <p:spPr>
          <a:xfrm>
            <a:off x="685337" y="4787041"/>
            <a:ext cx="5487300" cy="3916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g8c3515c07a_0_6:notes"/>
          <p:cNvSpPr>
            <a:spLocks noGrp="1" noRot="1" noChangeAspect="1"/>
          </p:cNvSpPr>
          <p:nvPr>
            <p:ph type="sldImg" idx="2"/>
          </p:nvPr>
        </p:nvSpPr>
        <p:spPr>
          <a:xfrm>
            <a:off x="444500" y="1243013"/>
            <a:ext cx="5969000" cy="33575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8" name="Google Shape;18;p2"/>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457200" y="1151335"/>
            <a:ext cx="4040188" cy="47982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24" name="Google Shape;24;p3"/>
          <p:cNvSpPr txBox="1">
            <a:spLocks noGrp="1"/>
          </p:cNvSpPr>
          <p:nvPr>
            <p:ph type="body" idx="2"/>
          </p:nvPr>
        </p:nvSpPr>
        <p:spPr>
          <a:xfrm>
            <a:off x="457200" y="1631156"/>
            <a:ext cx="4040188" cy="2963466"/>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25" name="Google Shape;25;p3"/>
          <p:cNvSpPr txBox="1">
            <a:spLocks noGrp="1"/>
          </p:cNvSpPr>
          <p:nvPr>
            <p:ph type="body" idx="3"/>
          </p:nvPr>
        </p:nvSpPr>
        <p:spPr>
          <a:xfrm>
            <a:off x="4645026" y="1151335"/>
            <a:ext cx="4041775" cy="47982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26" name="Google Shape;26;p3"/>
          <p:cNvSpPr txBox="1">
            <a:spLocks noGrp="1"/>
          </p:cNvSpPr>
          <p:nvPr>
            <p:ph type="body" idx="4"/>
          </p:nvPr>
        </p:nvSpPr>
        <p:spPr>
          <a:xfrm>
            <a:off x="4645026" y="1631156"/>
            <a:ext cx="4041775" cy="2963466"/>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27" name="Google Shape;27;p3"/>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3"/>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3"/>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4"/>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4"/>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4"/>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5"/>
        <p:cNvGrpSpPr/>
        <p:nvPr/>
      </p:nvGrpSpPr>
      <p:grpSpPr>
        <a:xfrm>
          <a:off x="0" y="0"/>
          <a:ext cx="0" cy="0"/>
          <a:chOff x="0" y="0"/>
          <a:chExt cx="0" cy="0"/>
        </a:xfrm>
      </p:grpSpPr>
      <p:sp>
        <p:nvSpPr>
          <p:cNvPr id="36" name="Google Shape;36;p5"/>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5"/>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9"/>
        <p:cNvGrpSpPr/>
        <p:nvPr/>
      </p:nvGrpSpPr>
      <p:grpSpPr>
        <a:xfrm>
          <a:off x="0" y="0"/>
          <a:ext cx="0" cy="0"/>
          <a:chOff x="0" y="0"/>
          <a:chExt cx="0" cy="0"/>
        </a:xfrm>
      </p:grpSpPr>
      <p:sp>
        <p:nvSpPr>
          <p:cNvPr id="40" name="Google Shape;40;p6"/>
          <p:cNvSpPr txBox="1">
            <a:spLocks noGrp="1"/>
          </p:cNvSpPr>
          <p:nvPr>
            <p:ph type="title"/>
          </p:nvPr>
        </p:nvSpPr>
        <p:spPr>
          <a:xfrm>
            <a:off x="457201" y="204787"/>
            <a:ext cx="3008313" cy="871538"/>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6"/>
          <p:cNvSpPr txBox="1">
            <a:spLocks noGrp="1"/>
          </p:cNvSpPr>
          <p:nvPr>
            <p:ph type="body" idx="1"/>
          </p:nvPr>
        </p:nvSpPr>
        <p:spPr>
          <a:xfrm>
            <a:off x="3575050" y="204788"/>
            <a:ext cx="5111750" cy="4389835"/>
          </a:xfrm>
          <a:prstGeom prst="rect">
            <a:avLst/>
          </a:prstGeom>
          <a:noFill/>
          <a:ln>
            <a:noFill/>
          </a:ln>
        </p:spPr>
        <p:txBody>
          <a:bodyPr spcFirstLastPara="1" wrap="square" lIns="91425" tIns="45700" rIns="91425" bIns="45700" anchor="t" anchorCtr="0">
            <a:no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42" name="Google Shape;42;p6"/>
          <p:cNvSpPr txBox="1">
            <a:spLocks noGrp="1"/>
          </p:cNvSpPr>
          <p:nvPr>
            <p:ph type="body" idx="2"/>
          </p:nvPr>
        </p:nvSpPr>
        <p:spPr>
          <a:xfrm>
            <a:off x="457201" y="1076326"/>
            <a:ext cx="3008313" cy="351829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43" name="Google Shape;43;p6"/>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6"/>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6"/>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1792288" y="3600450"/>
            <a:ext cx="5486400" cy="425054"/>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7"/>
          <p:cNvSpPr>
            <a:spLocks noGrp="1"/>
          </p:cNvSpPr>
          <p:nvPr>
            <p:ph type="pic" idx="2"/>
          </p:nvPr>
        </p:nvSpPr>
        <p:spPr>
          <a:xfrm>
            <a:off x="1792288" y="459581"/>
            <a:ext cx="5486400" cy="3086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100000"/>
              </a:lnSpc>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10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49" name="Google Shape;49;p7"/>
          <p:cNvSpPr txBox="1">
            <a:spLocks noGrp="1"/>
          </p:cNvSpPr>
          <p:nvPr>
            <p:ph type="body" idx="1"/>
          </p:nvPr>
        </p:nvSpPr>
        <p:spPr>
          <a:xfrm>
            <a:off x="1792288" y="4025503"/>
            <a:ext cx="5486400" cy="6036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0" name="Google Shape;50;p7"/>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8"/>
          <p:cNvSpPr txBox="1">
            <a:spLocks noGrp="1"/>
          </p:cNvSpPr>
          <p:nvPr>
            <p:ph type="body" idx="1"/>
          </p:nvPr>
        </p:nvSpPr>
        <p:spPr>
          <a:xfrm rot="5400000">
            <a:off x="2874764" y="-1217413"/>
            <a:ext cx="3394472" cy="82296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56" name="Google Shape;56;p8"/>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59"/>
        <p:cNvGrpSpPr/>
        <p:nvPr/>
      </p:nvGrpSpPr>
      <p:grpSpPr>
        <a:xfrm>
          <a:off x="0" y="0"/>
          <a:ext cx="0" cy="0"/>
          <a:chOff x="0" y="0"/>
          <a:chExt cx="0" cy="0"/>
        </a:xfrm>
      </p:grpSpPr>
      <p:sp>
        <p:nvSpPr>
          <p:cNvPr id="60" name="Google Shape;60;p9"/>
          <p:cNvSpPr txBox="1">
            <a:spLocks noGrp="1"/>
          </p:cNvSpPr>
          <p:nvPr>
            <p:ph type="title"/>
          </p:nvPr>
        </p:nvSpPr>
        <p:spPr>
          <a:xfrm rot="5400000">
            <a:off x="6012656" y="771525"/>
            <a:ext cx="3290888" cy="2057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9"/>
          <p:cNvSpPr txBox="1">
            <a:spLocks noGrp="1"/>
          </p:cNvSpPr>
          <p:nvPr>
            <p:ph type="body" idx="1"/>
          </p:nvPr>
        </p:nvSpPr>
        <p:spPr>
          <a:xfrm rot="5400000">
            <a:off x="1821656" y="-1209675"/>
            <a:ext cx="3290888" cy="6019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62" name="Google Shape;62;p9"/>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0"/>
          <p:cNvSpPr txBox="1">
            <a:spLocks noGrp="1"/>
          </p:cNvSpPr>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2000" b="1"/>
              <a:t>M.Sc. - Cyber Forensics &amp; Information Security</a:t>
            </a:r>
            <a:br>
              <a:rPr lang="en-IN" sz="1800"/>
            </a:br>
            <a:endParaRPr sz="1800"/>
          </a:p>
        </p:txBody>
      </p:sp>
      <p:sp>
        <p:nvSpPr>
          <p:cNvPr id="70" name="Google Shape;70;p10"/>
          <p:cNvSpPr txBox="1">
            <a:spLocks noGrp="1"/>
          </p:cNvSpPr>
          <p:nvPr>
            <p:ph type="body" idx="1"/>
          </p:nvPr>
        </p:nvSpPr>
        <p:spPr>
          <a:xfrm>
            <a:off x="457200" y="783772"/>
            <a:ext cx="8229600" cy="3810852"/>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360"/>
              </a:spcBef>
              <a:spcAft>
                <a:spcPts val="0"/>
              </a:spcAft>
              <a:buSzPts val="1800"/>
              <a:buNone/>
            </a:pPr>
            <a:endParaRPr sz="1200" b="1" dirty="0"/>
          </a:p>
          <a:p>
            <a:pPr marL="457200" lvl="0" indent="-228600" algn="l" rtl="0">
              <a:lnSpc>
                <a:spcPct val="100000"/>
              </a:lnSpc>
              <a:spcBef>
                <a:spcPts val="360"/>
              </a:spcBef>
              <a:spcAft>
                <a:spcPts val="0"/>
              </a:spcAft>
              <a:buSzPts val="1800"/>
              <a:buNone/>
            </a:pPr>
            <a:endParaRPr sz="1200" b="1" dirty="0"/>
          </a:p>
          <a:p>
            <a:pPr marL="457200" lvl="0" indent="-228600" algn="l" rtl="0">
              <a:lnSpc>
                <a:spcPct val="100000"/>
              </a:lnSpc>
              <a:spcBef>
                <a:spcPts val="360"/>
              </a:spcBef>
              <a:spcAft>
                <a:spcPts val="0"/>
              </a:spcAft>
              <a:buSzPts val="1800"/>
              <a:buNone/>
            </a:pPr>
            <a:endParaRPr sz="1200" b="1" dirty="0"/>
          </a:p>
          <a:p>
            <a:pPr marL="457200" lvl="0" indent="-228600" algn="l" rtl="0">
              <a:lnSpc>
                <a:spcPct val="100000"/>
              </a:lnSpc>
              <a:spcBef>
                <a:spcPts val="360"/>
              </a:spcBef>
              <a:spcAft>
                <a:spcPts val="0"/>
              </a:spcAft>
              <a:buSzPts val="1800"/>
              <a:buNone/>
            </a:pPr>
            <a:endParaRPr sz="1200" b="1" dirty="0"/>
          </a:p>
          <a:p>
            <a:pPr marL="114300" lvl="0" indent="0" algn="ctr" rtl="0">
              <a:lnSpc>
                <a:spcPct val="100000"/>
              </a:lnSpc>
              <a:spcBef>
                <a:spcPts val="360"/>
              </a:spcBef>
              <a:spcAft>
                <a:spcPts val="0"/>
              </a:spcAft>
              <a:buSzPts val="1800"/>
              <a:buNone/>
            </a:pPr>
            <a:r>
              <a:rPr lang="en-IN" sz="4000" b="1" dirty="0"/>
              <a:t>SESSION ON </a:t>
            </a:r>
            <a:endParaRPr dirty="0"/>
          </a:p>
          <a:p>
            <a:pPr marL="114300" lvl="0" indent="0" algn="ctr" rtl="0">
              <a:lnSpc>
                <a:spcPct val="100000"/>
              </a:lnSpc>
              <a:spcBef>
                <a:spcPts val="360"/>
              </a:spcBef>
              <a:spcAft>
                <a:spcPts val="0"/>
              </a:spcAft>
              <a:buSzPts val="1800"/>
              <a:buNone/>
            </a:pPr>
            <a:r>
              <a:rPr lang="en-IN" sz="4000" b="1" dirty="0"/>
              <a:t>BFSI FRAUDS &amp; COUNTERMEASURES</a:t>
            </a:r>
            <a:endParaRPr dirty="0"/>
          </a:p>
          <a:p>
            <a:pPr marL="114300" lvl="0" indent="0" algn="l" rtl="0">
              <a:lnSpc>
                <a:spcPct val="100000"/>
              </a:lnSpc>
              <a:spcBef>
                <a:spcPts val="360"/>
              </a:spcBef>
              <a:spcAft>
                <a:spcPts val="0"/>
              </a:spcAft>
              <a:buSzPts val="1800"/>
              <a:buNone/>
            </a:pPr>
            <a:endParaRPr dirty="0"/>
          </a:p>
          <a:p>
            <a:pPr marL="114300" lvl="0" indent="0" algn="l" rtl="0">
              <a:lnSpc>
                <a:spcPct val="100000"/>
              </a:lnSpc>
              <a:spcBef>
                <a:spcPts val="360"/>
              </a:spcBef>
              <a:spcAft>
                <a:spcPts val="0"/>
              </a:spcAft>
              <a:buSzPts val="1800"/>
              <a:buNone/>
            </a:pPr>
            <a:endParaRPr dirty="0"/>
          </a:p>
        </p:txBody>
      </p:sp>
      <p:sp>
        <p:nvSpPr>
          <p:cNvPr id="71" name="Google Shape;71;p10"/>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1"/>
          <p:cNvSpPr txBox="1">
            <a:spLocks noGrp="1"/>
          </p:cNvSpPr>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COMPUTERISED INFORMATION SYSTEM FOR BANKS (BIS)</a:t>
            </a:r>
            <a:endParaRPr sz="1800"/>
          </a:p>
        </p:txBody>
      </p:sp>
      <p:sp>
        <p:nvSpPr>
          <p:cNvPr id="77" name="Google Shape;77;p11"/>
          <p:cNvSpPr txBox="1">
            <a:spLocks noGrp="1"/>
          </p:cNvSpPr>
          <p:nvPr>
            <p:ph type="body" idx="1"/>
          </p:nvPr>
        </p:nvSpPr>
        <p:spPr>
          <a:xfrm>
            <a:off x="457200" y="783772"/>
            <a:ext cx="8229600" cy="3810852"/>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400" b="1" dirty="0"/>
              <a:t>Overview</a:t>
            </a:r>
            <a:endParaRPr dirty="0"/>
          </a:p>
          <a:p>
            <a:pPr marL="457200" lvl="0" indent="-342900" algn="l" rtl="0">
              <a:lnSpc>
                <a:spcPct val="100000"/>
              </a:lnSpc>
              <a:spcBef>
                <a:spcPts val="360"/>
              </a:spcBef>
              <a:spcAft>
                <a:spcPts val="0"/>
              </a:spcAft>
              <a:buSzPts val="1800"/>
              <a:buChar char="•"/>
            </a:pPr>
            <a:r>
              <a:rPr lang="en-IN" sz="1200" dirty="0"/>
              <a:t>SDLC</a:t>
            </a:r>
            <a:endParaRPr dirty="0"/>
          </a:p>
          <a:p>
            <a:pPr marL="457200" lvl="0" indent="-342900" algn="l" rtl="0">
              <a:lnSpc>
                <a:spcPct val="100000"/>
              </a:lnSpc>
              <a:spcBef>
                <a:spcPts val="360"/>
              </a:spcBef>
              <a:spcAft>
                <a:spcPts val="0"/>
              </a:spcAft>
              <a:buSzPts val="1800"/>
              <a:buChar char="•"/>
            </a:pPr>
            <a:r>
              <a:rPr lang="en-IN" sz="1200" dirty="0"/>
              <a:t>MIS for Banks</a:t>
            </a:r>
            <a:endParaRPr dirty="0"/>
          </a:p>
          <a:p>
            <a:pPr marL="457200" lvl="0" indent="-342900" algn="l" rtl="0">
              <a:lnSpc>
                <a:spcPct val="100000"/>
              </a:lnSpc>
              <a:spcBef>
                <a:spcPts val="360"/>
              </a:spcBef>
              <a:spcAft>
                <a:spcPts val="0"/>
              </a:spcAft>
              <a:buSzPts val="1800"/>
              <a:buChar char="•"/>
            </a:pPr>
            <a:r>
              <a:rPr lang="en-IN" sz="1200" dirty="0"/>
              <a:t>LAN Model</a:t>
            </a:r>
            <a:endParaRPr dirty="0"/>
          </a:p>
          <a:p>
            <a:pPr marL="457200" lvl="0" indent="-342900" algn="l" rtl="0">
              <a:lnSpc>
                <a:spcPct val="100000"/>
              </a:lnSpc>
              <a:spcBef>
                <a:spcPts val="360"/>
              </a:spcBef>
              <a:spcAft>
                <a:spcPts val="0"/>
              </a:spcAft>
              <a:buSzPts val="1800"/>
              <a:buChar char="•"/>
            </a:pPr>
            <a:r>
              <a:rPr lang="en-IN" sz="1200" dirty="0"/>
              <a:t>Architecture</a:t>
            </a:r>
            <a:endParaRPr dirty="0"/>
          </a:p>
          <a:p>
            <a:pPr marL="457200" lvl="0" indent="-342900" algn="l" rtl="0">
              <a:lnSpc>
                <a:spcPct val="100000"/>
              </a:lnSpc>
              <a:spcBef>
                <a:spcPts val="360"/>
              </a:spcBef>
              <a:spcAft>
                <a:spcPts val="0"/>
              </a:spcAft>
              <a:buSzPts val="1800"/>
              <a:buChar char="•"/>
            </a:pPr>
            <a:r>
              <a:rPr lang="en-IN" sz="1200" dirty="0"/>
              <a:t>Banking Software </a:t>
            </a:r>
            <a:endParaRPr dirty="0"/>
          </a:p>
          <a:p>
            <a:pPr marL="457200" lvl="0" indent="-342900" algn="l" rtl="0">
              <a:lnSpc>
                <a:spcPct val="100000"/>
              </a:lnSpc>
              <a:spcBef>
                <a:spcPts val="360"/>
              </a:spcBef>
              <a:spcAft>
                <a:spcPts val="0"/>
              </a:spcAft>
              <a:buSzPts val="1800"/>
              <a:buChar char="•"/>
            </a:pPr>
            <a:r>
              <a:rPr lang="en-IN" sz="1200" dirty="0"/>
              <a:t>Core Banking System (CBS) </a:t>
            </a:r>
            <a:endParaRPr dirty="0"/>
          </a:p>
          <a:p>
            <a:pPr marL="457200" lvl="0" indent="-342900" algn="l" rtl="0">
              <a:lnSpc>
                <a:spcPct val="100000"/>
              </a:lnSpc>
              <a:spcBef>
                <a:spcPts val="360"/>
              </a:spcBef>
              <a:spcAft>
                <a:spcPts val="0"/>
              </a:spcAft>
              <a:buSzPts val="1800"/>
              <a:buChar char="•"/>
            </a:pPr>
            <a:r>
              <a:rPr lang="en-IN" sz="1200" dirty="0"/>
              <a:t>CBS Security and control Structure </a:t>
            </a:r>
            <a:endParaRPr dirty="0"/>
          </a:p>
          <a:p>
            <a:pPr marL="114300" lvl="0" indent="0" algn="l" rtl="0">
              <a:lnSpc>
                <a:spcPct val="100000"/>
              </a:lnSpc>
              <a:spcBef>
                <a:spcPts val="360"/>
              </a:spcBef>
              <a:spcAft>
                <a:spcPts val="0"/>
              </a:spcAft>
              <a:buSzPts val="1800"/>
              <a:buNone/>
            </a:pPr>
            <a:r>
              <a:rPr lang="en-IN" sz="1400" b="1"/>
              <a:t> Introduction</a:t>
            </a:r>
            <a:endParaRPr dirty="0"/>
          </a:p>
          <a:p>
            <a:pPr marL="457200" lvl="0" indent="-342900" algn="l" rtl="0">
              <a:lnSpc>
                <a:spcPct val="100000"/>
              </a:lnSpc>
              <a:spcBef>
                <a:spcPts val="360"/>
              </a:spcBef>
              <a:spcAft>
                <a:spcPts val="0"/>
              </a:spcAft>
              <a:buClr>
                <a:schemeClr val="dk1"/>
              </a:buClr>
              <a:buSzPts val="1800"/>
              <a:buChar char="•"/>
            </a:pPr>
            <a:r>
              <a:rPr lang="en-IN" sz="1200" dirty="0"/>
              <a:t>2.1 Systems Development Life Cycle  </a:t>
            </a:r>
            <a:r>
              <a:rPr lang="en-IN" sz="1200" b="1" dirty="0"/>
              <a:t>(SLDC)</a:t>
            </a:r>
            <a:r>
              <a:rPr lang="en-IN" sz="1200" dirty="0"/>
              <a:t>    2.2 MIS  for Banks </a:t>
            </a:r>
            <a:endParaRPr dirty="0"/>
          </a:p>
          <a:p>
            <a:pPr marL="457200" lvl="0" indent="-342900" algn="l" rtl="0">
              <a:lnSpc>
                <a:spcPct val="100000"/>
              </a:lnSpc>
              <a:spcBef>
                <a:spcPts val="360"/>
              </a:spcBef>
              <a:spcAft>
                <a:spcPts val="0"/>
              </a:spcAft>
              <a:buClr>
                <a:schemeClr val="dk1"/>
              </a:buClr>
              <a:buSzPts val="1800"/>
              <a:buChar char="•"/>
            </a:pPr>
            <a:r>
              <a:rPr lang="en-IN" sz="1200" dirty="0"/>
              <a:t>2.3 Accounting Information Systems for Banks   2.4 Architecture of bank branch computerization </a:t>
            </a:r>
            <a:endParaRPr dirty="0"/>
          </a:p>
          <a:p>
            <a:pPr marL="457200" lvl="0" indent="-342900" algn="l" rtl="0">
              <a:lnSpc>
                <a:spcPct val="100000"/>
              </a:lnSpc>
              <a:spcBef>
                <a:spcPts val="360"/>
              </a:spcBef>
              <a:spcAft>
                <a:spcPts val="0"/>
              </a:spcAft>
              <a:buClr>
                <a:schemeClr val="dk1"/>
              </a:buClr>
              <a:buSzPts val="1800"/>
              <a:buChar char="•"/>
            </a:pPr>
            <a:r>
              <a:rPr lang="en-IN" sz="1200" dirty="0"/>
              <a:t>2.5 The Model of Mini-compute with Multi-Termini Systems </a:t>
            </a:r>
            <a:endParaRPr dirty="0"/>
          </a:p>
          <a:p>
            <a:pPr marL="457200" lvl="0" indent="-342900" algn="l" rtl="0">
              <a:lnSpc>
                <a:spcPct val="100000"/>
              </a:lnSpc>
              <a:spcBef>
                <a:spcPts val="360"/>
              </a:spcBef>
              <a:spcAft>
                <a:spcPts val="0"/>
              </a:spcAft>
              <a:buClr>
                <a:schemeClr val="dk1"/>
              </a:buClr>
              <a:buSzPts val="1800"/>
              <a:buChar char="•"/>
            </a:pPr>
            <a:r>
              <a:rPr lang="en-IN" sz="1200" dirty="0"/>
              <a:t>2.6 Minicomputer systems with a Multi terminal – software Architecture</a:t>
            </a:r>
            <a:endParaRPr dirty="0"/>
          </a:p>
          <a:p>
            <a:pPr marL="457200" lvl="0" indent="-342900" algn="l" rtl="0">
              <a:lnSpc>
                <a:spcPct val="100000"/>
              </a:lnSpc>
              <a:spcBef>
                <a:spcPts val="360"/>
              </a:spcBef>
              <a:spcAft>
                <a:spcPts val="0"/>
              </a:spcAft>
              <a:buClr>
                <a:schemeClr val="dk1"/>
              </a:buClr>
              <a:buSzPts val="1800"/>
              <a:buChar char="•"/>
            </a:pPr>
            <a:r>
              <a:rPr lang="en-IN" sz="1200" dirty="0"/>
              <a:t>2.7 LAN Model </a:t>
            </a:r>
            <a:endParaRPr dirty="0"/>
          </a:p>
          <a:p>
            <a:pPr marL="457200" lvl="0" indent="-342900" algn="l" rtl="0">
              <a:lnSpc>
                <a:spcPct val="100000"/>
              </a:lnSpc>
              <a:spcBef>
                <a:spcPts val="360"/>
              </a:spcBef>
              <a:spcAft>
                <a:spcPts val="0"/>
              </a:spcAft>
              <a:buClr>
                <a:schemeClr val="dk1"/>
              </a:buClr>
              <a:buSzPts val="1800"/>
              <a:buChar char="•"/>
            </a:pPr>
            <a:r>
              <a:rPr lang="en-IN" sz="1200" dirty="0"/>
              <a:t>2.8 Banking software </a:t>
            </a:r>
            <a:endParaRPr dirty="0"/>
          </a:p>
          <a:p>
            <a:pPr marL="457200" lvl="0" indent="-342900" algn="l" rtl="0">
              <a:lnSpc>
                <a:spcPct val="100000"/>
              </a:lnSpc>
              <a:spcBef>
                <a:spcPts val="360"/>
              </a:spcBef>
              <a:spcAft>
                <a:spcPts val="0"/>
              </a:spcAft>
              <a:buClr>
                <a:schemeClr val="dk1"/>
              </a:buClr>
              <a:buSzPts val="1800"/>
              <a:buChar char="•"/>
            </a:pPr>
            <a:r>
              <a:rPr lang="en-IN" sz="1200" dirty="0"/>
              <a:t>2.9 Core Banking Systems.</a:t>
            </a:r>
            <a:endParaRPr dirty="0"/>
          </a:p>
          <a:p>
            <a:pPr marL="457200" lvl="0" indent="-228600" algn="l" rtl="0">
              <a:lnSpc>
                <a:spcPct val="100000"/>
              </a:lnSpc>
              <a:spcBef>
                <a:spcPts val="360"/>
              </a:spcBef>
              <a:spcAft>
                <a:spcPts val="0"/>
              </a:spcAft>
              <a:buSzPts val="1800"/>
              <a:buNone/>
            </a:pPr>
            <a:endParaRPr sz="1200" b="1" dirty="0"/>
          </a:p>
          <a:p>
            <a:pPr marL="114300" lvl="0" indent="0" algn="l" rtl="0">
              <a:lnSpc>
                <a:spcPct val="100000"/>
              </a:lnSpc>
              <a:spcBef>
                <a:spcPts val="360"/>
              </a:spcBef>
              <a:spcAft>
                <a:spcPts val="0"/>
              </a:spcAft>
              <a:buSzPts val="1800"/>
              <a:buNone/>
            </a:pPr>
            <a:endParaRPr dirty="0"/>
          </a:p>
        </p:txBody>
      </p:sp>
      <p:sp>
        <p:nvSpPr>
          <p:cNvPr id="78" name="Google Shape;78;p11"/>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2"/>
          <p:cNvSpPr txBox="1">
            <a:spLocks noGrp="1"/>
          </p:cNvSpPr>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COMPUTERISED INFORMATION SYSTEM FOR BANKS (BIS)</a:t>
            </a:r>
            <a:endParaRPr/>
          </a:p>
        </p:txBody>
      </p:sp>
      <p:sp>
        <p:nvSpPr>
          <p:cNvPr id="84" name="Google Shape;84;p12"/>
          <p:cNvSpPr txBox="1">
            <a:spLocks noGrp="1"/>
          </p:cNvSpPr>
          <p:nvPr>
            <p:ph type="body" idx="1"/>
          </p:nvPr>
        </p:nvSpPr>
        <p:spPr>
          <a:xfrm>
            <a:off x="457200" y="783772"/>
            <a:ext cx="8229600" cy="3872204"/>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200" b="1"/>
              <a:t>2. Introduction</a:t>
            </a:r>
            <a:endParaRPr/>
          </a:p>
          <a:p>
            <a:pPr marL="457200" lvl="0" indent="-342900" algn="l" rtl="0">
              <a:lnSpc>
                <a:spcPct val="100000"/>
              </a:lnSpc>
              <a:spcBef>
                <a:spcPts val="360"/>
              </a:spcBef>
              <a:spcAft>
                <a:spcPts val="0"/>
              </a:spcAft>
              <a:buSzPts val="1800"/>
              <a:buChar char="•"/>
            </a:pPr>
            <a:r>
              <a:rPr lang="en-IN" sz="1200"/>
              <a:t>Pre-Nationalisation </a:t>
            </a:r>
            <a:endParaRPr sz="1200"/>
          </a:p>
          <a:p>
            <a:pPr marL="457200" lvl="0" indent="-342900" algn="l" rtl="0">
              <a:lnSpc>
                <a:spcPct val="100000"/>
              </a:lnSpc>
              <a:spcBef>
                <a:spcPts val="360"/>
              </a:spcBef>
              <a:spcAft>
                <a:spcPts val="0"/>
              </a:spcAft>
              <a:buSzPts val="1800"/>
              <a:buChar char="•"/>
            </a:pPr>
            <a:r>
              <a:rPr lang="en-IN" sz="1200"/>
              <a:t>Post Nationalisation upto 1990s mid</a:t>
            </a:r>
            <a:endParaRPr/>
          </a:p>
          <a:p>
            <a:pPr marL="457200" lvl="0" indent="-342900" algn="l" rtl="0">
              <a:lnSpc>
                <a:spcPct val="100000"/>
              </a:lnSpc>
              <a:spcBef>
                <a:spcPts val="360"/>
              </a:spcBef>
              <a:spcAft>
                <a:spcPts val="0"/>
              </a:spcAft>
              <a:buSzPts val="1800"/>
              <a:buChar char="•"/>
            </a:pPr>
            <a:r>
              <a:rPr lang="en-IN" sz="1200"/>
              <a:t>Post Nationalisation subsequently – Present</a:t>
            </a:r>
            <a:endParaRPr/>
          </a:p>
          <a:p>
            <a:pPr marL="457200" lvl="0" indent="-342900" algn="l" rtl="0">
              <a:lnSpc>
                <a:spcPct val="100000"/>
              </a:lnSpc>
              <a:spcBef>
                <a:spcPts val="360"/>
              </a:spcBef>
              <a:spcAft>
                <a:spcPts val="0"/>
              </a:spcAft>
              <a:buSzPts val="1800"/>
              <a:buChar char="•"/>
            </a:pPr>
            <a:r>
              <a:rPr lang="en-IN" sz="1200"/>
              <a:t>Around 4500 + in 1999 and around 8000 in 2000 – Presently almost all – but many items were still without in CBS</a:t>
            </a:r>
            <a:endParaRPr/>
          </a:p>
          <a:p>
            <a:pPr marL="114300" lvl="0" indent="0" algn="l" rtl="0">
              <a:lnSpc>
                <a:spcPct val="100000"/>
              </a:lnSpc>
              <a:spcBef>
                <a:spcPts val="360"/>
              </a:spcBef>
              <a:spcAft>
                <a:spcPts val="0"/>
              </a:spcAft>
              <a:buSzPts val="1800"/>
              <a:buNone/>
            </a:pPr>
            <a:endParaRPr sz="1200"/>
          </a:p>
          <a:p>
            <a:pPr marL="114300" lvl="0" indent="0" algn="l" rtl="0">
              <a:lnSpc>
                <a:spcPct val="100000"/>
              </a:lnSpc>
              <a:spcBef>
                <a:spcPts val="360"/>
              </a:spcBef>
              <a:spcAft>
                <a:spcPts val="0"/>
              </a:spcAft>
              <a:buSzPts val="1800"/>
              <a:buNone/>
            </a:pPr>
            <a:r>
              <a:rPr lang="en-IN" sz="1200" b="1"/>
              <a:t>2.1 Systems Development Life Cycle </a:t>
            </a:r>
            <a:endParaRPr sz="1200" b="1"/>
          </a:p>
          <a:p>
            <a:pPr marL="457200" lvl="0" indent="-342900" algn="l" rtl="0">
              <a:lnSpc>
                <a:spcPct val="100000"/>
              </a:lnSpc>
              <a:spcBef>
                <a:spcPts val="360"/>
              </a:spcBef>
              <a:spcAft>
                <a:spcPts val="0"/>
              </a:spcAft>
              <a:buClr>
                <a:schemeClr val="dk1"/>
              </a:buClr>
              <a:buSzPts val="1800"/>
              <a:buChar char="•"/>
            </a:pPr>
            <a:r>
              <a:rPr lang="en-IN" sz="1200"/>
              <a:t>Like human like Computerisation system also requires changes as and when needed and according to the requirement of the end-users</a:t>
            </a:r>
            <a:endParaRPr/>
          </a:p>
          <a:p>
            <a:pPr marL="457200" lvl="0" indent="-228600" algn="l" rtl="0">
              <a:lnSpc>
                <a:spcPct val="100000"/>
              </a:lnSpc>
              <a:spcBef>
                <a:spcPts val="360"/>
              </a:spcBef>
              <a:spcAft>
                <a:spcPts val="0"/>
              </a:spcAft>
              <a:buClr>
                <a:schemeClr val="dk1"/>
              </a:buClr>
              <a:buSzPts val="1800"/>
              <a:buNone/>
            </a:pPr>
            <a:endParaRPr sz="1200"/>
          </a:p>
          <a:p>
            <a:pPr marL="457200" lvl="0" indent="-342900" algn="l" rtl="0">
              <a:lnSpc>
                <a:spcPct val="100000"/>
              </a:lnSpc>
              <a:spcBef>
                <a:spcPts val="360"/>
              </a:spcBef>
              <a:spcAft>
                <a:spcPts val="0"/>
              </a:spcAft>
              <a:buClr>
                <a:schemeClr val="dk1"/>
              </a:buClr>
              <a:buSzPts val="1800"/>
              <a:buChar char="•"/>
            </a:pPr>
            <a:r>
              <a:rPr lang="en-IN" sz="1200" b="1"/>
              <a:t>2.2 MIS  for Banks </a:t>
            </a:r>
            <a:endParaRPr sz="1200"/>
          </a:p>
          <a:p>
            <a:pPr marL="457200" lvl="0" indent="-342900" algn="l" rtl="0">
              <a:lnSpc>
                <a:spcPct val="100000"/>
              </a:lnSpc>
              <a:spcBef>
                <a:spcPts val="360"/>
              </a:spcBef>
              <a:spcAft>
                <a:spcPts val="0"/>
              </a:spcAft>
              <a:buSzPts val="1800"/>
              <a:buChar char="•"/>
            </a:pPr>
            <a:r>
              <a:rPr lang="en-IN" sz="1200"/>
              <a:t>Management Information System        ……..        </a:t>
            </a:r>
            <a:r>
              <a:rPr lang="en-IN" sz="1200" b="1"/>
              <a:t>Item-war</a:t>
            </a:r>
            <a:r>
              <a:rPr lang="en-IN" sz="1200"/>
              <a:t> – Department-war – Area-wise – Bank as a Total</a:t>
            </a:r>
            <a:endParaRPr/>
          </a:p>
          <a:p>
            <a:pPr marL="457200" lvl="0" indent="-342900" algn="l" rtl="0">
              <a:lnSpc>
                <a:spcPct val="100000"/>
              </a:lnSpc>
              <a:spcBef>
                <a:spcPts val="360"/>
              </a:spcBef>
              <a:spcAft>
                <a:spcPts val="0"/>
              </a:spcAft>
              <a:buSzPts val="1800"/>
              <a:buChar char="•"/>
            </a:pPr>
            <a:r>
              <a:rPr lang="en-IN" sz="1200"/>
              <a:t>Daily – Weekly – Monthly – Quarterly – Half-yearly – Yearly </a:t>
            </a:r>
            <a:endParaRPr/>
          </a:p>
          <a:p>
            <a:pPr marL="457200" lvl="0" indent="-342900" algn="l" rtl="0">
              <a:lnSpc>
                <a:spcPct val="100000"/>
              </a:lnSpc>
              <a:spcBef>
                <a:spcPts val="360"/>
              </a:spcBef>
              <a:spcAft>
                <a:spcPts val="0"/>
              </a:spcAft>
              <a:buSzPts val="1800"/>
              <a:buChar char="•"/>
            </a:pPr>
            <a:r>
              <a:rPr lang="en-IN" sz="1200"/>
              <a:t>To take a quicker decision and to take a needy change according to the Government Policies</a:t>
            </a:r>
            <a:endParaRPr/>
          </a:p>
          <a:p>
            <a:pPr marL="457200" lvl="0" indent="-342900" algn="l" rtl="0">
              <a:lnSpc>
                <a:spcPct val="100000"/>
              </a:lnSpc>
              <a:spcBef>
                <a:spcPts val="360"/>
              </a:spcBef>
              <a:spcAft>
                <a:spcPts val="0"/>
              </a:spcAft>
              <a:buClr>
                <a:schemeClr val="dk1"/>
              </a:buClr>
              <a:buSzPts val="1800"/>
              <a:buChar char="•"/>
            </a:pPr>
            <a:r>
              <a:rPr lang="en-IN" sz="1200"/>
              <a:t>For making profit – Transferency   -     </a:t>
            </a:r>
            <a:r>
              <a:rPr lang="en-IN" sz="1200" b="1"/>
              <a:t>Providing information</a:t>
            </a:r>
            <a:r>
              <a:rPr lang="en-IN" sz="1200"/>
              <a:t> for decision making and accountability to internal and external user      -       </a:t>
            </a:r>
            <a:r>
              <a:rPr lang="en-IN" sz="1200" b="1"/>
              <a:t>Providing</a:t>
            </a:r>
            <a:r>
              <a:rPr lang="en-IN" sz="1200"/>
              <a:t> the right conditions for sound decision making   - </a:t>
            </a:r>
            <a:r>
              <a:rPr lang="en-IN" sz="1200" b="1"/>
              <a:t>Ensuring </a:t>
            </a:r>
            <a:r>
              <a:rPr lang="en-IN" sz="1200"/>
              <a:t>that no assets illegitimately exit the organization.</a:t>
            </a:r>
            <a:endParaRPr/>
          </a:p>
          <a:p>
            <a:pPr marL="457200" lvl="0" indent="-228600" algn="l" rtl="0">
              <a:lnSpc>
                <a:spcPct val="100000"/>
              </a:lnSpc>
              <a:spcBef>
                <a:spcPts val="360"/>
              </a:spcBef>
              <a:spcAft>
                <a:spcPts val="0"/>
              </a:spcAft>
              <a:buSzPts val="1800"/>
              <a:buNone/>
            </a:pPr>
            <a:endParaRPr sz="1200"/>
          </a:p>
          <a:p>
            <a:pPr marL="457200" lvl="0" indent="-228600" algn="l" rtl="0">
              <a:lnSpc>
                <a:spcPct val="100000"/>
              </a:lnSpc>
              <a:spcBef>
                <a:spcPts val="360"/>
              </a:spcBef>
              <a:spcAft>
                <a:spcPts val="0"/>
              </a:spcAft>
              <a:buClr>
                <a:schemeClr val="dk1"/>
              </a:buClr>
              <a:buSzPts val="1800"/>
              <a:buNone/>
            </a:pPr>
            <a:endParaRPr sz="1200"/>
          </a:p>
          <a:p>
            <a:pPr marL="114300" lvl="0" indent="0" algn="l" rtl="0">
              <a:lnSpc>
                <a:spcPct val="100000"/>
              </a:lnSpc>
              <a:spcBef>
                <a:spcPts val="360"/>
              </a:spcBef>
              <a:spcAft>
                <a:spcPts val="0"/>
              </a:spcAft>
              <a:buSzPts val="1800"/>
              <a:buNone/>
            </a:pPr>
            <a:endParaRPr/>
          </a:p>
        </p:txBody>
      </p:sp>
      <p:sp>
        <p:nvSpPr>
          <p:cNvPr id="85" name="Google Shape;85;p12"/>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3"/>
          <p:cNvSpPr txBox="1">
            <a:spLocks noGrp="1"/>
          </p:cNvSpPr>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COMPUTERISED INFORMATION SYSTEM FOR BANKS (BIS)</a:t>
            </a:r>
            <a:endParaRPr/>
          </a:p>
        </p:txBody>
      </p:sp>
      <p:sp>
        <p:nvSpPr>
          <p:cNvPr id="91" name="Google Shape;91;p13"/>
          <p:cNvSpPr txBox="1">
            <a:spLocks noGrp="1"/>
          </p:cNvSpPr>
          <p:nvPr>
            <p:ph type="body" idx="1"/>
          </p:nvPr>
        </p:nvSpPr>
        <p:spPr>
          <a:xfrm>
            <a:off x="457200" y="783772"/>
            <a:ext cx="8229600" cy="3810852"/>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200"/>
              <a:t>Page 34 Figure 2.1 is explaining the methodology</a:t>
            </a:r>
            <a:endParaRPr/>
          </a:p>
          <a:p>
            <a:pPr marL="114300" lvl="0" indent="0" algn="l" rtl="0">
              <a:lnSpc>
                <a:spcPct val="100000"/>
              </a:lnSpc>
              <a:spcBef>
                <a:spcPts val="360"/>
              </a:spcBef>
              <a:spcAft>
                <a:spcPts val="0"/>
              </a:spcAft>
              <a:buSzPts val="1800"/>
              <a:buNone/>
            </a:pPr>
            <a:endParaRPr sz="1200"/>
          </a:p>
          <a:p>
            <a:pPr marL="114300" lvl="0" indent="0" algn="l" rtl="0">
              <a:lnSpc>
                <a:spcPct val="100000"/>
              </a:lnSpc>
              <a:spcBef>
                <a:spcPts val="360"/>
              </a:spcBef>
              <a:spcAft>
                <a:spcPts val="0"/>
              </a:spcAft>
              <a:buSzPts val="1800"/>
              <a:buNone/>
            </a:pPr>
            <a:r>
              <a:rPr lang="en-IN" sz="1200"/>
              <a:t>a)</a:t>
            </a:r>
            <a:r>
              <a:rPr lang="en-IN" sz="1200" b="1"/>
              <a:t>Accounting and Administrative Organization:</a:t>
            </a:r>
            <a:r>
              <a:rPr lang="en-IN" sz="1200"/>
              <a:t> The system of organizational measures with respect to data processing aimed information provision for management entity functionality and accounting purposes.</a:t>
            </a:r>
            <a:endParaRPr/>
          </a:p>
          <a:p>
            <a:pPr marL="114300" lvl="0" indent="0" algn="l" rtl="0">
              <a:lnSpc>
                <a:spcPct val="100000"/>
              </a:lnSpc>
              <a:spcBef>
                <a:spcPts val="360"/>
              </a:spcBef>
              <a:spcAft>
                <a:spcPts val="0"/>
              </a:spcAft>
              <a:buSzPts val="1800"/>
              <a:buNone/>
            </a:pPr>
            <a:endParaRPr sz="1200"/>
          </a:p>
          <a:p>
            <a:pPr marL="114300" lvl="0" indent="0" algn="l" rtl="0">
              <a:lnSpc>
                <a:spcPct val="100000"/>
              </a:lnSpc>
              <a:spcBef>
                <a:spcPts val="360"/>
              </a:spcBef>
              <a:spcAft>
                <a:spcPts val="0"/>
              </a:spcAft>
              <a:buSzPts val="1800"/>
              <a:buNone/>
            </a:pPr>
            <a:r>
              <a:rPr lang="en-IN" sz="1200"/>
              <a:t>b) </a:t>
            </a:r>
            <a:r>
              <a:rPr lang="en-IN" sz="1200" b="1"/>
              <a:t>Managerial Information Provision:</a:t>
            </a:r>
            <a:r>
              <a:rPr lang="en-IN" sz="1200"/>
              <a:t> The system gathering, recording and processing of data aimed at the provision of information for management decisions.</a:t>
            </a:r>
            <a:endParaRPr/>
          </a:p>
          <a:p>
            <a:pPr marL="114300" lvl="0" indent="0" algn="l" rtl="0">
              <a:lnSpc>
                <a:spcPct val="100000"/>
              </a:lnSpc>
              <a:spcBef>
                <a:spcPts val="360"/>
              </a:spcBef>
              <a:spcAft>
                <a:spcPts val="0"/>
              </a:spcAft>
              <a:buSzPts val="1800"/>
              <a:buNone/>
            </a:pPr>
            <a:endParaRPr sz="1200"/>
          </a:p>
          <a:p>
            <a:pPr marL="114300" lvl="0" indent="0" algn="l" rtl="0">
              <a:lnSpc>
                <a:spcPct val="100000"/>
              </a:lnSpc>
              <a:spcBef>
                <a:spcPts val="360"/>
              </a:spcBef>
              <a:spcAft>
                <a:spcPts val="0"/>
              </a:spcAft>
              <a:buSzPts val="1800"/>
              <a:buNone/>
            </a:pPr>
            <a:r>
              <a:rPr lang="en-IN" sz="1200"/>
              <a:t>c) </a:t>
            </a:r>
            <a:r>
              <a:rPr lang="en-IN" sz="1200" b="1"/>
              <a:t>Internal Control: Control of judgments</a:t>
            </a:r>
            <a:r>
              <a:rPr lang="en-IN" sz="1200"/>
              <a:t> and activities of others in so far as control is conducted for the management of the organization by or on behalf of that management.</a:t>
            </a:r>
            <a:endParaRPr/>
          </a:p>
          <a:p>
            <a:pPr marL="114300" lvl="0" indent="0" algn="l" rtl="0">
              <a:lnSpc>
                <a:spcPct val="100000"/>
              </a:lnSpc>
              <a:spcBef>
                <a:spcPts val="360"/>
              </a:spcBef>
              <a:spcAft>
                <a:spcPts val="0"/>
              </a:spcAft>
              <a:buSzPts val="1800"/>
              <a:buNone/>
            </a:pPr>
            <a:endParaRPr sz="1200"/>
          </a:p>
          <a:p>
            <a:pPr marL="114300" lvl="0" indent="0" algn="l" rtl="0">
              <a:lnSpc>
                <a:spcPct val="100000"/>
              </a:lnSpc>
              <a:spcBef>
                <a:spcPts val="360"/>
              </a:spcBef>
              <a:spcAft>
                <a:spcPts val="0"/>
              </a:spcAft>
              <a:buSzPts val="1800"/>
              <a:buNone/>
            </a:pPr>
            <a:r>
              <a:rPr lang="en-IN" sz="1200"/>
              <a:t>d)</a:t>
            </a:r>
            <a:r>
              <a:rPr lang="en-IN" sz="1200" b="1"/>
              <a:t> Information System :</a:t>
            </a:r>
            <a:r>
              <a:rPr lang="en-IN" sz="1200"/>
              <a:t> An information system is an asset of interrelated components working together to collect, retrieve, process, store and disseminate  information for the purpose of facilitating planning, control, coordination, and decision making in businesses and other organizations.</a:t>
            </a:r>
            <a:endParaRPr/>
          </a:p>
          <a:p>
            <a:pPr marL="457200" lvl="0" indent="-228600" algn="l" rtl="0">
              <a:lnSpc>
                <a:spcPct val="100000"/>
              </a:lnSpc>
              <a:spcBef>
                <a:spcPts val="360"/>
              </a:spcBef>
              <a:spcAft>
                <a:spcPts val="0"/>
              </a:spcAft>
              <a:buSzPts val="1800"/>
              <a:buNone/>
            </a:pPr>
            <a:endParaRPr sz="1200" b="1"/>
          </a:p>
          <a:p>
            <a:pPr marL="114300" lvl="0" indent="0" algn="l" rtl="0">
              <a:lnSpc>
                <a:spcPct val="100000"/>
              </a:lnSpc>
              <a:spcBef>
                <a:spcPts val="360"/>
              </a:spcBef>
              <a:spcAft>
                <a:spcPts val="0"/>
              </a:spcAft>
              <a:buSzPts val="1800"/>
              <a:buNone/>
            </a:pPr>
            <a:endParaRPr/>
          </a:p>
        </p:txBody>
      </p:sp>
      <p:sp>
        <p:nvSpPr>
          <p:cNvPr id="92" name="Google Shape;92;p13"/>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4"/>
          <p:cNvSpPr txBox="1">
            <a:spLocks noGrp="1"/>
          </p:cNvSpPr>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COMPUTERISED INFORMATION SYSTEM FOR BANKS (BIS)</a:t>
            </a:r>
            <a:endParaRPr/>
          </a:p>
        </p:txBody>
      </p:sp>
      <p:sp>
        <p:nvSpPr>
          <p:cNvPr id="98" name="Google Shape;98;p14"/>
          <p:cNvSpPr txBox="1">
            <a:spLocks noGrp="1"/>
          </p:cNvSpPr>
          <p:nvPr>
            <p:ph type="body" idx="1"/>
          </p:nvPr>
        </p:nvSpPr>
        <p:spPr>
          <a:xfrm>
            <a:off x="457200" y="783772"/>
            <a:ext cx="8229600" cy="3810852"/>
          </a:xfrm>
          <a:prstGeom prst="rect">
            <a:avLst/>
          </a:prstGeom>
          <a:noFill/>
          <a:ln>
            <a:noFill/>
          </a:ln>
        </p:spPr>
        <p:txBody>
          <a:bodyPr spcFirstLastPara="1" wrap="square" lIns="91425" tIns="45700" rIns="91425" bIns="45700" anchor="t" anchorCtr="0">
            <a:noAutofit/>
          </a:bodyPr>
          <a:lstStyle/>
          <a:p>
            <a:pPr marL="457200" lvl="0" indent="-342900" algn="l" rtl="0">
              <a:lnSpc>
                <a:spcPct val="100000"/>
              </a:lnSpc>
              <a:spcBef>
                <a:spcPts val="360"/>
              </a:spcBef>
              <a:spcAft>
                <a:spcPts val="0"/>
              </a:spcAft>
              <a:buClr>
                <a:schemeClr val="dk1"/>
              </a:buClr>
              <a:buSzPts val="1800"/>
              <a:buChar char="•"/>
            </a:pPr>
            <a:r>
              <a:rPr lang="en-IN" sz="1200" b="1"/>
              <a:t>2.4 Architecture of Bank Branch Computerization</a:t>
            </a:r>
            <a:endParaRPr sz="1200"/>
          </a:p>
          <a:p>
            <a:pPr marL="114300" lvl="0" indent="0" algn="l" rtl="0">
              <a:lnSpc>
                <a:spcPct val="100000"/>
              </a:lnSpc>
              <a:spcBef>
                <a:spcPts val="360"/>
              </a:spcBef>
              <a:spcAft>
                <a:spcPts val="0"/>
              </a:spcAft>
              <a:buSzPts val="1800"/>
              <a:buNone/>
            </a:pPr>
            <a:r>
              <a:rPr lang="en-IN" sz="1200" b="1"/>
              <a:t>a) General approaches:</a:t>
            </a:r>
            <a:r>
              <a:rPr lang="en-IN" sz="1200"/>
              <a:t> </a:t>
            </a:r>
            <a:endParaRPr/>
          </a:p>
          <a:p>
            <a:pPr marL="457200" lvl="0" indent="-342900" algn="l" rtl="0">
              <a:lnSpc>
                <a:spcPct val="100000"/>
              </a:lnSpc>
              <a:spcBef>
                <a:spcPts val="360"/>
              </a:spcBef>
              <a:spcAft>
                <a:spcPts val="0"/>
              </a:spcAft>
              <a:buClr>
                <a:schemeClr val="dk1"/>
              </a:buClr>
              <a:buSzPts val="1800"/>
              <a:buChar char="•"/>
            </a:pPr>
            <a:r>
              <a:rPr lang="en-IN" sz="1200"/>
              <a:t>One of the important aspects of branch automation is to determine the size and type of the computer required at the branch. The computer size or the configuration is specified in terms of memory, disk space, number of terminals, printers etc. All capacity planning is directed towards optimizing throughout during peak loads and maximizing its use during other periods. The hardware architecture will define the parameters to be used in determining the size (capacity). “In banks computerization used hardwaremarchitecture consist of: a) Mini –computers at each branch and multiple terminals b) LAN at the branch with work station and c) ALPMs at the branch”</a:t>
            </a:r>
            <a:endParaRPr/>
          </a:p>
          <a:p>
            <a:pPr marL="114300" lvl="0" indent="0" algn="l" rtl="0">
              <a:lnSpc>
                <a:spcPct val="100000"/>
              </a:lnSpc>
              <a:spcBef>
                <a:spcPts val="360"/>
              </a:spcBef>
              <a:spcAft>
                <a:spcPts val="0"/>
              </a:spcAft>
              <a:buSzPts val="1800"/>
              <a:buNone/>
            </a:pPr>
            <a:r>
              <a:rPr lang="en-IN" sz="1200" b="1"/>
              <a:t>b) Database design: The database design can be classified as follows:</a:t>
            </a:r>
            <a:r>
              <a:rPr lang="en-IN" sz="1200"/>
              <a:t> </a:t>
            </a:r>
            <a:endParaRPr/>
          </a:p>
          <a:p>
            <a:pPr marL="457200" lvl="0" indent="-342900" algn="l" rtl="0">
              <a:lnSpc>
                <a:spcPct val="100000"/>
              </a:lnSpc>
              <a:spcBef>
                <a:spcPts val="360"/>
              </a:spcBef>
              <a:spcAft>
                <a:spcPts val="0"/>
              </a:spcAft>
              <a:buClr>
                <a:schemeClr val="dk1"/>
              </a:buClr>
              <a:buSzPts val="1800"/>
              <a:buChar char="•"/>
            </a:pPr>
            <a:r>
              <a:rPr lang="en-IN" sz="1200"/>
              <a:t>i) Common Databases </a:t>
            </a:r>
            <a:endParaRPr/>
          </a:p>
          <a:p>
            <a:pPr marL="457200" lvl="0" indent="-342900" algn="l" rtl="0">
              <a:lnSpc>
                <a:spcPct val="100000"/>
              </a:lnSpc>
              <a:spcBef>
                <a:spcPts val="360"/>
              </a:spcBef>
              <a:spcAft>
                <a:spcPts val="0"/>
              </a:spcAft>
              <a:buClr>
                <a:schemeClr val="dk1"/>
              </a:buClr>
              <a:buSzPts val="1800"/>
              <a:buChar char="•"/>
            </a:pPr>
            <a:r>
              <a:rPr lang="en-IN" sz="1200"/>
              <a:t>ii) Individual Functional Area Databases  &amp;</a:t>
            </a:r>
            <a:endParaRPr/>
          </a:p>
          <a:p>
            <a:pPr marL="0" lvl="0" indent="0" algn="l" rtl="0">
              <a:lnSpc>
                <a:spcPct val="100000"/>
              </a:lnSpc>
              <a:spcBef>
                <a:spcPts val="360"/>
              </a:spcBef>
              <a:spcAft>
                <a:spcPts val="0"/>
              </a:spcAft>
              <a:buNone/>
            </a:pPr>
            <a:endParaRPr sz="1200"/>
          </a:p>
          <a:p>
            <a:pPr marL="0" lvl="0" indent="0" algn="l" rtl="0">
              <a:lnSpc>
                <a:spcPct val="100000"/>
              </a:lnSpc>
              <a:spcBef>
                <a:spcPts val="360"/>
              </a:spcBef>
              <a:spcAft>
                <a:spcPts val="0"/>
              </a:spcAft>
              <a:buNone/>
            </a:pPr>
            <a:r>
              <a:rPr lang="en-IN" sz="1200" b="1"/>
              <a:t>Common Databases  </a:t>
            </a:r>
            <a:r>
              <a:rPr lang="en-IN" sz="1200"/>
              <a:t>This type of data base contain particular information which is frequently required for both transaction posting as well as other services like query, Management Information System (MIS) various transaction detail</a:t>
            </a:r>
            <a:r>
              <a:rPr lang="en-IN" sz="1200" b="1"/>
              <a:t>s</a:t>
            </a:r>
            <a:endParaRPr sz="1200" b="1"/>
          </a:p>
          <a:p>
            <a:pPr marL="0" lvl="0" indent="0" algn="l" rtl="0">
              <a:lnSpc>
                <a:spcPct val="100000"/>
              </a:lnSpc>
              <a:spcBef>
                <a:spcPts val="360"/>
              </a:spcBef>
              <a:spcAft>
                <a:spcPts val="0"/>
              </a:spcAft>
              <a:buNone/>
            </a:pPr>
            <a:r>
              <a:rPr lang="en-IN" sz="1200" b="1"/>
              <a:t>Individual Functional Area Databases </a:t>
            </a:r>
            <a:r>
              <a:rPr lang="en-IN" sz="1200"/>
              <a:t>Data base about detailed information about each functional area.</a:t>
            </a:r>
            <a:endParaRPr sz="1200"/>
          </a:p>
          <a:p>
            <a:pPr marL="0" lvl="0" indent="0" algn="l" rtl="0">
              <a:lnSpc>
                <a:spcPct val="100000"/>
              </a:lnSpc>
              <a:spcBef>
                <a:spcPts val="360"/>
              </a:spcBef>
              <a:spcAft>
                <a:spcPts val="0"/>
              </a:spcAft>
              <a:buNone/>
            </a:pPr>
            <a:endParaRPr sz="1200"/>
          </a:p>
          <a:p>
            <a:pPr marL="114300" lvl="0" indent="0" algn="l" rtl="0">
              <a:lnSpc>
                <a:spcPct val="100000"/>
              </a:lnSpc>
              <a:spcBef>
                <a:spcPts val="360"/>
              </a:spcBef>
              <a:spcAft>
                <a:spcPts val="0"/>
              </a:spcAft>
              <a:buSzPts val="1800"/>
              <a:buNone/>
            </a:pPr>
            <a:endParaRPr/>
          </a:p>
        </p:txBody>
      </p:sp>
      <p:sp>
        <p:nvSpPr>
          <p:cNvPr id="99" name="Google Shape;99;p14"/>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5"/>
          <p:cNvSpPr txBox="1">
            <a:spLocks noGrp="1"/>
          </p:cNvSpPr>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COMPUTERISED INFORMATION SYSTEM FOR BANKS (BIS)</a:t>
            </a:r>
            <a:endParaRPr/>
          </a:p>
        </p:txBody>
      </p:sp>
      <p:sp>
        <p:nvSpPr>
          <p:cNvPr id="105" name="Google Shape;105;p15"/>
          <p:cNvSpPr txBox="1">
            <a:spLocks noGrp="1"/>
          </p:cNvSpPr>
          <p:nvPr>
            <p:ph type="body" idx="1"/>
          </p:nvPr>
        </p:nvSpPr>
        <p:spPr>
          <a:xfrm>
            <a:off x="457200" y="783772"/>
            <a:ext cx="8229600" cy="3810852"/>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200" b="1"/>
              <a:t>2.5 The Model of Mini-computer with Multi-Terminal System</a:t>
            </a:r>
            <a:endParaRPr/>
          </a:p>
          <a:p>
            <a:pPr marL="457200" lvl="0" indent="-342900" algn="l" rtl="0">
              <a:lnSpc>
                <a:spcPct val="100000"/>
              </a:lnSpc>
              <a:spcBef>
                <a:spcPts val="360"/>
              </a:spcBef>
              <a:spcAft>
                <a:spcPts val="0"/>
              </a:spcAft>
              <a:buClr>
                <a:schemeClr val="dk1"/>
              </a:buClr>
              <a:buSzPts val="1800"/>
              <a:buChar char="•"/>
            </a:pPr>
            <a:r>
              <a:rPr lang="en-IN" sz="1200"/>
              <a:t>“In the minicomputer with multiple terminals at branch where a customer will be served at any terminal with any type of transactions and other services. The module uses single window concepts, i.e. all modules or functional areas can be operated through one window. The configuration required for this model is: N number of terminals depending upon the work-load distribution (i.e., number of terminates at counters, back-office, authorization, development, etc.) connected to a main host computer. The intelligent terminals connected may have a hard disk for off-loading the data at the end of the day for back-up purposes.” The operator can access all functional areas of the branch from any terminals. Any type of service can be obtained by the customer from any terminal. This eliminates the formation of queues at the counters.</a:t>
            </a:r>
            <a:endParaRPr/>
          </a:p>
          <a:p>
            <a:pPr marL="114300" lvl="0" indent="0" algn="l" rtl="0">
              <a:lnSpc>
                <a:spcPct val="100000"/>
              </a:lnSpc>
              <a:spcBef>
                <a:spcPts val="360"/>
              </a:spcBef>
              <a:spcAft>
                <a:spcPts val="0"/>
              </a:spcAft>
              <a:buSzPts val="1800"/>
              <a:buNone/>
            </a:pPr>
            <a:r>
              <a:rPr lang="en-IN" sz="1200"/>
              <a:t>          </a:t>
            </a:r>
            <a:r>
              <a:rPr lang="en-IN" sz="1200" b="1" u="sng">
                <a:solidFill>
                  <a:srgbClr val="00B050"/>
                </a:solidFill>
              </a:rPr>
              <a:t>(Refer Page No.36 and 37 Figure 2.2: Multi-Terminal System and Figure 2.3)</a:t>
            </a:r>
            <a:endParaRPr/>
          </a:p>
          <a:p>
            <a:pPr marL="114300" lvl="0" indent="0" algn="l" rtl="0">
              <a:lnSpc>
                <a:spcPct val="100000"/>
              </a:lnSpc>
              <a:spcBef>
                <a:spcPts val="360"/>
              </a:spcBef>
              <a:spcAft>
                <a:spcPts val="0"/>
              </a:spcAft>
              <a:buSzPts val="1800"/>
              <a:buNone/>
            </a:pPr>
            <a:endParaRPr sz="1200"/>
          </a:p>
          <a:p>
            <a:pPr marL="114300" lvl="0" indent="0" algn="l" rtl="0">
              <a:lnSpc>
                <a:spcPct val="100000"/>
              </a:lnSpc>
              <a:spcBef>
                <a:spcPts val="360"/>
              </a:spcBef>
              <a:spcAft>
                <a:spcPts val="0"/>
              </a:spcAft>
              <a:buSzPts val="1800"/>
              <a:buNone/>
            </a:pPr>
            <a:r>
              <a:rPr lang="en-IN" sz="1200" b="1"/>
              <a:t>2.6 Mini Computer System with a Multi-Terminal – Software Architecture</a:t>
            </a:r>
            <a:endParaRPr sz="1200"/>
          </a:p>
          <a:p>
            <a:pPr marL="457200" lvl="0" indent="-342900" algn="l" rtl="0">
              <a:lnSpc>
                <a:spcPct val="100000"/>
              </a:lnSpc>
              <a:spcBef>
                <a:spcPts val="360"/>
              </a:spcBef>
              <a:spcAft>
                <a:spcPts val="0"/>
              </a:spcAft>
              <a:buClr>
                <a:schemeClr val="dk1"/>
              </a:buClr>
              <a:buSzPts val="1800"/>
              <a:buChar char="•"/>
            </a:pPr>
            <a:r>
              <a:rPr lang="en-IN" sz="1200"/>
              <a:t>POS for collecting money, payments for accords, payments from other Bank Accounts through Debit Cards, AEPS (Aadhar Enabled Payment System)  </a:t>
            </a:r>
            <a:endParaRPr/>
          </a:p>
          <a:p>
            <a:pPr marL="457200" lvl="0" indent="-342900" algn="l" rtl="0">
              <a:lnSpc>
                <a:spcPct val="100000"/>
              </a:lnSpc>
              <a:spcBef>
                <a:spcPts val="360"/>
              </a:spcBef>
              <a:spcAft>
                <a:spcPts val="0"/>
              </a:spcAft>
              <a:buClr>
                <a:schemeClr val="dk1"/>
              </a:buClr>
              <a:buSzPts val="1800"/>
              <a:buChar char="•"/>
            </a:pPr>
            <a:r>
              <a:rPr lang="en-IN" sz="1200"/>
              <a:t>Financial Transactions – Non Financial Transactions – Other Services – Acknowledgements – Visiting at the Door Steps</a:t>
            </a:r>
            <a:endParaRPr/>
          </a:p>
          <a:p>
            <a:pPr marL="457200" lvl="0" indent="-228600" algn="l" rtl="0">
              <a:lnSpc>
                <a:spcPct val="100000"/>
              </a:lnSpc>
              <a:spcBef>
                <a:spcPts val="360"/>
              </a:spcBef>
              <a:spcAft>
                <a:spcPts val="0"/>
              </a:spcAft>
              <a:buSzPts val="1800"/>
              <a:buNone/>
            </a:pPr>
            <a:endParaRPr sz="1200" b="1"/>
          </a:p>
          <a:p>
            <a:pPr marL="114300" lvl="0" indent="0" algn="l" rtl="0">
              <a:lnSpc>
                <a:spcPct val="100000"/>
              </a:lnSpc>
              <a:spcBef>
                <a:spcPts val="360"/>
              </a:spcBef>
              <a:spcAft>
                <a:spcPts val="0"/>
              </a:spcAft>
              <a:buSzPts val="1800"/>
              <a:buNone/>
            </a:pPr>
            <a:endParaRPr/>
          </a:p>
        </p:txBody>
      </p:sp>
      <p:sp>
        <p:nvSpPr>
          <p:cNvPr id="106" name="Google Shape;106;p15"/>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6"/>
          <p:cNvSpPr txBox="1">
            <a:spLocks noGrp="1"/>
          </p:cNvSpPr>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COMPUTERISED INFORMATION SYSTEM FOR BANKS (BIS)</a:t>
            </a:r>
            <a:endParaRPr/>
          </a:p>
        </p:txBody>
      </p:sp>
      <p:sp>
        <p:nvSpPr>
          <p:cNvPr id="112" name="Google Shape;112;p16"/>
          <p:cNvSpPr txBox="1">
            <a:spLocks noGrp="1"/>
          </p:cNvSpPr>
          <p:nvPr>
            <p:ph type="body" idx="1"/>
          </p:nvPr>
        </p:nvSpPr>
        <p:spPr>
          <a:xfrm>
            <a:off x="457200" y="783772"/>
            <a:ext cx="8229600" cy="3810852"/>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200" b="1"/>
              <a:t>2.6 Mini Computer System with a Multi-Terminal – Software Architecture</a:t>
            </a:r>
            <a:endParaRPr sz="1200"/>
          </a:p>
          <a:p>
            <a:pPr marL="457200" lvl="0" indent="-342900" algn="l" rtl="0">
              <a:lnSpc>
                <a:spcPct val="100000"/>
              </a:lnSpc>
              <a:spcBef>
                <a:spcPts val="360"/>
              </a:spcBef>
              <a:spcAft>
                <a:spcPts val="0"/>
              </a:spcAft>
              <a:buClr>
                <a:schemeClr val="dk1"/>
              </a:buClr>
              <a:buSzPts val="1800"/>
              <a:buChar char="•"/>
            </a:pPr>
            <a:r>
              <a:rPr lang="en-IN" sz="1200"/>
              <a:t>POS for collecting money, payments for accords, payments from other Bank Accounts through Debit Cards, AEPS (Aadhar Enabled Payment System)  </a:t>
            </a:r>
            <a:endParaRPr/>
          </a:p>
          <a:p>
            <a:pPr marL="457200" lvl="0" indent="-342900" algn="l" rtl="0">
              <a:lnSpc>
                <a:spcPct val="100000"/>
              </a:lnSpc>
              <a:spcBef>
                <a:spcPts val="360"/>
              </a:spcBef>
              <a:spcAft>
                <a:spcPts val="0"/>
              </a:spcAft>
              <a:buClr>
                <a:schemeClr val="dk1"/>
              </a:buClr>
              <a:buSzPts val="1800"/>
              <a:buChar char="•"/>
            </a:pPr>
            <a:r>
              <a:rPr lang="en-IN" sz="1200"/>
              <a:t>Financial Transactions – Non Financial Transactions – Other Services – Acknowledgements – Visiting at the Door Steps</a:t>
            </a:r>
            <a:endParaRPr/>
          </a:p>
          <a:p>
            <a:pPr marL="114300" lvl="0" indent="0" algn="l" rtl="0">
              <a:lnSpc>
                <a:spcPct val="100000"/>
              </a:lnSpc>
              <a:spcBef>
                <a:spcPts val="360"/>
              </a:spcBef>
              <a:spcAft>
                <a:spcPts val="0"/>
              </a:spcAft>
              <a:buSzPts val="1800"/>
              <a:buNone/>
            </a:pPr>
            <a:endParaRPr sz="1200"/>
          </a:p>
          <a:p>
            <a:pPr marL="114300" lvl="0" indent="0" algn="l" rtl="0">
              <a:lnSpc>
                <a:spcPct val="100000"/>
              </a:lnSpc>
              <a:spcBef>
                <a:spcPts val="360"/>
              </a:spcBef>
              <a:spcAft>
                <a:spcPts val="0"/>
              </a:spcAft>
              <a:buSzPts val="1800"/>
              <a:buNone/>
            </a:pPr>
            <a:r>
              <a:rPr lang="en-IN" sz="1200"/>
              <a:t> </a:t>
            </a:r>
            <a:r>
              <a:rPr lang="en-IN" sz="1200" b="1"/>
              <a:t>2.7 LAN Model</a:t>
            </a:r>
            <a:endParaRPr sz="1200"/>
          </a:p>
          <a:p>
            <a:pPr marL="457200" lvl="0" indent="-342900" algn="l" rtl="0">
              <a:lnSpc>
                <a:spcPct val="100000"/>
              </a:lnSpc>
              <a:spcBef>
                <a:spcPts val="360"/>
              </a:spcBef>
              <a:spcAft>
                <a:spcPts val="0"/>
              </a:spcAft>
              <a:buClr>
                <a:schemeClr val="dk1"/>
              </a:buClr>
              <a:buSzPts val="1800"/>
              <a:buChar char="•"/>
            </a:pPr>
            <a:r>
              <a:rPr lang="en-IN" sz="1200"/>
              <a:t>ALPMS, Branch Computerisation for a specific Branch through LAN (Local Area Net Work) followed by updation in Central Server through LAN with another LAN </a:t>
            </a:r>
            <a:endParaRPr/>
          </a:p>
          <a:p>
            <a:pPr marL="457200" lvl="0" indent="-342900" algn="l" rtl="0">
              <a:lnSpc>
                <a:spcPct val="100000"/>
              </a:lnSpc>
              <a:spcBef>
                <a:spcPts val="360"/>
              </a:spcBef>
              <a:spcAft>
                <a:spcPts val="0"/>
              </a:spcAft>
              <a:buClr>
                <a:schemeClr val="dk1"/>
              </a:buClr>
              <a:buSzPts val="1800"/>
              <a:buChar char="•"/>
            </a:pPr>
            <a:r>
              <a:rPr lang="en-IN" sz="1200" b="1" u="sng">
                <a:solidFill>
                  <a:srgbClr val="00B050"/>
                </a:solidFill>
              </a:rPr>
              <a:t>(Refer Page No. 38 Figure 2.4: LAN Model)</a:t>
            </a:r>
            <a:endParaRPr/>
          </a:p>
          <a:p>
            <a:pPr marL="114300" lvl="0" indent="0" algn="l" rtl="0">
              <a:lnSpc>
                <a:spcPct val="100000"/>
              </a:lnSpc>
              <a:spcBef>
                <a:spcPts val="360"/>
              </a:spcBef>
              <a:spcAft>
                <a:spcPts val="0"/>
              </a:spcAft>
              <a:buSzPts val="1800"/>
              <a:buNone/>
            </a:pPr>
            <a:endParaRPr sz="1200"/>
          </a:p>
          <a:p>
            <a:pPr marL="457200" lvl="0" indent="-342900" algn="l" rtl="0">
              <a:lnSpc>
                <a:spcPct val="100000"/>
              </a:lnSpc>
              <a:spcBef>
                <a:spcPts val="360"/>
              </a:spcBef>
              <a:spcAft>
                <a:spcPts val="0"/>
              </a:spcAft>
              <a:buClr>
                <a:schemeClr val="dk1"/>
              </a:buClr>
              <a:buSzPts val="1800"/>
              <a:buChar char="•"/>
            </a:pPr>
            <a:r>
              <a:rPr lang="en-IN" sz="1200" b="1"/>
              <a:t>2.8 Banking Software </a:t>
            </a:r>
            <a:endParaRPr sz="1200"/>
          </a:p>
          <a:p>
            <a:pPr marL="457200" lvl="0" indent="-342900" algn="l" rtl="0">
              <a:lnSpc>
                <a:spcPct val="100000"/>
              </a:lnSpc>
              <a:spcBef>
                <a:spcPts val="360"/>
              </a:spcBef>
              <a:spcAft>
                <a:spcPts val="0"/>
              </a:spcAft>
              <a:buClr>
                <a:schemeClr val="dk1"/>
              </a:buClr>
              <a:buSzPts val="1800"/>
              <a:buChar char="•"/>
            </a:pPr>
            <a:r>
              <a:rPr lang="en-IN" sz="1200"/>
              <a:t>Various Types of Languages – Provided by various Vendors – Individual Modules – Linking to the Branches</a:t>
            </a:r>
            <a:endParaRPr/>
          </a:p>
          <a:p>
            <a:pPr marL="457200" lvl="0" indent="-342900" algn="l" rtl="0">
              <a:lnSpc>
                <a:spcPct val="100000"/>
              </a:lnSpc>
              <a:spcBef>
                <a:spcPts val="360"/>
              </a:spcBef>
              <a:spcAft>
                <a:spcPts val="0"/>
              </a:spcAft>
              <a:buClr>
                <a:schemeClr val="dk1"/>
              </a:buClr>
              <a:buSzPts val="1800"/>
              <a:buChar char="•"/>
            </a:pPr>
            <a:r>
              <a:rPr lang="en-IN" sz="1200" b="1"/>
              <a:t>2.8.1 Categories of packages</a:t>
            </a:r>
            <a:endParaRPr sz="1200"/>
          </a:p>
          <a:p>
            <a:pPr marL="457200" lvl="0" indent="-342900" algn="l" rtl="0">
              <a:lnSpc>
                <a:spcPct val="100000"/>
              </a:lnSpc>
              <a:spcBef>
                <a:spcPts val="360"/>
              </a:spcBef>
              <a:spcAft>
                <a:spcPts val="0"/>
              </a:spcAft>
              <a:buClr>
                <a:schemeClr val="dk1"/>
              </a:buClr>
              <a:buSzPts val="1800"/>
              <a:buChar char="•"/>
            </a:pPr>
            <a:r>
              <a:rPr lang="en-IN" sz="1200"/>
              <a:t> “The banking software present by available in India can be classified into six types:  </a:t>
            </a:r>
            <a:endParaRPr sz="1200"/>
          </a:p>
          <a:p>
            <a:pPr marL="114300" lvl="0" indent="0" algn="l" rtl="0">
              <a:lnSpc>
                <a:spcPct val="100000"/>
              </a:lnSpc>
              <a:spcBef>
                <a:spcPts val="360"/>
              </a:spcBef>
              <a:spcAft>
                <a:spcPts val="0"/>
              </a:spcAft>
              <a:buSzPts val="1800"/>
              <a:buNone/>
            </a:pPr>
            <a:r>
              <a:rPr lang="en-IN" sz="1200"/>
              <a:t>           1. Stand-alone branch-level package   2. Multi-branch solutions  3. Foreign Packages   4. Packages for specialized niche </a:t>
            </a:r>
            <a:endParaRPr sz="1200"/>
          </a:p>
          <a:p>
            <a:pPr marL="114300" lvl="0" indent="0" algn="l" rtl="0">
              <a:lnSpc>
                <a:spcPct val="100000"/>
              </a:lnSpc>
              <a:spcBef>
                <a:spcPts val="360"/>
              </a:spcBef>
              <a:spcAft>
                <a:spcPts val="0"/>
              </a:spcAft>
              <a:buSzPts val="1800"/>
              <a:buNone/>
            </a:pPr>
            <a:r>
              <a:rPr lang="en-IN" sz="1200"/>
              <a:t>                areas  5.Service Branch / high-volume transactions processing packages   6.IT Services</a:t>
            </a:r>
            <a:endParaRPr/>
          </a:p>
          <a:p>
            <a:pPr marL="114300" lvl="0" indent="0" algn="l" rtl="0">
              <a:lnSpc>
                <a:spcPct val="100000"/>
              </a:lnSpc>
              <a:spcBef>
                <a:spcPts val="360"/>
              </a:spcBef>
              <a:spcAft>
                <a:spcPts val="0"/>
              </a:spcAft>
              <a:buSzPts val="1800"/>
              <a:buNone/>
            </a:pPr>
            <a:r>
              <a:rPr lang="en-IN" sz="1200"/>
              <a:t> </a:t>
            </a:r>
            <a:endParaRPr/>
          </a:p>
          <a:p>
            <a:pPr marL="114300" lvl="0" indent="0" algn="l" rtl="0">
              <a:lnSpc>
                <a:spcPct val="100000"/>
              </a:lnSpc>
              <a:spcBef>
                <a:spcPts val="360"/>
              </a:spcBef>
              <a:spcAft>
                <a:spcPts val="0"/>
              </a:spcAft>
              <a:buSzPts val="1800"/>
              <a:buNone/>
            </a:pPr>
            <a:endParaRPr/>
          </a:p>
        </p:txBody>
      </p:sp>
      <p:sp>
        <p:nvSpPr>
          <p:cNvPr id="113" name="Google Shape;113;p16"/>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7"/>
          <p:cNvSpPr txBox="1">
            <a:spLocks noGrp="1"/>
          </p:cNvSpPr>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COMPUTERISED INFORMATION SYSTEM FOR BANKS (BIS)</a:t>
            </a:r>
            <a:endParaRPr/>
          </a:p>
        </p:txBody>
      </p:sp>
      <p:sp>
        <p:nvSpPr>
          <p:cNvPr id="119" name="Google Shape;119;p17"/>
          <p:cNvSpPr txBox="1">
            <a:spLocks noGrp="1"/>
          </p:cNvSpPr>
          <p:nvPr>
            <p:ph type="body" idx="1"/>
          </p:nvPr>
        </p:nvSpPr>
        <p:spPr>
          <a:xfrm>
            <a:off x="457200" y="783772"/>
            <a:ext cx="8229600" cy="3810852"/>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200" b="1"/>
              <a:t>Stand-alone branch-level package: </a:t>
            </a:r>
            <a:endParaRPr sz="1200"/>
          </a:p>
          <a:p>
            <a:pPr marL="457200" lvl="0" indent="-342900" algn="l" rtl="0">
              <a:lnSpc>
                <a:spcPct val="100000"/>
              </a:lnSpc>
              <a:spcBef>
                <a:spcPts val="360"/>
              </a:spcBef>
              <a:spcAft>
                <a:spcPts val="0"/>
              </a:spcAft>
              <a:buClr>
                <a:schemeClr val="dk1"/>
              </a:buClr>
              <a:buSzPts val="1800"/>
              <a:buChar char="•"/>
            </a:pPr>
            <a:r>
              <a:rPr lang="en-IN" sz="1200"/>
              <a:t>These are usually in FoxPro, C language or Dbase and are capable of handling specific functions at branches; </a:t>
            </a:r>
            <a:endParaRPr/>
          </a:p>
          <a:p>
            <a:pPr marL="457200" lvl="0" indent="-342900" algn="l" rtl="0">
              <a:lnSpc>
                <a:spcPct val="100000"/>
              </a:lnSpc>
              <a:spcBef>
                <a:spcPts val="360"/>
              </a:spcBef>
              <a:spcAft>
                <a:spcPts val="0"/>
              </a:spcAft>
              <a:buClr>
                <a:schemeClr val="dk1"/>
              </a:buClr>
              <a:buSzPts val="1800"/>
              <a:buChar char="•"/>
            </a:pPr>
            <a:r>
              <a:rPr lang="en-IN" sz="1200"/>
              <a:t>these are sometimes networked on a </a:t>
            </a:r>
            <a:r>
              <a:rPr lang="en-IN" sz="1200" b="1"/>
              <a:t>LAN (Local Area Network)</a:t>
            </a:r>
            <a:r>
              <a:rPr lang="en-IN" sz="1200"/>
              <a:t>to simulate a </a:t>
            </a:r>
            <a:r>
              <a:rPr lang="en-IN" sz="1200" b="1"/>
              <a:t>TBA (Total Branch Automation) </a:t>
            </a:r>
            <a:r>
              <a:rPr lang="en-IN" sz="1200"/>
              <a:t>environment. </a:t>
            </a:r>
            <a:endParaRPr/>
          </a:p>
          <a:p>
            <a:pPr marL="457200" lvl="0" indent="-342900" algn="l" rtl="0">
              <a:lnSpc>
                <a:spcPct val="100000"/>
              </a:lnSpc>
              <a:spcBef>
                <a:spcPts val="360"/>
              </a:spcBef>
              <a:spcAft>
                <a:spcPts val="0"/>
              </a:spcAft>
              <a:buClr>
                <a:schemeClr val="dk1"/>
              </a:buClr>
              <a:buSzPts val="1800"/>
              <a:buChar char="•"/>
            </a:pPr>
            <a:r>
              <a:rPr lang="en-IN" sz="1200"/>
              <a:t>AT the same time the high-end packages with a central server (which can be a Pentium PC or NT or a MINI or even a Main Frame, supported by multiple dumb or intelligent) terminals are also used. </a:t>
            </a:r>
            <a:endParaRPr/>
          </a:p>
          <a:p>
            <a:pPr marL="457200" lvl="0" indent="-342900" algn="l" rtl="0">
              <a:lnSpc>
                <a:spcPct val="100000"/>
              </a:lnSpc>
              <a:spcBef>
                <a:spcPts val="360"/>
              </a:spcBef>
              <a:spcAft>
                <a:spcPts val="0"/>
              </a:spcAft>
              <a:buClr>
                <a:schemeClr val="dk1"/>
              </a:buClr>
              <a:buSzPts val="1800"/>
              <a:buChar char="•"/>
            </a:pPr>
            <a:r>
              <a:rPr lang="en-IN" sz="1200"/>
              <a:t>Some of them use sophisticated RDBM like ORACLE as back-end and provide user-friendly front-end with windows GUI (graphical user interface). </a:t>
            </a:r>
            <a:endParaRPr/>
          </a:p>
          <a:p>
            <a:pPr marL="114300" lvl="0" indent="0" algn="l" rtl="0">
              <a:lnSpc>
                <a:spcPct val="100000"/>
              </a:lnSpc>
              <a:spcBef>
                <a:spcPts val="360"/>
              </a:spcBef>
              <a:spcAft>
                <a:spcPts val="0"/>
              </a:spcAft>
              <a:buSzPts val="1800"/>
              <a:buNone/>
            </a:pPr>
            <a:r>
              <a:rPr lang="en-IN" sz="1200" b="1"/>
              <a:t>Multi-Branch solutions: </a:t>
            </a:r>
            <a:endParaRPr sz="1200"/>
          </a:p>
          <a:p>
            <a:pPr marL="457200" lvl="0" indent="-342900" algn="l" rtl="0">
              <a:lnSpc>
                <a:spcPct val="100000"/>
              </a:lnSpc>
              <a:spcBef>
                <a:spcPts val="360"/>
              </a:spcBef>
              <a:spcAft>
                <a:spcPts val="0"/>
              </a:spcAft>
              <a:buClr>
                <a:schemeClr val="dk1"/>
              </a:buClr>
              <a:buSzPts val="1800"/>
              <a:buChar char="•"/>
            </a:pPr>
            <a:r>
              <a:rPr lang="en-IN" sz="1200"/>
              <a:t>These solutions are used to network a cluster of branches in a city; the account maintenance can be central or can be distributed, networking being achieved through </a:t>
            </a:r>
            <a:r>
              <a:rPr lang="en-IN" sz="1200" b="1"/>
              <a:t>Wide Area Network (WAN) </a:t>
            </a:r>
            <a:r>
              <a:rPr lang="en-IN" sz="1200"/>
              <a:t>or terrestrial lines / high speed lines/ satellite networks – and now even wireless.</a:t>
            </a:r>
            <a:endParaRPr/>
          </a:p>
          <a:p>
            <a:pPr marL="114300" lvl="0" indent="0" algn="l" rtl="0">
              <a:lnSpc>
                <a:spcPct val="100000"/>
              </a:lnSpc>
              <a:spcBef>
                <a:spcPts val="360"/>
              </a:spcBef>
              <a:spcAft>
                <a:spcPts val="0"/>
              </a:spcAft>
              <a:buSzPts val="1800"/>
              <a:buNone/>
            </a:pPr>
            <a:r>
              <a:rPr lang="en-IN" sz="1200" b="1"/>
              <a:t>Foreign Packages: </a:t>
            </a:r>
            <a:endParaRPr sz="1200"/>
          </a:p>
          <a:p>
            <a:pPr marL="457200" lvl="0" indent="-342900" algn="l" rtl="0">
              <a:lnSpc>
                <a:spcPct val="100000"/>
              </a:lnSpc>
              <a:spcBef>
                <a:spcPts val="360"/>
              </a:spcBef>
              <a:spcAft>
                <a:spcPts val="0"/>
              </a:spcAft>
              <a:buClr>
                <a:schemeClr val="dk1"/>
              </a:buClr>
              <a:buSzPts val="1800"/>
              <a:buChar char="•"/>
            </a:pPr>
            <a:r>
              <a:rPr lang="en-IN" sz="1200"/>
              <a:t>The Foreign banking software solutions which are commonly used are Bank Master, Kappiti, and Sanchez etc. This need to be suitable modified to make Indian requirements- but their strength in their proven capabilities in developing and offering modern/ global banking products/ services that India is just ushering in. </a:t>
            </a:r>
            <a:endParaRPr/>
          </a:p>
          <a:p>
            <a:pPr marL="114300" lvl="0" indent="0" algn="l" rtl="0">
              <a:lnSpc>
                <a:spcPct val="100000"/>
              </a:lnSpc>
              <a:spcBef>
                <a:spcPts val="360"/>
              </a:spcBef>
              <a:spcAft>
                <a:spcPts val="0"/>
              </a:spcAft>
              <a:buSzPts val="1800"/>
              <a:buNone/>
            </a:pPr>
            <a:endParaRPr/>
          </a:p>
        </p:txBody>
      </p:sp>
      <p:sp>
        <p:nvSpPr>
          <p:cNvPr id="120" name="Google Shape;120;p17"/>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8"/>
          <p:cNvSpPr txBox="1">
            <a:spLocks noGrp="1"/>
          </p:cNvSpPr>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COMPUTERISED INFORMATION SYSTEM FOR BANKS (BIS)</a:t>
            </a:r>
            <a:endParaRPr/>
          </a:p>
        </p:txBody>
      </p:sp>
      <p:sp>
        <p:nvSpPr>
          <p:cNvPr id="127" name="Google Shape;127;p18"/>
          <p:cNvSpPr txBox="1">
            <a:spLocks noGrp="1"/>
          </p:cNvSpPr>
          <p:nvPr>
            <p:ph type="body" idx="1"/>
          </p:nvPr>
        </p:nvSpPr>
        <p:spPr>
          <a:xfrm>
            <a:off x="457200" y="783772"/>
            <a:ext cx="8229600" cy="3810852"/>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400" b="1"/>
              <a:t>Packages for specialized niche areas: </a:t>
            </a:r>
            <a:endParaRPr sz="1400"/>
          </a:p>
          <a:p>
            <a:pPr marL="457200" lvl="0" indent="-342900" algn="l" rtl="0">
              <a:lnSpc>
                <a:spcPct val="100000"/>
              </a:lnSpc>
              <a:spcBef>
                <a:spcPts val="360"/>
              </a:spcBef>
              <a:spcAft>
                <a:spcPts val="0"/>
              </a:spcAft>
              <a:buClr>
                <a:schemeClr val="dk1"/>
              </a:buClr>
              <a:buSzPts val="1800"/>
              <a:buChar char="•"/>
            </a:pPr>
            <a:r>
              <a:rPr lang="en-IN" sz="1400"/>
              <a:t>Like Assets Liability Management (ALM), Treasury Management, Trading / Dealing Room activities, Custodial Services / Depository Participant etc. These are high-end packages with sophisticated analytical and decision tools. v) Service Branch / high-volume transactions processing packages: These solutions include clearing, drafts issue/payments/reconciliation (Remittances), Bills (payments/collection/purchases), Dividend warrant processing, inter-branch reconciliation etc. Mostly the service provides themselves implement these packages.</a:t>
            </a:r>
            <a:endParaRPr/>
          </a:p>
          <a:p>
            <a:pPr marL="114300" lvl="0" indent="0" algn="l" rtl="0">
              <a:lnSpc>
                <a:spcPct val="100000"/>
              </a:lnSpc>
              <a:spcBef>
                <a:spcPts val="360"/>
              </a:spcBef>
              <a:spcAft>
                <a:spcPts val="0"/>
              </a:spcAft>
              <a:buSzPts val="1800"/>
              <a:buNone/>
            </a:pPr>
            <a:r>
              <a:rPr lang="en-IN" sz="1400" b="1"/>
              <a:t>IT Services: </a:t>
            </a:r>
            <a:endParaRPr sz="1400"/>
          </a:p>
          <a:p>
            <a:pPr marL="457200" lvl="0" indent="-342900" algn="l" rtl="0">
              <a:lnSpc>
                <a:spcPct val="100000"/>
              </a:lnSpc>
              <a:spcBef>
                <a:spcPts val="360"/>
              </a:spcBef>
              <a:spcAft>
                <a:spcPts val="0"/>
              </a:spcAft>
              <a:buClr>
                <a:schemeClr val="dk1"/>
              </a:buClr>
              <a:buSzPts val="1800"/>
              <a:buChar char="•"/>
            </a:pPr>
            <a:r>
              <a:rPr lang="en-IN" sz="1400"/>
              <a:t>These are the sundry services provided by the software dealers. They include services like disaster recovery, virus protection, security handling /networking multiple legacy system between themselves of two new platforms or to new delivery channels like ATMs etc.</a:t>
            </a:r>
            <a:endParaRPr/>
          </a:p>
          <a:p>
            <a:pPr marL="114300" lvl="0" indent="0" algn="l" rtl="0">
              <a:lnSpc>
                <a:spcPct val="100000"/>
              </a:lnSpc>
              <a:spcBef>
                <a:spcPts val="360"/>
              </a:spcBef>
              <a:spcAft>
                <a:spcPts val="0"/>
              </a:spcAft>
              <a:buSzPts val="1800"/>
              <a:buNone/>
            </a:pPr>
            <a:r>
              <a:rPr lang="en-IN" sz="1400" b="1"/>
              <a:t>2.9 Core Banking System</a:t>
            </a:r>
            <a:endParaRPr sz="1400"/>
          </a:p>
          <a:p>
            <a:pPr marL="114300" lvl="0" indent="0" algn="l" rtl="0">
              <a:lnSpc>
                <a:spcPct val="100000"/>
              </a:lnSpc>
              <a:spcBef>
                <a:spcPts val="360"/>
              </a:spcBef>
              <a:spcAft>
                <a:spcPts val="0"/>
              </a:spcAft>
              <a:buSzPts val="1800"/>
              <a:buNone/>
            </a:pPr>
            <a:r>
              <a:rPr lang="en-IN" sz="1400"/>
              <a:t>        </a:t>
            </a:r>
            <a:r>
              <a:rPr lang="en-IN" sz="1400" b="1" u="sng">
                <a:solidFill>
                  <a:srgbClr val="00B050"/>
                </a:solidFill>
              </a:rPr>
              <a:t>(Refer Banking Technology Models Page 42 Figure 2.1)</a:t>
            </a:r>
            <a:endParaRPr/>
          </a:p>
          <a:p>
            <a:pPr marL="114300" lvl="0" indent="0" algn="l" rtl="0">
              <a:lnSpc>
                <a:spcPct val="100000"/>
              </a:lnSpc>
              <a:spcBef>
                <a:spcPts val="360"/>
              </a:spcBef>
              <a:spcAft>
                <a:spcPts val="0"/>
              </a:spcAft>
              <a:buSzPts val="1800"/>
              <a:buNone/>
            </a:pPr>
            <a:r>
              <a:rPr lang="en-IN" sz="1400" b="1"/>
              <a:t>        </a:t>
            </a:r>
            <a:r>
              <a:rPr lang="en-IN" sz="1400" b="1">
                <a:solidFill>
                  <a:srgbClr val="7030A0"/>
                </a:solidFill>
              </a:rPr>
              <a:t>Explain the other slides</a:t>
            </a:r>
            <a:endParaRPr sz="1400" b="1">
              <a:solidFill>
                <a:srgbClr val="7030A0"/>
              </a:solidFill>
            </a:endParaRPr>
          </a:p>
          <a:p>
            <a:pPr marL="457200" lvl="0" indent="-228600" algn="l" rtl="0">
              <a:lnSpc>
                <a:spcPct val="100000"/>
              </a:lnSpc>
              <a:spcBef>
                <a:spcPts val="360"/>
              </a:spcBef>
              <a:spcAft>
                <a:spcPts val="0"/>
              </a:spcAft>
              <a:buClr>
                <a:schemeClr val="dk1"/>
              </a:buClr>
              <a:buSzPts val="1800"/>
              <a:buNone/>
            </a:pPr>
            <a:endParaRPr sz="1400"/>
          </a:p>
          <a:p>
            <a:pPr marL="114300" lvl="0" indent="0" algn="l" rtl="0">
              <a:lnSpc>
                <a:spcPct val="100000"/>
              </a:lnSpc>
              <a:spcBef>
                <a:spcPts val="360"/>
              </a:spcBef>
              <a:spcAft>
                <a:spcPts val="0"/>
              </a:spcAft>
              <a:buSzPts val="1800"/>
              <a:buNone/>
            </a:pPr>
            <a:endParaRPr sz="1200"/>
          </a:p>
          <a:p>
            <a:pPr marL="114300" lvl="0" indent="0" algn="l" rtl="0">
              <a:lnSpc>
                <a:spcPct val="100000"/>
              </a:lnSpc>
              <a:spcBef>
                <a:spcPts val="360"/>
              </a:spcBef>
              <a:spcAft>
                <a:spcPts val="0"/>
              </a:spcAft>
              <a:buSzPts val="1800"/>
              <a:buNone/>
            </a:pPr>
            <a:endParaRPr/>
          </a:p>
        </p:txBody>
      </p:sp>
      <p:sp>
        <p:nvSpPr>
          <p:cNvPr id="128" name="Google Shape;128;p18"/>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9"/>
          <p:cNvSpPr txBox="1">
            <a:spLocks noGrp="1"/>
          </p:cNvSpPr>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COMPUTERISED INFORMATION SYSTEM FOR BANKS (BIS)</a:t>
            </a:r>
            <a:endParaRPr/>
          </a:p>
        </p:txBody>
      </p:sp>
      <p:sp>
        <p:nvSpPr>
          <p:cNvPr id="134" name="Google Shape;134;p19"/>
          <p:cNvSpPr txBox="1">
            <a:spLocks noGrp="1"/>
          </p:cNvSpPr>
          <p:nvPr>
            <p:ph type="body" idx="1"/>
          </p:nvPr>
        </p:nvSpPr>
        <p:spPr>
          <a:xfrm>
            <a:off x="457200" y="681135"/>
            <a:ext cx="8229600" cy="3984171"/>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400" b="1" dirty="0"/>
              <a:t>2.9.3 Core Banking System-selection process</a:t>
            </a:r>
            <a:endParaRPr dirty="0"/>
          </a:p>
          <a:p>
            <a:pPr marL="457200" lvl="0" indent="-342900" algn="l" rtl="0">
              <a:lnSpc>
                <a:spcPct val="100000"/>
              </a:lnSpc>
              <a:spcBef>
                <a:spcPts val="360"/>
              </a:spcBef>
              <a:spcAft>
                <a:spcPts val="0"/>
              </a:spcAft>
              <a:buClr>
                <a:schemeClr val="dk1"/>
              </a:buClr>
              <a:buSzPts val="1800"/>
              <a:buChar char="•"/>
            </a:pPr>
            <a:r>
              <a:rPr lang="en-IN" sz="1200" dirty="0"/>
              <a:t>In the present scenario, in India, both public and old private sector banks face intense competition and are struggling for customer retention. They have legacy problems of outdated corporate MIS, Outnumbered staff, outstretched branch spread outstanding dues; outclass products and out-of-line customer service. Many of the smaller banks with branch network less than 300 have become target for acquisition by the new private sector </a:t>
            </a:r>
            <a:r>
              <a:rPr lang="en-IN" sz="1200" dirty="0" err="1"/>
              <a:t>bankswho</a:t>
            </a:r>
            <a:r>
              <a:rPr lang="en-IN" sz="1200" dirty="0"/>
              <a:t> want to expand their branch network to meet the social obligations as well as mobilize low cost deposits. In this backdrop, there is urgency on the part of the banks to embrace technology quickly not only to thwart competition but also to stall (their) acquisition itself. Therefore, the availability of centralized core banking solution and the  tele-communication infrastructure making the post merger system integration quick and easy for these banks that the getting a little bit adventurous for acquisition by the day.</a:t>
            </a:r>
            <a:endParaRPr dirty="0"/>
          </a:p>
          <a:p>
            <a:pPr marL="114300" lvl="0" indent="0" algn="l" rtl="0">
              <a:lnSpc>
                <a:spcPct val="100000"/>
              </a:lnSpc>
              <a:spcBef>
                <a:spcPts val="360"/>
              </a:spcBef>
              <a:spcAft>
                <a:spcPts val="0"/>
              </a:spcAft>
              <a:buSzPts val="1800"/>
              <a:buNone/>
            </a:pPr>
            <a:r>
              <a:rPr lang="en-IN" sz="1400" b="1" dirty="0"/>
              <a:t>2.9.4 Steps of selection process</a:t>
            </a:r>
            <a:endParaRPr dirty="0"/>
          </a:p>
          <a:p>
            <a:pPr marL="457200" lvl="0" indent="-342900" algn="l" rtl="0">
              <a:lnSpc>
                <a:spcPct val="100000"/>
              </a:lnSpc>
              <a:spcBef>
                <a:spcPts val="360"/>
              </a:spcBef>
              <a:spcAft>
                <a:spcPts val="0"/>
              </a:spcAft>
              <a:buClr>
                <a:schemeClr val="dk1"/>
              </a:buClr>
              <a:buSzPts val="1800"/>
              <a:buChar char="•"/>
            </a:pPr>
            <a:r>
              <a:rPr lang="en-IN" sz="1200" dirty="0"/>
              <a:t>The following steps to acquire an online core banking solution and deploy it effectively:  Analysis: The first step is to analyse the present competition of the banking sector and also to determine the requirements of the customer. This is the key parameters for selection of core banking solution.  Perspective plan: Draw the perspective plan to bring online core banking in the main ranches, which contribute to 75% to 80% of banks business.  Network plan: Draw the optimistic plan to provide core banking, to other remaining branches through proper network.  Basic solution: Develop the laundry list of requirements for selection of a suitable core banking solution that will have to meet the basic business functionality and network requirements shown in fig. </a:t>
            </a:r>
            <a:r>
              <a:rPr lang="en-IN" sz="1200" b="1" u="sng" dirty="0"/>
              <a:t>(Refer Figure No.2.5 in Page No.44)   </a:t>
            </a:r>
            <a:endParaRPr sz="1200" u="sng" dirty="0"/>
          </a:p>
          <a:p>
            <a:pPr marL="457200" lvl="0" indent="-342900" algn="l" rtl="0">
              <a:lnSpc>
                <a:spcPct val="100000"/>
              </a:lnSpc>
              <a:spcBef>
                <a:spcPts val="360"/>
              </a:spcBef>
              <a:spcAft>
                <a:spcPts val="0"/>
              </a:spcAft>
              <a:buClr>
                <a:schemeClr val="dk1"/>
              </a:buClr>
              <a:buSzPts val="1800"/>
              <a:buChar char="•"/>
            </a:pPr>
            <a:r>
              <a:rPr lang="en-IN" sz="1200" dirty="0">
                <a:solidFill>
                  <a:srgbClr val="7030A0"/>
                </a:solidFill>
              </a:rPr>
              <a:t>Explain various methods </a:t>
            </a:r>
            <a:r>
              <a:rPr lang="en-IN" sz="1200" dirty="0"/>
              <a:t>  </a:t>
            </a:r>
            <a:r>
              <a:rPr lang="en-IN" sz="1200" b="1" u="sng" dirty="0">
                <a:solidFill>
                  <a:srgbClr val="00B050"/>
                </a:solidFill>
              </a:rPr>
              <a:t>(Page No.44, 45 and 46 to be noted by Students)</a:t>
            </a:r>
            <a:endParaRPr sz="1200" b="1" u="sng" dirty="0">
              <a:solidFill>
                <a:srgbClr val="00B050"/>
              </a:solidFill>
            </a:endParaRPr>
          </a:p>
          <a:p>
            <a:pPr marL="457200" lvl="0" indent="-228600" algn="l" rtl="0">
              <a:lnSpc>
                <a:spcPct val="100000"/>
              </a:lnSpc>
              <a:spcBef>
                <a:spcPts val="360"/>
              </a:spcBef>
              <a:spcAft>
                <a:spcPts val="0"/>
              </a:spcAft>
              <a:buClr>
                <a:schemeClr val="dk1"/>
              </a:buClr>
              <a:buSzPts val="1800"/>
              <a:buNone/>
            </a:pPr>
            <a:endParaRPr sz="1200" b="1" u="sng" dirty="0"/>
          </a:p>
          <a:p>
            <a:pPr marL="114300" lvl="0" indent="0" algn="l" rtl="0">
              <a:lnSpc>
                <a:spcPct val="100000"/>
              </a:lnSpc>
              <a:spcBef>
                <a:spcPts val="360"/>
              </a:spcBef>
              <a:spcAft>
                <a:spcPts val="0"/>
              </a:spcAft>
              <a:buSzPts val="1800"/>
              <a:buNone/>
            </a:pPr>
            <a:endParaRPr sz="1200" dirty="0"/>
          </a:p>
          <a:p>
            <a:pPr marL="114300" lvl="0" indent="0" algn="l" rtl="0">
              <a:lnSpc>
                <a:spcPct val="100000"/>
              </a:lnSpc>
              <a:spcBef>
                <a:spcPts val="360"/>
              </a:spcBef>
              <a:spcAft>
                <a:spcPts val="0"/>
              </a:spcAft>
              <a:buSzPts val="1800"/>
              <a:buNone/>
            </a:pPr>
            <a:endParaRPr dirty="0"/>
          </a:p>
        </p:txBody>
      </p:sp>
      <p:sp>
        <p:nvSpPr>
          <p:cNvPr id="135" name="Google Shape;135;p19"/>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0"/>
          <p:cNvSpPr txBox="1">
            <a:spLocks noGrp="1"/>
          </p:cNvSpPr>
          <p:nvPr>
            <p:ph type="title"/>
          </p:nvPr>
        </p:nvSpPr>
        <p:spPr>
          <a:xfrm>
            <a:off x="457200" y="205979"/>
            <a:ext cx="8229600" cy="64310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COMPUTERISED INFORMATION SYSTEM FOR BANKS (BIS)</a:t>
            </a:r>
            <a:endParaRPr/>
          </a:p>
        </p:txBody>
      </p:sp>
      <p:sp>
        <p:nvSpPr>
          <p:cNvPr id="141" name="Google Shape;141;p20"/>
          <p:cNvSpPr txBox="1">
            <a:spLocks noGrp="1"/>
          </p:cNvSpPr>
          <p:nvPr>
            <p:ph type="body" idx="1"/>
          </p:nvPr>
        </p:nvSpPr>
        <p:spPr>
          <a:xfrm>
            <a:off x="457200" y="681135"/>
            <a:ext cx="8229600" cy="3984171"/>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endParaRPr sz="1400" b="1"/>
          </a:p>
          <a:p>
            <a:pPr marL="114300" lvl="0" indent="0" algn="l" rtl="0">
              <a:lnSpc>
                <a:spcPct val="100000"/>
              </a:lnSpc>
              <a:spcBef>
                <a:spcPts val="360"/>
              </a:spcBef>
              <a:spcAft>
                <a:spcPts val="0"/>
              </a:spcAft>
              <a:buSzPts val="1800"/>
              <a:buNone/>
            </a:pPr>
            <a:r>
              <a:rPr lang="en-IN" sz="1400" b="1"/>
              <a:t>2.9.5 Vendors</a:t>
            </a:r>
            <a:endParaRPr/>
          </a:p>
          <a:p>
            <a:pPr marL="114300" lvl="0" indent="0" algn="l" rtl="0">
              <a:lnSpc>
                <a:spcPct val="100000"/>
              </a:lnSpc>
              <a:spcBef>
                <a:spcPts val="360"/>
              </a:spcBef>
              <a:spcAft>
                <a:spcPts val="0"/>
              </a:spcAft>
              <a:buSzPts val="1800"/>
              <a:buNone/>
            </a:pPr>
            <a:endParaRPr sz="1400"/>
          </a:p>
          <a:p>
            <a:pPr marL="457200" lvl="0" indent="-342900" algn="l" rtl="0">
              <a:lnSpc>
                <a:spcPct val="100000"/>
              </a:lnSpc>
              <a:spcBef>
                <a:spcPts val="360"/>
              </a:spcBef>
              <a:spcAft>
                <a:spcPts val="0"/>
              </a:spcAft>
              <a:buClr>
                <a:schemeClr val="dk1"/>
              </a:buClr>
              <a:buSzPts val="1800"/>
              <a:buChar char="•"/>
            </a:pPr>
            <a:r>
              <a:rPr lang="en-IN" sz="1200"/>
              <a:t>Explain the methods </a:t>
            </a:r>
            <a:endParaRPr/>
          </a:p>
          <a:p>
            <a:pPr marL="457200" lvl="0" indent="-342900" algn="l" rtl="0">
              <a:lnSpc>
                <a:spcPct val="100000"/>
              </a:lnSpc>
              <a:spcBef>
                <a:spcPts val="360"/>
              </a:spcBef>
              <a:spcAft>
                <a:spcPts val="0"/>
              </a:spcAft>
              <a:buClr>
                <a:schemeClr val="dk1"/>
              </a:buClr>
              <a:buSzPts val="1800"/>
              <a:buChar char="•"/>
            </a:pPr>
            <a:r>
              <a:rPr lang="en-IN" sz="1200"/>
              <a:t>Mention about interface</a:t>
            </a:r>
            <a:endParaRPr/>
          </a:p>
          <a:p>
            <a:pPr marL="114300" lvl="0" indent="0" algn="l" rtl="0">
              <a:lnSpc>
                <a:spcPct val="100000"/>
              </a:lnSpc>
              <a:spcBef>
                <a:spcPts val="360"/>
              </a:spcBef>
              <a:spcAft>
                <a:spcPts val="0"/>
              </a:spcAft>
              <a:buSzPts val="1800"/>
              <a:buNone/>
            </a:pPr>
            <a:r>
              <a:rPr lang="en-IN" sz="1200" b="1"/>
              <a:t> </a:t>
            </a:r>
            <a:endParaRPr sz="1200"/>
          </a:p>
          <a:p>
            <a:pPr marL="114300" lvl="0" indent="0" algn="l" rtl="0">
              <a:lnSpc>
                <a:spcPct val="100000"/>
              </a:lnSpc>
              <a:spcBef>
                <a:spcPts val="360"/>
              </a:spcBef>
              <a:spcAft>
                <a:spcPts val="0"/>
              </a:spcAft>
              <a:buSzPts val="1800"/>
              <a:buNone/>
            </a:pPr>
            <a:r>
              <a:rPr lang="en-IN" sz="1400" b="1"/>
              <a:t>2.9.6. Core banking system-security &amp; control:</a:t>
            </a:r>
            <a:r>
              <a:rPr lang="en-IN" sz="1400"/>
              <a:t> </a:t>
            </a:r>
            <a:endParaRPr sz="1400"/>
          </a:p>
          <a:p>
            <a:pPr marL="114300" lvl="0" indent="0" algn="l" rtl="0">
              <a:lnSpc>
                <a:spcPct val="100000"/>
              </a:lnSpc>
              <a:spcBef>
                <a:spcPts val="360"/>
              </a:spcBef>
              <a:spcAft>
                <a:spcPts val="0"/>
              </a:spcAft>
              <a:buSzPts val="1800"/>
              <a:buNone/>
            </a:pPr>
            <a:endParaRPr sz="1400"/>
          </a:p>
          <a:p>
            <a:pPr marL="457200" lvl="0" indent="-342900" algn="l" rtl="0">
              <a:lnSpc>
                <a:spcPct val="100000"/>
              </a:lnSpc>
              <a:spcBef>
                <a:spcPts val="360"/>
              </a:spcBef>
              <a:spcAft>
                <a:spcPts val="0"/>
              </a:spcAft>
              <a:buClr>
                <a:schemeClr val="dk1"/>
              </a:buClr>
              <a:buSzPts val="1800"/>
              <a:buChar char="•"/>
            </a:pPr>
            <a:r>
              <a:rPr lang="en-IN" sz="1200"/>
              <a:t>There are several dimensions to security and  control aspects in a core banking solution environment implemented in wide area network. “The main too many dimensions are:  Solution Dimension: Covering the application, operating system controlling the application, network (both physical as well as software) and the database, which keep the data and information. </a:t>
            </a:r>
            <a:endParaRPr/>
          </a:p>
          <a:p>
            <a:pPr marL="457200" lvl="0" indent="-342900" algn="l" rtl="0">
              <a:lnSpc>
                <a:spcPct val="100000"/>
              </a:lnSpc>
              <a:spcBef>
                <a:spcPts val="360"/>
              </a:spcBef>
              <a:spcAft>
                <a:spcPts val="0"/>
              </a:spcAft>
              <a:buClr>
                <a:schemeClr val="dk1"/>
              </a:buClr>
              <a:buSzPts val="1800"/>
              <a:buChar char="•"/>
            </a:pPr>
            <a:r>
              <a:rPr lang="en-IN" sz="1200"/>
              <a:t>Topology: The topology in which the solution is implemented covering the data center, the network connecting the branches and the brick and mortar branches form where the system is accessed and e-channel such as ATMs as shown in Figure 2.6</a:t>
            </a:r>
            <a:r>
              <a:rPr lang="en-IN" sz="1200" b="1" u="sng">
                <a:solidFill>
                  <a:srgbClr val="00B050"/>
                </a:solidFill>
              </a:rPr>
              <a:t> (Page No.47 of the Book-let)</a:t>
            </a:r>
            <a:endParaRPr/>
          </a:p>
          <a:p>
            <a:pPr marL="114300" lvl="0" indent="0" algn="l" rtl="0">
              <a:lnSpc>
                <a:spcPct val="100000"/>
              </a:lnSpc>
              <a:spcBef>
                <a:spcPts val="360"/>
              </a:spcBef>
              <a:spcAft>
                <a:spcPts val="0"/>
              </a:spcAft>
              <a:buSzPts val="1800"/>
              <a:buNone/>
            </a:pPr>
            <a:endParaRPr sz="1200"/>
          </a:p>
          <a:p>
            <a:pPr marL="114300" lvl="0" indent="0" algn="l" rtl="0">
              <a:lnSpc>
                <a:spcPct val="100000"/>
              </a:lnSpc>
              <a:spcBef>
                <a:spcPts val="360"/>
              </a:spcBef>
              <a:spcAft>
                <a:spcPts val="0"/>
              </a:spcAft>
              <a:buSzPts val="1800"/>
              <a:buNone/>
            </a:pPr>
            <a:endParaRPr/>
          </a:p>
        </p:txBody>
      </p:sp>
      <p:sp>
        <p:nvSpPr>
          <p:cNvPr id="142" name="Google Shape;142;p20"/>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1"/>
          <p:cNvSpPr txBox="1">
            <a:spLocks noGrp="1"/>
          </p:cNvSpPr>
          <p:nvPr>
            <p:ph type="title"/>
          </p:nvPr>
        </p:nvSpPr>
        <p:spPr>
          <a:xfrm>
            <a:off x="457200" y="205979"/>
            <a:ext cx="8229600" cy="6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1800"/>
              <a:t>COMPUTERISED INFORMATION SYSTEM FOR BANKS (BIS)</a:t>
            </a:r>
            <a:endParaRPr/>
          </a:p>
        </p:txBody>
      </p:sp>
      <p:sp>
        <p:nvSpPr>
          <p:cNvPr id="148" name="Google Shape;148;p21"/>
          <p:cNvSpPr txBox="1">
            <a:spLocks noGrp="1"/>
          </p:cNvSpPr>
          <p:nvPr>
            <p:ph type="body" idx="1"/>
          </p:nvPr>
        </p:nvSpPr>
        <p:spPr>
          <a:xfrm>
            <a:off x="457200" y="681135"/>
            <a:ext cx="8229600" cy="398430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400"/>
              <a:t>Main objective of security and control are presented as below:</a:t>
            </a:r>
            <a:endParaRPr/>
          </a:p>
          <a:p>
            <a:pPr marL="114300" lvl="0" indent="0" algn="l" rtl="0">
              <a:lnSpc>
                <a:spcPct val="100000"/>
              </a:lnSpc>
              <a:spcBef>
                <a:spcPts val="360"/>
              </a:spcBef>
              <a:spcAft>
                <a:spcPts val="0"/>
              </a:spcAft>
              <a:buSzPts val="1800"/>
              <a:buNone/>
            </a:pPr>
            <a:endParaRPr sz="1400"/>
          </a:p>
          <a:p>
            <a:pPr marL="457200" lvl="0" indent="-342900" algn="l" rtl="0">
              <a:lnSpc>
                <a:spcPct val="100000"/>
              </a:lnSpc>
              <a:spcBef>
                <a:spcPts val="360"/>
              </a:spcBef>
              <a:spcAft>
                <a:spcPts val="0"/>
              </a:spcAft>
              <a:buClr>
                <a:schemeClr val="dk1"/>
              </a:buClr>
              <a:buSzPts val="1800"/>
              <a:buChar char="•"/>
            </a:pPr>
            <a:r>
              <a:rPr lang="en-IN" sz="1400"/>
              <a:t>The objective of Security is to </a:t>
            </a:r>
            <a:endParaRPr sz="1400"/>
          </a:p>
          <a:p>
            <a:pPr marL="114300" lvl="0" indent="0" algn="l" rtl="0">
              <a:lnSpc>
                <a:spcPct val="100000"/>
              </a:lnSpc>
              <a:spcBef>
                <a:spcPts val="360"/>
              </a:spcBef>
              <a:spcAft>
                <a:spcPts val="0"/>
              </a:spcAft>
              <a:buSzPts val="1800"/>
              <a:buNone/>
            </a:pPr>
            <a:r>
              <a:rPr lang="en-IN" sz="1400"/>
              <a:t>         i) Prevent unauthorized users from using system  </a:t>
            </a:r>
            <a:endParaRPr/>
          </a:p>
          <a:p>
            <a:pPr marL="114300" lvl="0" indent="0" algn="l" rtl="0">
              <a:lnSpc>
                <a:spcPct val="100000"/>
              </a:lnSpc>
              <a:spcBef>
                <a:spcPts val="360"/>
              </a:spcBef>
              <a:spcAft>
                <a:spcPts val="0"/>
              </a:spcAft>
              <a:buSzPts val="1800"/>
              <a:buNone/>
            </a:pPr>
            <a:r>
              <a:rPr lang="en-IN" sz="1400"/>
              <a:t>         ii) Allow authorized users to use the system </a:t>
            </a:r>
            <a:endParaRPr sz="1400"/>
          </a:p>
          <a:p>
            <a:pPr marL="114300" lvl="0" indent="0" algn="l" rtl="0">
              <a:lnSpc>
                <a:spcPct val="100000"/>
              </a:lnSpc>
              <a:spcBef>
                <a:spcPts val="360"/>
              </a:spcBef>
              <a:spcAft>
                <a:spcPts val="0"/>
              </a:spcAft>
              <a:buSzPts val="1800"/>
              <a:buNone/>
            </a:pPr>
            <a:r>
              <a:rPr lang="en-IN" sz="1400"/>
              <a:t>         iii) Safeguard assets from intentional as well as accidental damages hardware, software and data. On the </a:t>
            </a:r>
            <a:endParaRPr sz="1400"/>
          </a:p>
          <a:p>
            <a:pPr marL="114300" lvl="0" indent="0" algn="l" rtl="0">
              <a:lnSpc>
                <a:spcPct val="100000"/>
              </a:lnSpc>
              <a:spcBef>
                <a:spcPts val="360"/>
              </a:spcBef>
              <a:spcAft>
                <a:spcPts val="0"/>
              </a:spcAft>
              <a:buSzPts val="1800"/>
              <a:buNone/>
            </a:pPr>
            <a:r>
              <a:rPr lang="en-IN" sz="1400"/>
              <a:t>              other hand the objectives of control are to ensure that, authorized users use the application and </a:t>
            </a:r>
            <a:endParaRPr sz="1400"/>
          </a:p>
          <a:p>
            <a:pPr marL="114300" lvl="0" indent="0" algn="l" rtl="0">
              <a:lnSpc>
                <a:spcPct val="100000"/>
              </a:lnSpc>
              <a:spcBef>
                <a:spcPts val="360"/>
              </a:spcBef>
              <a:spcAft>
                <a:spcPts val="0"/>
              </a:spcAft>
              <a:buSzPts val="1800"/>
              <a:buNone/>
            </a:pPr>
            <a:r>
              <a:rPr lang="en-IN" sz="1400"/>
              <a:t>              adapt for the intent and purpose for which they are designed and made available by the business. </a:t>
            </a:r>
            <a:endParaRPr sz="1400"/>
          </a:p>
          <a:p>
            <a:pPr marL="114300" lvl="0" indent="0" algn="l" rtl="0">
              <a:lnSpc>
                <a:spcPct val="100000"/>
              </a:lnSpc>
              <a:spcBef>
                <a:spcPts val="360"/>
              </a:spcBef>
              <a:spcAft>
                <a:spcPts val="0"/>
              </a:spcAft>
              <a:buSzPts val="1800"/>
              <a:buNone/>
            </a:pPr>
            <a:r>
              <a:rPr lang="en-IN" sz="1400"/>
              <a:t>              When banks go for selection of core banking solution, they have to also concurrently consider </a:t>
            </a:r>
            <a:endParaRPr sz="1400"/>
          </a:p>
          <a:p>
            <a:pPr marL="114300" lvl="0" indent="0" algn="l" rtl="0">
              <a:lnSpc>
                <a:spcPct val="100000"/>
              </a:lnSpc>
              <a:spcBef>
                <a:spcPts val="360"/>
              </a:spcBef>
              <a:spcAft>
                <a:spcPts val="0"/>
              </a:spcAft>
              <a:buSzPts val="1800"/>
              <a:buNone/>
            </a:pPr>
            <a:r>
              <a:rPr lang="en-IN" sz="1400"/>
              <a:t>              installing a security and control system to administer the security and control policy and procedures.    </a:t>
            </a:r>
            <a:r>
              <a:rPr lang="en-IN" sz="1400" b="1"/>
              <a:t>For example:</a:t>
            </a:r>
            <a:endParaRPr/>
          </a:p>
          <a:p>
            <a:pPr marL="457200" lvl="0" indent="-342900" algn="l" rtl="0">
              <a:lnSpc>
                <a:spcPct val="100000"/>
              </a:lnSpc>
              <a:spcBef>
                <a:spcPts val="360"/>
              </a:spcBef>
              <a:spcAft>
                <a:spcPts val="0"/>
              </a:spcAft>
              <a:buSzPts val="1800"/>
              <a:buFont typeface="Arial"/>
              <a:buChar char="•"/>
            </a:pPr>
            <a:r>
              <a:rPr lang="en-IN" sz="1400"/>
              <a:t>appoint a chief security officer (CSO) - He should be an authorized person for to take care the security.  </a:t>
            </a:r>
            <a:endParaRPr/>
          </a:p>
          <a:p>
            <a:pPr marL="457200" lvl="0" indent="-342900" algn="l" rtl="0">
              <a:lnSpc>
                <a:spcPct val="100000"/>
              </a:lnSpc>
              <a:spcBef>
                <a:spcPts val="360"/>
              </a:spcBef>
              <a:spcAft>
                <a:spcPts val="0"/>
              </a:spcAft>
              <a:buSzPts val="1800"/>
              <a:buChar char="•"/>
            </a:pPr>
            <a:r>
              <a:rPr lang="en-IN" sz="1400"/>
              <a:t>Appoint Risk Analysis Team – to analyze the risks and develop counter measures </a:t>
            </a:r>
            <a:endParaRPr/>
          </a:p>
          <a:p>
            <a:pPr marL="457200" lvl="0" indent="-342900" algn="l" rtl="0">
              <a:lnSpc>
                <a:spcPct val="100000"/>
              </a:lnSpc>
              <a:spcBef>
                <a:spcPts val="360"/>
              </a:spcBef>
              <a:spcAft>
                <a:spcPts val="0"/>
              </a:spcAft>
              <a:buSzPts val="1800"/>
              <a:buChar char="•"/>
            </a:pPr>
            <a:r>
              <a:rPr lang="en-IN" sz="1400"/>
              <a:t>for implementation </a:t>
            </a:r>
            <a:endParaRPr/>
          </a:p>
          <a:p>
            <a:pPr marL="457200" lvl="0" indent="-342900" algn="l" rtl="0">
              <a:lnSpc>
                <a:spcPct val="100000"/>
              </a:lnSpc>
              <a:spcBef>
                <a:spcPts val="360"/>
              </a:spcBef>
              <a:spcAft>
                <a:spcPts val="0"/>
              </a:spcAft>
              <a:buSzPts val="1800"/>
              <a:buChar char="•"/>
            </a:pPr>
            <a:r>
              <a:rPr lang="en-IN" sz="1400"/>
              <a:t>Develop Safeguard manuals – Administrative safeguard, physical safeguard and technical safeguard.</a:t>
            </a:r>
            <a:endParaRPr/>
          </a:p>
        </p:txBody>
      </p:sp>
      <p:sp>
        <p:nvSpPr>
          <p:cNvPr id="149" name="Google Shape;149;p21"/>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5" name="Google Shape;155;p22"/>
          <p:cNvSpPr txBox="1">
            <a:spLocks noGrp="1"/>
          </p:cNvSpPr>
          <p:nvPr>
            <p:ph type="body" idx="1"/>
          </p:nvPr>
        </p:nvSpPr>
        <p:spPr>
          <a:xfrm>
            <a:off x="457200" y="681135"/>
            <a:ext cx="8229600" cy="3984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800"/>
              <a:buNone/>
            </a:pPr>
            <a:endParaRPr sz="1400" dirty="0"/>
          </a:p>
          <a:p>
            <a:pPr marL="0" lvl="0" indent="0" algn="l" rtl="0">
              <a:lnSpc>
                <a:spcPct val="100000"/>
              </a:lnSpc>
              <a:spcBef>
                <a:spcPts val="360"/>
              </a:spcBef>
              <a:spcAft>
                <a:spcPts val="0"/>
              </a:spcAft>
              <a:buSzPts val="1800"/>
              <a:buNone/>
            </a:pPr>
            <a:endParaRPr sz="1400" dirty="0"/>
          </a:p>
          <a:p>
            <a:pPr marL="0" lvl="0" indent="0" algn="l" rtl="0">
              <a:lnSpc>
                <a:spcPct val="100000"/>
              </a:lnSpc>
              <a:spcBef>
                <a:spcPts val="360"/>
              </a:spcBef>
              <a:spcAft>
                <a:spcPts val="0"/>
              </a:spcAft>
              <a:buSzPts val="1800"/>
              <a:buNone/>
            </a:pPr>
            <a:endParaRPr sz="1400" dirty="0"/>
          </a:p>
          <a:p>
            <a:pPr marL="0" lvl="0" indent="0" algn="ctr" rtl="0">
              <a:lnSpc>
                <a:spcPct val="100000"/>
              </a:lnSpc>
              <a:spcBef>
                <a:spcPts val="360"/>
              </a:spcBef>
              <a:spcAft>
                <a:spcPts val="0"/>
              </a:spcAft>
              <a:buSzPts val="1800"/>
              <a:buNone/>
            </a:pPr>
            <a:r>
              <a:rPr lang="en-IN" sz="3400" b="1" dirty="0"/>
              <a:t>THANK YOU ALL</a:t>
            </a:r>
            <a:endParaRPr sz="3400" b="1" dirty="0"/>
          </a:p>
          <a:p>
            <a:pPr marL="0" lvl="0" indent="0" algn="ctr" rtl="0">
              <a:lnSpc>
                <a:spcPct val="100000"/>
              </a:lnSpc>
              <a:spcBef>
                <a:spcPts val="360"/>
              </a:spcBef>
              <a:spcAft>
                <a:spcPts val="0"/>
              </a:spcAft>
              <a:buSzPts val="1800"/>
              <a:buNone/>
            </a:pPr>
            <a:r>
              <a:rPr lang="en-IN" sz="3400" b="1" dirty="0"/>
              <a:t>BY</a:t>
            </a:r>
            <a:endParaRPr sz="3400" b="1" dirty="0"/>
          </a:p>
          <a:p>
            <a:pPr marL="0" lvl="0" indent="0" algn="ctr" rtl="0">
              <a:lnSpc>
                <a:spcPct val="100000"/>
              </a:lnSpc>
              <a:spcBef>
                <a:spcPts val="360"/>
              </a:spcBef>
              <a:spcAft>
                <a:spcPts val="0"/>
              </a:spcAft>
              <a:buSzPts val="1800"/>
              <a:buNone/>
            </a:pPr>
            <a:r>
              <a:rPr lang="en-IN" sz="3400" b="1" dirty="0"/>
              <a:t>Sudhan Venu</a:t>
            </a:r>
            <a:endParaRPr sz="3400" b="1" dirty="0"/>
          </a:p>
        </p:txBody>
      </p:sp>
      <p:sp>
        <p:nvSpPr>
          <p:cNvPr id="156" name="Google Shape;156;p22"/>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13</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2120</Words>
  <Application>Microsoft Office PowerPoint</Application>
  <PresentationFormat>On-screen Show (16:9)</PresentationFormat>
  <Paragraphs>156</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M.Sc. - Cyber Forensics &amp; Information Security </vt:lpstr>
      <vt:lpstr>COMPUTERISED INFORMATION SYSTEM FOR BANKS (BIS)</vt:lpstr>
      <vt:lpstr>COMPUTERISED INFORMATION SYSTEM FOR BANKS (BIS)</vt:lpstr>
      <vt:lpstr>COMPUTERISED INFORMATION SYSTEM FOR BANKS (BIS)</vt:lpstr>
      <vt:lpstr>COMPUTERISED INFORMATION SYSTEM FOR BANKS (BIS)</vt:lpstr>
      <vt:lpstr>COMPUTERISED INFORMATION SYSTEM FOR BANKS (BIS)</vt:lpstr>
      <vt:lpstr>COMPUTERISED INFORMATION SYSTEM FOR BANKS (BIS)</vt:lpstr>
      <vt:lpstr>COMPUTERISED INFORMATION SYSTEM FOR BANKS (BIS)</vt:lpstr>
      <vt:lpstr>COMPUTERISED INFORMATION SYSTEM FOR BANKS (BIS)</vt:lpstr>
      <vt:lpstr>COMPUTERISED INFORMATION SYSTEM FOR BANKS (BIS)</vt:lpstr>
      <vt:lpstr>COMPUTERISED INFORMATION SYSTEM FOR BANKS (BIS)</vt:lpstr>
      <vt:lpstr>COMPUTERISED INFORMATION SYSTEM FOR BANKS (BIS)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Sudhan Venu</cp:lastModifiedBy>
  <cp:revision>3</cp:revision>
  <dcterms:modified xsi:type="dcterms:W3CDTF">2025-09-13T06:00:20Z</dcterms:modified>
</cp:coreProperties>
</file>