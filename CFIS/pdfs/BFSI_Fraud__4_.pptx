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9144000" cy="5143500"/>
  <p:notesSz cx="6858000" cy="9947275"/>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337" cy="498721"/>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p:nvPr>
            <p:ph type="dt" idx="10"/>
          </p:nvPr>
        </p:nvSpPr>
        <p:spPr>
          <a:xfrm>
            <a:off x="3885120" y="0"/>
            <a:ext cx="2971336" cy="498721"/>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p:nvPr>
            <p:ph type="sldImg" idx="3"/>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p:nvPr>
            <p:ph type="body" idx="1"/>
          </p:nvPr>
        </p:nvSpPr>
        <p:spPr>
          <a:xfrm>
            <a:off x="685337" y="4787041"/>
            <a:ext cx="5487326" cy="391682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p:nvPr>
            <p:ph type="ftr" idx="11"/>
          </p:nvPr>
        </p:nvSpPr>
        <p:spPr>
          <a:xfrm>
            <a:off x="0" y="9448555"/>
            <a:ext cx="2971337" cy="498721"/>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p:nvPr>
            <p:ph type="sldNum" idx="12"/>
          </p:nvPr>
        </p:nvSpPr>
        <p:spPr>
          <a:xfrm>
            <a:off x="3885120" y="9448555"/>
            <a:ext cx="2971336" cy="498721"/>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I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6" name="Shape 56"/>
        <p:cNvGrpSpPr/>
        <p:nvPr/>
      </p:nvGrpSpPr>
      <p:grpSpPr>
        <a:xfrm>
          <a:off x="0" y="0"/>
          <a:ext cx="0" cy="0"/>
          <a:chOff x="0" y="0"/>
          <a:chExt cx="0" cy="0"/>
        </a:xfrm>
      </p:grpSpPr>
      <p:sp>
        <p:nvSpPr>
          <p:cNvPr id="57" name="Google Shape;57;p1:notes"/>
          <p:cNvSpPr txBox="1"/>
          <p:nvPr>
            <p:ph type="body" idx="1"/>
          </p:nvPr>
        </p:nvSpPr>
        <p:spPr>
          <a:xfrm>
            <a:off x="685337" y="4787041"/>
            <a:ext cx="5487326" cy="391682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58" name="Google Shape;58;p1: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64" name="Shape 64"/>
        <p:cNvGrpSpPr/>
        <p:nvPr/>
      </p:nvGrpSpPr>
      <p:grpSpPr>
        <a:xfrm>
          <a:off x="0" y="0"/>
          <a:ext cx="0" cy="0"/>
          <a:chOff x="0" y="0"/>
          <a:chExt cx="0" cy="0"/>
        </a:xfrm>
      </p:grpSpPr>
      <p:sp>
        <p:nvSpPr>
          <p:cNvPr id="65" name="Google Shape;65;p2: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 name="Google Shape;66;p2:notes"/>
          <p:cNvSpPr txBox="1"/>
          <p:nvPr>
            <p:ph type="body" idx="1"/>
          </p:nvPr>
        </p:nvSpPr>
        <p:spPr>
          <a:xfrm>
            <a:off x="685337" y="4787041"/>
            <a:ext cx="5487326" cy="3916825"/>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p>
        </p:txBody>
      </p:sp>
      <p:sp>
        <p:nvSpPr>
          <p:cNvPr id="67" name="Google Shape;67;p2:notes"/>
          <p:cNvSpPr txBox="1"/>
          <p:nvPr>
            <p:ph type="sldNum" idx="12"/>
          </p:nvPr>
        </p:nvSpPr>
        <p:spPr>
          <a:xfrm>
            <a:off x="3885120" y="9448555"/>
            <a:ext cx="2971336" cy="498721"/>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I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73" name="Shape 73"/>
        <p:cNvGrpSpPr/>
        <p:nvPr/>
      </p:nvGrpSpPr>
      <p:grpSpPr>
        <a:xfrm>
          <a:off x="0" y="0"/>
          <a:ext cx="0" cy="0"/>
          <a:chOff x="0" y="0"/>
          <a:chExt cx="0" cy="0"/>
        </a:xfrm>
      </p:grpSpPr>
      <p:sp>
        <p:nvSpPr>
          <p:cNvPr id="74" name="Google Shape;74;p3:notes"/>
          <p:cNvSpPr txBox="1"/>
          <p:nvPr>
            <p:ph type="body" idx="1"/>
          </p:nvPr>
        </p:nvSpPr>
        <p:spPr>
          <a:xfrm>
            <a:off x="685337" y="4787041"/>
            <a:ext cx="5487326" cy="391682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75" name="Google Shape;75;p3: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81" name="Shape 81"/>
        <p:cNvGrpSpPr/>
        <p:nvPr/>
      </p:nvGrpSpPr>
      <p:grpSpPr>
        <a:xfrm>
          <a:off x="0" y="0"/>
          <a:ext cx="0" cy="0"/>
          <a:chOff x="0" y="0"/>
          <a:chExt cx="0" cy="0"/>
        </a:xfrm>
      </p:grpSpPr>
      <p:sp>
        <p:nvSpPr>
          <p:cNvPr id="82" name="Google Shape;82;p4:notes"/>
          <p:cNvSpPr txBox="1"/>
          <p:nvPr>
            <p:ph type="body" idx="1"/>
          </p:nvPr>
        </p:nvSpPr>
        <p:spPr>
          <a:xfrm>
            <a:off x="685337" y="4787041"/>
            <a:ext cx="5487326" cy="391682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83" name="Google Shape;83;p4: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89" name="Shape 89"/>
        <p:cNvGrpSpPr/>
        <p:nvPr/>
      </p:nvGrpSpPr>
      <p:grpSpPr>
        <a:xfrm>
          <a:off x="0" y="0"/>
          <a:ext cx="0" cy="0"/>
          <a:chOff x="0" y="0"/>
          <a:chExt cx="0" cy="0"/>
        </a:xfrm>
      </p:grpSpPr>
      <p:sp>
        <p:nvSpPr>
          <p:cNvPr id="90" name="Google Shape;90;p5:notes"/>
          <p:cNvSpPr txBox="1"/>
          <p:nvPr>
            <p:ph type="body" idx="1"/>
          </p:nvPr>
        </p:nvSpPr>
        <p:spPr>
          <a:xfrm>
            <a:off x="685337" y="4787041"/>
            <a:ext cx="5487326" cy="391682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1" name="Google Shape;91;p5: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97" name="Shape 97"/>
        <p:cNvGrpSpPr/>
        <p:nvPr/>
      </p:nvGrpSpPr>
      <p:grpSpPr>
        <a:xfrm>
          <a:off x="0" y="0"/>
          <a:ext cx="0" cy="0"/>
          <a:chOff x="0" y="0"/>
          <a:chExt cx="0" cy="0"/>
        </a:xfrm>
      </p:grpSpPr>
      <p:sp>
        <p:nvSpPr>
          <p:cNvPr id="98" name="Google Shape;98;p6:notes"/>
          <p:cNvSpPr txBox="1"/>
          <p:nvPr>
            <p:ph type="body" idx="1"/>
          </p:nvPr>
        </p:nvSpPr>
        <p:spPr>
          <a:xfrm>
            <a:off x="685337" y="4787041"/>
            <a:ext cx="5487326" cy="391682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9" name="Google Shape;99;p6: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5" name="Shape 105"/>
        <p:cNvGrpSpPr/>
        <p:nvPr/>
      </p:nvGrpSpPr>
      <p:grpSpPr>
        <a:xfrm>
          <a:off x="0" y="0"/>
          <a:ext cx="0" cy="0"/>
          <a:chOff x="0" y="0"/>
          <a:chExt cx="0" cy="0"/>
        </a:xfrm>
      </p:grpSpPr>
      <p:sp>
        <p:nvSpPr>
          <p:cNvPr id="106" name="Google Shape;106;p7:notes"/>
          <p:cNvSpPr txBox="1"/>
          <p:nvPr>
            <p:ph type="body" idx="1"/>
          </p:nvPr>
        </p:nvSpPr>
        <p:spPr>
          <a:xfrm>
            <a:off x="685337" y="4787041"/>
            <a:ext cx="5487326" cy="391682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07" name="Google Shape;107;p7: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3" name="Shape 113"/>
        <p:cNvGrpSpPr/>
        <p:nvPr/>
      </p:nvGrpSpPr>
      <p:grpSpPr>
        <a:xfrm>
          <a:off x="0" y="0"/>
          <a:ext cx="0" cy="0"/>
          <a:chOff x="0" y="0"/>
          <a:chExt cx="0" cy="0"/>
        </a:xfrm>
      </p:grpSpPr>
      <p:sp>
        <p:nvSpPr>
          <p:cNvPr id="114" name="Google Shape;114;p8:notes"/>
          <p:cNvSpPr txBox="1"/>
          <p:nvPr>
            <p:ph type="body" idx="1"/>
          </p:nvPr>
        </p:nvSpPr>
        <p:spPr>
          <a:xfrm>
            <a:off x="685337" y="4787041"/>
            <a:ext cx="5487326" cy="391682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15" name="Google Shape;115;p8: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1" name="Shape 121"/>
        <p:cNvGrpSpPr/>
        <p:nvPr/>
      </p:nvGrpSpPr>
      <p:grpSpPr>
        <a:xfrm>
          <a:off x="0" y="0"/>
          <a:ext cx="0" cy="0"/>
          <a:chOff x="0" y="0"/>
          <a:chExt cx="0" cy="0"/>
        </a:xfrm>
      </p:grpSpPr>
      <p:sp>
        <p:nvSpPr>
          <p:cNvPr id="122" name="Google Shape;122;p9: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 name="Google Shape;123;p9:notes"/>
          <p:cNvSpPr txBox="1"/>
          <p:nvPr>
            <p:ph type="body" idx="1"/>
          </p:nvPr>
        </p:nvSpPr>
        <p:spPr>
          <a:xfrm>
            <a:off x="685337" y="4787041"/>
            <a:ext cx="5487326" cy="3916825"/>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p>
        </p:txBody>
      </p:sp>
      <p:sp>
        <p:nvSpPr>
          <p:cNvPr id="124" name="Google Shape;124;p9:notes"/>
          <p:cNvSpPr txBox="1"/>
          <p:nvPr>
            <p:ph type="sldNum" idx="12"/>
          </p:nvPr>
        </p:nvSpPr>
        <p:spPr>
          <a:xfrm>
            <a:off x="3885120" y="9448555"/>
            <a:ext cx="2971336" cy="498721"/>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I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0" name="Shape 130"/>
        <p:cNvGrpSpPr/>
        <p:nvPr/>
      </p:nvGrpSpPr>
      <p:grpSpPr>
        <a:xfrm>
          <a:off x="0" y="0"/>
          <a:ext cx="0" cy="0"/>
          <a:chOff x="0" y="0"/>
          <a:chExt cx="0" cy="0"/>
        </a:xfrm>
      </p:grpSpPr>
      <p:sp>
        <p:nvSpPr>
          <p:cNvPr id="131" name="Google Shape;131;p10:notes"/>
          <p:cNvSpPr txBox="1"/>
          <p:nvPr>
            <p:ph type="body" idx="1"/>
          </p:nvPr>
        </p:nvSpPr>
        <p:spPr>
          <a:xfrm>
            <a:off x="685337" y="4787041"/>
            <a:ext cx="5487326" cy="391682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32" name="Google Shape;132;p10: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8" name="Shape 138"/>
        <p:cNvGrpSpPr/>
        <p:nvPr/>
      </p:nvGrpSpPr>
      <p:grpSpPr>
        <a:xfrm>
          <a:off x="0" y="0"/>
          <a:ext cx="0" cy="0"/>
          <a:chOff x="0" y="0"/>
          <a:chExt cx="0" cy="0"/>
        </a:xfrm>
      </p:grpSpPr>
      <p:sp>
        <p:nvSpPr>
          <p:cNvPr id="139" name="Google Shape;139;p11:notes"/>
          <p:cNvSpPr txBox="1"/>
          <p:nvPr>
            <p:ph type="body" idx="1"/>
          </p:nvPr>
        </p:nvSpPr>
        <p:spPr>
          <a:xfrm>
            <a:off x="685337" y="4787041"/>
            <a:ext cx="5487326" cy="391682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40" name="Google Shape;140;p11: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6" name="Shape 146"/>
        <p:cNvGrpSpPr/>
        <p:nvPr/>
      </p:nvGrpSpPr>
      <p:grpSpPr>
        <a:xfrm>
          <a:off x="0" y="0"/>
          <a:ext cx="0" cy="0"/>
          <a:chOff x="0" y="0"/>
          <a:chExt cx="0" cy="0"/>
        </a:xfrm>
      </p:grpSpPr>
      <p:sp>
        <p:nvSpPr>
          <p:cNvPr id="147" name="Google Shape;147;p12:notes"/>
          <p:cNvSpPr txBox="1"/>
          <p:nvPr>
            <p:ph type="body" idx="1"/>
          </p:nvPr>
        </p:nvSpPr>
        <p:spPr>
          <a:xfrm>
            <a:off x="685337" y="4787041"/>
            <a:ext cx="5487326" cy="391682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48" name="Google Shape;148;p12: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4" name="Shape 154"/>
        <p:cNvGrpSpPr/>
        <p:nvPr/>
      </p:nvGrpSpPr>
      <p:grpSpPr>
        <a:xfrm>
          <a:off x="0" y="0"/>
          <a:ext cx="0" cy="0"/>
          <a:chOff x="0" y="0"/>
          <a:chExt cx="0" cy="0"/>
        </a:xfrm>
      </p:grpSpPr>
      <p:sp>
        <p:nvSpPr>
          <p:cNvPr id="155" name="Google Shape;155;p13:notes"/>
          <p:cNvSpPr txBox="1"/>
          <p:nvPr>
            <p:ph type="body" idx="1"/>
          </p:nvPr>
        </p:nvSpPr>
        <p:spPr>
          <a:xfrm>
            <a:off x="685337" y="4787041"/>
            <a:ext cx="5487326" cy="391682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56" name="Google Shape;156;p13: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2" name="Shape 162"/>
        <p:cNvGrpSpPr/>
        <p:nvPr/>
      </p:nvGrpSpPr>
      <p:grpSpPr>
        <a:xfrm>
          <a:off x="0" y="0"/>
          <a:ext cx="0" cy="0"/>
          <a:chOff x="0" y="0"/>
          <a:chExt cx="0" cy="0"/>
        </a:xfrm>
      </p:grpSpPr>
      <p:sp>
        <p:nvSpPr>
          <p:cNvPr id="163" name="Google Shape;163;p14:notes"/>
          <p:cNvSpPr txBox="1"/>
          <p:nvPr>
            <p:ph type="body" idx="1"/>
          </p:nvPr>
        </p:nvSpPr>
        <p:spPr>
          <a:xfrm>
            <a:off x="685337" y="4787041"/>
            <a:ext cx="5487326" cy="391682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64" name="Google Shape;164;p14: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0" name="Shape 170"/>
        <p:cNvGrpSpPr/>
        <p:nvPr/>
      </p:nvGrpSpPr>
      <p:grpSpPr>
        <a:xfrm>
          <a:off x="0" y="0"/>
          <a:ext cx="0" cy="0"/>
          <a:chOff x="0" y="0"/>
          <a:chExt cx="0" cy="0"/>
        </a:xfrm>
      </p:grpSpPr>
      <p:sp>
        <p:nvSpPr>
          <p:cNvPr id="171" name="Google Shape;171;p15:notes"/>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2" name="Google Shape;172;p15:notes"/>
          <p:cNvSpPr txBox="1"/>
          <p:nvPr>
            <p:ph type="body" idx="1"/>
          </p:nvPr>
        </p:nvSpPr>
        <p:spPr>
          <a:xfrm>
            <a:off x="685337" y="4787041"/>
            <a:ext cx="5487326" cy="3916825"/>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p>
        </p:txBody>
      </p:sp>
      <p:sp>
        <p:nvSpPr>
          <p:cNvPr id="173" name="Google Shape;173;p15:notes"/>
          <p:cNvSpPr txBox="1"/>
          <p:nvPr>
            <p:ph type="sldNum" idx="12"/>
          </p:nvPr>
        </p:nvSpPr>
        <p:spPr>
          <a:xfrm>
            <a:off x="3885120" y="9448555"/>
            <a:ext cx="2971336" cy="498721"/>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I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5" name="Shape 15"/>
        <p:cNvGrpSpPr/>
        <p:nvPr/>
      </p:nvGrpSpPr>
      <p:grpSpPr>
        <a:xfrm>
          <a:off x="0" y="0"/>
          <a:ext cx="0" cy="0"/>
          <a:chOff x="0" y="0"/>
          <a:chExt cx="0" cy="0"/>
        </a:xfrm>
      </p:grpSpPr>
      <p:sp>
        <p:nvSpPr>
          <p:cNvPr id="16" name="Google Shape;16;p2"/>
          <p:cNvSpPr txBox="1"/>
          <p:nvPr>
            <p:ph type="title"/>
          </p:nvPr>
        </p:nvSpPr>
        <p:spPr>
          <a:xfrm>
            <a:off x="457200" y="205979"/>
            <a:ext cx="8229600" cy="85725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type="body" idx="1"/>
          </p:nvPr>
        </p:nvSpPr>
        <p:spPr>
          <a:xfrm>
            <a:off x="457200" y="1200151"/>
            <a:ext cx="8229600" cy="3394472"/>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18" name="Google Shape;18;p2"/>
          <p:cNvSpPr txBox="1"/>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1" name="Shape 21"/>
        <p:cNvGrpSpPr/>
        <p:nvPr/>
      </p:nvGrpSpPr>
      <p:grpSpPr>
        <a:xfrm>
          <a:off x="0" y="0"/>
          <a:ext cx="0" cy="0"/>
          <a:chOff x="0" y="0"/>
          <a:chExt cx="0" cy="0"/>
        </a:xfrm>
      </p:grpSpPr>
      <p:sp>
        <p:nvSpPr>
          <p:cNvPr id="22" name="Google Shape;22;p3"/>
          <p:cNvSpPr txBox="1"/>
          <p:nvPr>
            <p:ph type="title"/>
          </p:nvPr>
        </p:nvSpPr>
        <p:spPr>
          <a:xfrm>
            <a:off x="457200" y="205979"/>
            <a:ext cx="8229600" cy="85725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
          <p:cNvSpPr txBox="1"/>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26" name="Shape 26"/>
        <p:cNvGrpSpPr/>
        <p:nvPr/>
      </p:nvGrpSpPr>
      <p:grpSpPr>
        <a:xfrm>
          <a:off x="0" y="0"/>
          <a:ext cx="0" cy="0"/>
          <a:chOff x="0" y="0"/>
          <a:chExt cx="0" cy="0"/>
        </a:xfrm>
      </p:grpSpPr>
      <p:sp>
        <p:nvSpPr>
          <p:cNvPr id="27" name="Google Shape;27;p4"/>
          <p:cNvSpPr txBox="1"/>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4"/>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30" name="Shape 30"/>
        <p:cNvGrpSpPr/>
        <p:nvPr/>
      </p:nvGrpSpPr>
      <p:grpSpPr>
        <a:xfrm>
          <a:off x="0" y="0"/>
          <a:ext cx="0" cy="0"/>
          <a:chOff x="0" y="0"/>
          <a:chExt cx="0" cy="0"/>
        </a:xfrm>
      </p:grpSpPr>
      <p:sp>
        <p:nvSpPr>
          <p:cNvPr id="31" name="Google Shape;31;p5"/>
          <p:cNvSpPr txBox="1"/>
          <p:nvPr>
            <p:ph type="title"/>
          </p:nvPr>
        </p:nvSpPr>
        <p:spPr>
          <a:xfrm>
            <a:off x="457201" y="204787"/>
            <a:ext cx="3008313" cy="871538"/>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chemeClr val="dk1"/>
              </a:buClr>
              <a:buSzPts val="2000"/>
              <a:buFont typeface="Calibri" panose="020F0502020204030204"/>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
          <p:cNvSpPr txBox="1"/>
          <p:nvPr>
            <p:ph type="body" idx="1"/>
          </p:nvPr>
        </p:nvSpPr>
        <p:spPr>
          <a:xfrm>
            <a:off x="3575050" y="204788"/>
            <a:ext cx="5111750" cy="4389835"/>
          </a:xfrm>
          <a:prstGeom prst="rect">
            <a:avLst/>
          </a:prstGeom>
          <a:noFill/>
          <a:ln>
            <a:noFill/>
          </a:ln>
        </p:spPr>
        <p:txBody>
          <a:bodyPr spcFirstLastPara="1" wrap="square" lIns="91425" tIns="45700" rIns="91425" bIns="45700" anchor="t" anchorCtr="0">
            <a:no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p:txBody>
      </p:sp>
      <p:sp>
        <p:nvSpPr>
          <p:cNvPr id="33" name="Google Shape;33;p5"/>
          <p:cNvSpPr txBox="1"/>
          <p:nvPr>
            <p:ph type="body" idx="2"/>
          </p:nvPr>
        </p:nvSpPr>
        <p:spPr>
          <a:xfrm>
            <a:off x="457201" y="1076326"/>
            <a:ext cx="3008313" cy="351829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p:txBody>
      </p:sp>
      <p:sp>
        <p:nvSpPr>
          <p:cNvPr id="34" name="Google Shape;34;p5"/>
          <p:cNvSpPr txBox="1"/>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37" name="Shape 37"/>
        <p:cNvGrpSpPr/>
        <p:nvPr/>
      </p:nvGrpSpPr>
      <p:grpSpPr>
        <a:xfrm>
          <a:off x="0" y="0"/>
          <a:ext cx="0" cy="0"/>
          <a:chOff x="0" y="0"/>
          <a:chExt cx="0" cy="0"/>
        </a:xfrm>
      </p:grpSpPr>
      <p:sp>
        <p:nvSpPr>
          <p:cNvPr id="38" name="Google Shape;38;p6"/>
          <p:cNvSpPr txBox="1"/>
          <p:nvPr>
            <p:ph type="title"/>
          </p:nvPr>
        </p:nvSpPr>
        <p:spPr>
          <a:xfrm>
            <a:off x="1792288" y="3600450"/>
            <a:ext cx="5486400" cy="425054"/>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chemeClr val="dk1"/>
              </a:buClr>
              <a:buSzPts val="2000"/>
              <a:buFont typeface="Calibri" panose="020F0502020204030204"/>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
          <p:cNvSpPr/>
          <p:nvPr>
            <p:ph type="pic" idx="2"/>
          </p:nvPr>
        </p:nvSpPr>
        <p:spPr>
          <a:xfrm>
            <a:off x="1792288" y="459581"/>
            <a:ext cx="5486400" cy="3086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640"/>
              </a:spcBef>
              <a:spcAft>
                <a:spcPts val="0"/>
              </a:spcAft>
              <a:buClr>
                <a:schemeClr val="dk1"/>
              </a:buClr>
              <a:buSzPts val="3200"/>
              <a:buFont typeface="Arial" panose="020B0604020202020204"/>
              <a:buNone/>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560"/>
              </a:spcBef>
              <a:spcAft>
                <a:spcPts val="0"/>
              </a:spcAft>
              <a:buClr>
                <a:schemeClr val="dk1"/>
              </a:buClr>
              <a:buSzPts val="2800"/>
              <a:buFont typeface="Arial" panose="020B0604020202020204"/>
              <a:buNone/>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480"/>
              </a:spcBef>
              <a:spcAft>
                <a:spcPts val="0"/>
              </a:spcAft>
              <a:buClr>
                <a:schemeClr val="dk1"/>
              </a:buClr>
              <a:buSzPts val="2400"/>
              <a:buFont typeface="Arial" panose="020B0604020202020204"/>
              <a:buNone/>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400"/>
              </a:spcBef>
              <a:spcAft>
                <a:spcPts val="0"/>
              </a:spcAft>
              <a:buClr>
                <a:schemeClr val="dk1"/>
              </a:buClr>
              <a:buSzPts val="2000"/>
              <a:buFont typeface="Arial" panose="020B0604020202020204"/>
              <a:buNone/>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400"/>
              </a:spcBef>
              <a:spcAft>
                <a:spcPts val="0"/>
              </a:spcAft>
              <a:buClr>
                <a:schemeClr val="dk1"/>
              </a:buClr>
              <a:buSzPts val="2000"/>
              <a:buFont typeface="Arial" panose="020B0604020202020204"/>
              <a:buNone/>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400"/>
              </a:spcBef>
              <a:spcAft>
                <a:spcPts val="0"/>
              </a:spcAft>
              <a:buClr>
                <a:schemeClr val="dk1"/>
              </a:buClr>
              <a:buSzPts val="2000"/>
              <a:buFont typeface="Arial" panose="020B0604020202020204"/>
              <a:buNone/>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400"/>
              </a:spcBef>
              <a:spcAft>
                <a:spcPts val="0"/>
              </a:spcAft>
              <a:buClr>
                <a:schemeClr val="dk1"/>
              </a:buClr>
              <a:buSzPts val="2000"/>
              <a:buFont typeface="Arial" panose="020B0604020202020204"/>
              <a:buNone/>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400"/>
              </a:spcBef>
              <a:spcAft>
                <a:spcPts val="0"/>
              </a:spcAft>
              <a:buClr>
                <a:schemeClr val="dk1"/>
              </a:buClr>
              <a:buSzPts val="2000"/>
              <a:buFont typeface="Arial" panose="020B0604020202020204"/>
              <a:buNone/>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400"/>
              </a:spcBef>
              <a:spcAft>
                <a:spcPts val="0"/>
              </a:spcAft>
              <a:buClr>
                <a:schemeClr val="dk1"/>
              </a:buClr>
              <a:buSzPts val="2000"/>
              <a:buFont typeface="Arial" panose="020B0604020202020204"/>
              <a:buNone/>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0" name="Google Shape;40;p6"/>
          <p:cNvSpPr txBox="1"/>
          <p:nvPr>
            <p:ph type="body" idx="1"/>
          </p:nvPr>
        </p:nvSpPr>
        <p:spPr>
          <a:xfrm>
            <a:off x="1792288" y="4025503"/>
            <a:ext cx="5486400" cy="6036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p:txBody>
      </p:sp>
      <p:sp>
        <p:nvSpPr>
          <p:cNvPr id="41" name="Google Shape;41;p6"/>
          <p:cNvSpPr txBox="1"/>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6"/>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44" name="Shape 44"/>
        <p:cNvGrpSpPr/>
        <p:nvPr/>
      </p:nvGrpSpPr>
      <p:grpSpPr>
        <a:xfrm>
          <a:off x="0" y="0"/>
          <a:ext cx="0" cy="0"/>
          <a:chOff x="0" y="0"/>
          <a:chExt cx="0" cy="0"/>
        </a:xfrm>
      </p:grpSpPr>
      <p:sp>
        <p:nvSpPr>
          <p:cNvPr id="45" name="Google Shape;45;p7"/>
          <p:cNvSpPr txBox="1"/>
          <p:nvPr>
            <p:ph type="title"/>
          </p:nvPr>
        </p:nvSpPr>
        <p:spPr>
          <a:xfrm>
            <a:off x="457200" y="205979"/>
            <a:ext cx="8229600" cy="85725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7"/>
          <p:cNvSpPr txBox="1"/>
          <p:nvPr>
            <p:ph type="body" idx="1"/>
          </p:nvPr>
        </p:nvSpPr>
        <p:spPr>
          <a:xfrm rot="5400000">
            <a:off x="2874764" y="-1217413"/>
            <a:ext cx="3394472" cy="82296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47" name="Google Shape;47;p7"/>
          <p:cNvSpPr txBox="1"/>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7"/>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50" name="Shape 50"/>
        <p:cNvGrpSpPr/>
        <p:nvPr/>
      </p:nvGrpSpPr>
      <p:grpSpPr>
        <a:xfrm>
          <a:off x="0" y="0"/>
          <a:ext cx="0" cy="0"/>
          <a:chOff x="0" y="0"/>
          <a:chExt cx="0" cy="0"/>
        </a:xfrm>
      </p:grpSpPr>
      <p:sp>
        <p:nvSpPr>
          <p:cNvPr id="51" name="Google Shape;51;p8"/>
          <p:cNvSpPr txBox="1"/>
          <p:nvPr>
            <p:ph type="title"/>
          </p:nvPr>
        </p:nvSpPr>
        <p:spPr>
          <a:xfrm rot="5400000">
            <a:off x="6012656" y="771525"/>
            <a:ext cx="3290888" cy="2057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
          <p:cNvSpPr txBox="1"/>
          <p:nvPr>
            <p:ph type="body" idx="1"/>
          </p:nvPr>
        </p:nvSpPr>
        <p:spPr>
          <a:xfrm rot="5400000">
            <a:off x="1821656" y="-1209675"/>
            <a:ext cx="3290888" cy="60198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53" name="Google Shape;53;p8"/>
          <p:cNvSpPr txBox="1"/>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8"/>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8"/>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05979"/>
            <a:ext cx="8229600" cy="85725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1" name="Google Shape;11;p1"/>
          <p:cNvSpPr txBox="1"/>
          <p:nvPr>
            <p:ph type="body" idx="1"/>
          </p:nvPr>
        </p:nvSpPr>
        <p:spPr>
          <a:xfrm>
            <a:off x="457200" y="1200151"/>
            <a:ext cx="8229600" cy="339447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lnSpc>
                <a:spcPct val="100000"/>
              </a:lnSpc>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1"/>
          <p:cNvSpPr txBox="1"/>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 name="Google Shape;13;p1"/>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 name="Google Shape;14;p1"/>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hyperlink" Target="http://cybersecurityventures.com/hackerpocalypse-cybercrime-report-2016/"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59" name="Shape 59"/>
        <p:cNvGrpSpPr/>
        <p:nvPr/>
      </p:nvGrpSpPr>
      <p:grpSpPr>
        <a:xfrm>
          <a:off x="0" y="0"/>
          <a:ext cx="0" cy="0"/>
          <a:chOff x="0" y="0"/>
          <a:chExt cx="0" cy="0"/>
        </a:xfrm>
      </p:grpSpPr>
      <p:sp>
        <p:nvSpPr>
          <p:cNvPr id="60" name="Google Shape;60;p9"/>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2000" b="1"/>
              <a:t>M.Sc. - Cyber Forensics &amp; Information Security</a:t>
            </a:r>
            <a:br>
              <a:rPr lang="en-IN" sz="1800"/>
            </a:br>
            <a:endParaRPr sz="1800"/>
          </a:p>
        </p:txBody>
      </p:sp>
      <p:sp>
        <p:nvSpPr>
          <p:cNvPr id="61" name="Google Shape;61;p9"/>
          <p:cNvSpPr txBox="1"/>
          <p:nvPr>
            <p:ph type="body" idx="1"/>
          </p:nvPr>
        </p:nvSpPr>
        <p:spPr>
          <a:xfrm>
            <a:off x="403625" y="849072"/>
            <a:ext cx="8229600" cy="38109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360"/>
              </a:spcBef>
              <a:spcAft>
                <a:spcPts val="0"/>
              </a:spcAft>
              <a:buSzPts val="1800"/>
              <a:buNone/>
            </a:pPr>
            <a:endParaRPr sz="1200" b="1"/>
          </a:p>
          <a:p>
            <a:pPr marL="457200" lvl="0" indent="-228600" algn="l" rtl="0">
              <a:lnSpc>
                <a:spcPct val="100000"/>
              </a:lnSpc>
              <a:spcBef>
                <a:spcPts val="360"/>
              </a:spcBef>
              <a:spcAft>
                <a:spcPts val="0"/>
              </a:spcAft>
              <a:buSzPts val="1800"/>
              <a:buNone/>
            </a:pPr>
            <a:endParaRPr sz="1200" b="1"/>
          </a:p>
          <a:p>
            <a:pPr marL="457200" lvl="0" indent="-228600" algn="l" rtl="0">
              <a:lnSpc>
                <a:spcPct val="100000"/>
              </a:lnSpc>
              <a:spcBef>
                <a:spcPts val="360"/>
              </a:spcBef>
              <a:spcAft>
                <a:spcPts val="0"/>
              </a:spcAft>
              <a:buSzPts val="1800"/>
              <a:buNone/>
            </a:pPr>
            <a:endParaRPr sz="1200" b="1"/>
          </a:p>
          <a:p>
            <a:pPr marL="457200" lvl="0" indent="-228600" algn="l" rtl="0">
              <a:lnSpc>
                <a:spcPct val="100000"/>
              </a:lnSpc>
              <a:spcBef>
                <a:spcPts val="360"/>
              </a:spcBef>
              <a:spcAft>
                <a:spcPts val="0"/>
              </a:spcAft>
              <a:buSzPts val="1800"/>
              <a:buNone/>
            </a:pPr>
            <a:endParaRPr sz="1200" b="1"/>
          </a:p>
          <a:p>
            <a:pPr marL="114300" lvl="0" indent="0" algn="ctr" rtl="0">
              <a:lnSpc>
                <a:spcPct val="100000"/>
              </a:lnSpc>
              <a:spcBef>
                <a:spcPts val="360"/>
              </a:spcBef>
              <a:spcAft>
                <a:spcPts val="0"/>
              </a:spcAft>
              <a:buSzPts val="1800"/>
              <a:buNone/>
            </a:pPr>
            <a:r>
              <a:rPr lang="en-IN" sz="4000" b="1"/>
              <a:t>SESSION ON </a:t>
            </a:r>
            <a:endParaRPr lang="en-IN" sz="4000" b="1"/>
          </a:p>
          <a:p>
            <a:pPr marL="114300" lvl="0" indent="0" algn="ctr" rtl="0">
              <a:lnSpc>
                <a:spcPct val="100000"/>
              </a:lnSpc>
              <a:spcBef>
                <a:spcPts val="360"/>
              </a:spcBef>
              <a:spcAft>
                <a:spcPts val="0"/>
              </a:spcAft>
              <a:buSzPts val="1800"/>
              <a:buNone/>
            </a:pPr>
            <a:r>
              <a:rPr lang="en-IN" sz="4000" b="1"/>
              <a:t>BFSI FRAUDS &amp; COUNTERMEASURES</a:t>
            </a:r>
            <a:endParaRPr lang="en-IN" sz="4000" b="1"/>
          </a:p>
          <a:p>
            <a:pPr marL="114300" lvl="0" indent="0" algn="l" rtl="0">
              <a:lnSpc>
                <a:spcPct val="100000"/>
              </a:lnSpc>
              <a:spcBef>
                <a:spcPts val="360"/>
              </a:spcBef>
              <a:spcAft>
                <a:spcPts val="0"/>
              </a:spcAft>
              <a:buSzPts val="1800"/>
              <a:buNone/>
            </a:pPr>
          </a:p>
          <a:p>
            <a:pPr marL="114300" lvl="0" indent="0" algn="l" rtl="0">
              <a:lnSpc>
                <a:spcPct val="100000"/>
              </a:lnSpc>
              <a:spcBef>
                <a:spcPts val="360"/>
              </a:spcBef>
              <a:spcAft>
                <a:spcPts val="0"/>
              </a:spcAft>
              <a:buSzPts val="1800"/>
              <a:buNone/>
            </a:pPr>
            <a:endParaRPr sz="1000" b="1"/>
          </a:p>
        </p:txBody>
      </p:sp>
      <p:sp>
        <p:nvSpPr>
          <p:cNvPr id="62" name="Google Shape;62;p9"/>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
        <p:nvSpPr>
          <p:cNvPr id="63" name="Google Shape;63;p9"/>
          <p:cNvSpPr txBox="1"/>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IN"/>
              <a:t>25072020</a:t>
            </a: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68" name="Shape 68"/>
        <p:cNvGrpSpPr/>
        <p:nvPr/>
      </p:nvGrpSpPr>
      <p:grpSpPr>
        <a:xfrm>
          <a:off x="0" y="0"/>
          <a:ext cx="0" cy="0"/>
          <a:chOff x="0" y="0"/>
          <a:chExt cx="0" cy="0"/>
        </a:xfrm>
      </p:grpSpPr>
      <p:sp>
        <p:nvSpPr>
          <p:cNvPr id="69" name="Google Shape;69;p10"/>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IT SECURITY</a:t>
            </a:r>
            <a:endParaRPr sz="1800"/>
          </a:p>
        </p:txBody>
      </p:sp>
      <p:sp>
        <p:nvSpPr>
          <p:cNvPr id="70" name="Google Shape;70;p10"/>
          <p:cNvSpPr txBox="1"/>
          <p:nvPr>
            <p:ph type="body" idx="1"/>
          </p:nvPr>
        </p:nvSpPr>
        <p:spPr>
          <a:xfrm>
            <a:off x="457200" y="783772"/>
            <a:ext cx="8229600" cy="3810852"/>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400" b="1"/>
              <a:t>IT security</a:t>
            </a:r>
            <a:r>
              <a:rPr lang="en-IN" sz="1400"/>
              <a:t> </a:t>
            </a:r>
            <a:endParaRPr lang="en-IN" sz="1400"/>
          </a:p>
          <a:p>
            <a:pPr marL="457200" lvl="0" indent="-342900" algn="l" rtl="0">
              <a:lnSpc>
                <a:spcPct val="100000"/>
              </a:lnSpc>
              <a:spcBef>
                <a:spcPts val="360"/>
              </a:spcBef>
              <a:spcAft>
                <a:spcPts val="0"/>
              </a:spcAft>
              <a:buClr>
                <a:schemeClr val="dk1"/>
              </a:buClr>
              <a:buSzPts val="1800"/>
              <a:buChar char="•"/>
            </a:pPr>
            <a:r>
              <a:rPr lang="en-IN" sz="1400"/>
              <a:t>Computer security, also known as cyber security or IT security, is the protection of computer systems from theft or damage to the hardware, software or the information on them, as well as from disruption or misdirection of the services they provide.</a:t>
            </a:r>
            <a:endParaRPr lang="en-IN" sz="1400"/>
          </a:p>
          <a:p>
            <a:pPr marL="114300" lvl="0" indent="0" algn="l" rtl="0">
              <a:lnSpc>
                <a:spcPct val="100000"/>
              </a:lnSpc>
              <a:spcBef>
                <a:spcPts val="360"/>
              </a:spcBef>
              <a:spcAft>
                <a:spcPts val="0"/>
              </a:spcAft>
              <a:buSzPts val="1800"/>
              <a:buNone/>
            </a:pPr>
            <a:endParaRPr sz="1400"/>
          </a:p>
          <a:p>
            <a:pPr marL="114300" lvl="0" indent="0" algn="l" rtl="0">
              <a:lnSpc>
                <a:spcPct val="100000"/>
              </a:lnSpc>
              <a:spcBef>
                <a:spcPts val="360"/>
              </a:spcBef>
              <a:spcAft>
                <a:spcPts val="0"/>
              </a:spcAft>
              <a:buSzPts val="1800"/>
              <a:buNone/>
            </a:pPr>
            <a:r>
              <a:rPr lang="en-IN" sz="1400"/>
              <a:t> </a:t>
            </a:r>
            <a:r>
              <a:rPr lang="en-IN" sz="1400" b="1"/>
              <a:t>Hardware</a:t>
            </a:r>
            <a:endParaRPr sz="1400" b="1"/>
          </a:p>
          <a:p>
            <a:pPr marL="457200" lvl="0" indent="-342900" algn="l" rtl="0">
              <a:lnSpc>
                <a:spcPct val="100000"/>
              </a:lnSpc>
              <a:spcBef>
                <a:spcPts val="360"/>
              </a:spcBef>
              <a:spcAft>
                <a:spcPts val="0"/>
              </a:spcAft>
              <a:buClr>
                <a:schemeClr val="dk1"/>
              </a:buClr>
              <a:buSzPts val="1800"/>
              <a:buChar char="•"/>
            </a:pPr>
            <a:r>
              <a:rPr lang="en-IN" sz="1400"/>
              <a:t>The term hardware covers all of those parts of a computer that are tangible physical objects. Circuits, computer chips, graphic cards, sound cards, memory (RAM), motherboard, displays, power supplies, cables, keyboards, printers and "mice" input devices are all hardware.</a:t>
            </a:r>
            <a:endParaRPr lang="en-IN" sz="1400"/>
          </a:p>
          <a:p>
            <a:pPr marL="114300" lvl="0" indent="0" algn="l" rtl="0">
              <a:lnSpc>
                <a:spcPct val="100000"/>
              </a:lnSpc>
              <a:spcBef>
                <a:spcPts val="360"/>
              </a:spcBef>
              <a:spcAft>
                <a:spcPts val="0"/>
              </a:spcAft>
              <a:buSzPts val="1800"/>
              <a:buNone/>
            </a:pPr>
            <a:endParaRPr sz="1400" b="1"/>
          </a:p>
          <a:p>
            <a:pPr marL="114300" lvl="0" indent="0" algn="l" rtl="0">
              <a:lnSpc>
                <a:spcPct val="100000"/>
              </a:lnSpc>
              <a:spcBef>
                <a:spcPts val="360"/>
              </a:spcBef>
              <a:spcAft>
                <a:spcPts val="0"/>
              </a:spcAft>
              <a:buSzPts val="1800"/>
              <a:buNone/>
            </a:pPr>
            <a:r>
              <a:rPr lang="en-IN" sz="1400" b="1"/>
              <a:t>Software</a:t>
            </a:r>
            <a:r>
              <a:rPr lang="en-IN" sz="1400"/>
              <a:t> </a:t>
            </a:r>
            <a:endParaRPr sz="1400"/>
          </a:p>
          <a:p>
            <a:pPr marL="457200" lvl="0" indent="-342900" algn="l" rtl="0">
              <a:lnSpc>
                <a:spcPct val="100000"/>
              </a:lnSpc>
              <a:spcBef>
                <a:spcPts val="360"/>
              </a:spcBef>
              <a:spcAft>
                <a:spcPts val="0"/>
              </a:spcAft>
              <a:buClr>
                <a:schemeClr val="dk1"/>
              </a:buClr>
              <a:buSzPts val="1800"/>
              <a:buChar char="•"/>
            </a:pPr>
            <a:r>
              <a:rPr lang="en-IN" sz="1400"/>
              <a:t>Computer software, or simply software, is that part of a computer system that consists of encoded information or computer instructions, in contrast to the physical hardware from which the system is built.</a:t>
            </a:r>
            <a:endParaRPr lang="en-IN" sz="1400"/>
          </a:p>
          <a:p>
            <a:pPr marL="114300" lvl="0" indent="0" algn="l" rtl="0">
              <a:lnSpc>
                <a:spcPct val="100000"/>
              </a:lnSpc>
              <a:spcBef>
                <a:spcPts val="360"/>
              </a:spcBef>
              <a:spcAft>
                <a:spcPts val="0"/>
              </a:spcAft>
              <a:buSzPts val="1800"/>
              <a:buNone/>
            </a:pPr>
            <a:endParaRPr sz="1200" b="1"/>
          </a:p>
          <a:p>
            <a:pPr marL="457200" lvl="0" indent="-228600" algn="l" rtl="0">
              <a:lnSpc>
                <a:spcPct val="100000"/>
              </a:lnSpc>
              <a:spcBef>
                <a:spcPts val="360"/>
              </a:spcBef>
              <a:spcAft>
                <a:spcPts val="0"/>
              </a:spcAft>
              <a:buSzPts val="1800"/>
              <a:buNone/>
            </a:pPr>
            <a:endParaRPr sz="1200" b="1"/>
          </a:p>
          <a:p>
            <a:pPr marL="114300" lvl="0" indent="0" algn="l" rtl="0">
              <a:lnSpc>
                <a:spcPct val="100000"/>
              </a:lnSpc>
              <a:spcBef>
                <a:spcPts val="360"/>
              </a:spcBef>
              <a:spcAft>
                <a:spcPts val="0"/>
              </a:spcAft>
              <a:buSzPts val="1800"/>
              <a:buNone/>
            </a:pPr>
          </a:p>
        </p:txBody>
      </p:sp>
      <p:sp>
        <p:nvSpPr>
          <p:cNvPr id="71" name="Google Shape;71;p10"/>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76" name="Shape 76"/>
        <p:cNvGrpSpPr/>
        <p:nvPr/>
      </p:nvGrpSpPr>
      <p:grpSpPr>
        <a:xfrm>
          <a:off x="0" y="0"/>
          <a:ext cx="0" cy="0"/>
          <a:chOff x="0" y="0"/>
          <a:chExt cx="0" cy="0"/>
        </a:xfrm>
      </p:grpSpPr>
      <p:sp>
        <p:nvSpPr>
          <p:cNvPr id="77" name="Google Shape;77;p11"/>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IT SECURITY</a:t>
            </a:r>
            <a:endParaRPr sz="1800"/>
          </a:p>
        </p:txBody>
      </p:sp>
      <p:sp>
        <p:nvSpPr>
          <p:cNvPr id="78" name="Google Shape;78;p11"/>
          <p:cNvSpPr txBox="1"/>
          <p:nvPr>
            <p:ph type="body" idx="1"/>
          </p:nvPr>
        </p:nvSpPr>
        <p:spPr>
          <a:xfrm>
            <a:off x="457200" y="783772"/>
            <a:ext cx="8229600" cy="3872204"/>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400" b="1"/>
              <a:t>Physical security</a:t>
            </a:r>
            <a:r>
              <a:rPr lang="en-IN" sz="1200"/>
              <a:t> </a:t>
            </a:r>
            <a:endParaRPr sz="1200"/>
          </a:p>
          <a:p>
            <a:pPr marL="114300" lvl="0" indent="0" algn="l" rtl="0">
              <a:lnSpc>
                <a:spcPct val="100000"/>
              </a:lnSpc>
              <a:spcBef>
                <a:spcPts val="360"/>
              </a:spcBef>
              <a:spcAft>
                <a:spcPts val="0"/>
              </a:spcAft>
              <a:buSzPts val="1800"/>
              <a:buNone/>
            </a:pPr>
            <a:endParaRPr sz="1200"/>
          </a:p>
          <a:p>
            <a:pPr marL="457200" lvl="0" indent="-342900" algn="l" rtl="0">
              <a:lnSpc>
                <a:spcPct val="100000"/>
              </a:lnSpc>
              <a:spcBef>
                <a:spcPts val="360"/>
              </a:spcBef>
              <a:spcAft>
                <a:spcPts val="0"/>
              </a:spcAft>
              <a:buClr>
                <a:schemeClr val="dk1"/>
              </a:buClr>
              <a:buSzPts val="1800"/>
              <a:buChar char="•"/>
            </a:pPr>
            <a:r>
              <a:rPr lang="en-IN" sz="1200"/>
              <a:t>Physical security describes security measures that are designed to deny unauthorized access to facilities, equipment and resources, and to protect personnel and property from damage or harm (such as espionage, theft or terrorist attacks).</a:t>
            </a:r>
            <a:endParaRPr lang="en-IN" sz="1200"/>
          </a:p>
          <a:p>
            <a:pPr marL="457200" lvl="0" indent="-342900" algn="l" rtl="0">
              <a:lnSpc>
                <a:spcPct val="100000"/>
              </a:lnSpc>
              <a:spcBef>
                <a:spcPts val="360"/>
              </a:spcBef>
              <a:spcAft>
                <a:spcPts val="0"/>
              </a:spcAft>
              <a:buClr>
                <a:schemeClr val="dk1"/>
              </a:buClr>
              <a:buSzPts val="1800"/>
              <a:buChar char="•"/>
            </a:pPr>
            <a:r>
              <a:rPr lang="en-IN" sz="1200"/>
              <a:t>Physical security involves the use of multiple layers of interdependent systems which include CCTV surveillance, security guards, protective barriers, locks, access control protocols, and many other techniques.</a:t>
            </a:r>
            <a:endParaRPr lang="en-IN" sz="1200"/>
          </a:p>
          <a:p>
            <a:pPr marL="457200" lvl="0" indent="-228600" algn="l" rtl="0">
              <a:lnSpc>
                <a:spcPct val="100000"/>
              </a:lnSpc>
              <a:spcBef>
                <a:spcPts val="360"/>
              </a:spcBef>
              <a:spcAft>
                <a:spcPts val="0"/>
              </a:spcAft>
              <a:buClr>
                <a:schemeClr val="dk1"/>
              </a:buClr>
              <a:buSzPts val="1800"/>
              <a:buNone/>
            </a:pPr>
            <a:endParaRPr sz="1200"/>
          </a:p>
          <a:p>
            <a:pPr marL="114300" lvl="0" indent="0" algn="l" rtl="0">
              <a:lnSpc>
                <a:spcPct val="100000"/>
              </a:lnSpc>
              <a:spcBef>
                <a:spcPts val="360"/>
              </a:spcBef>
              <a:spcAft>
                <a:spcPts val="0"/>
              </a:spcAft>
              <a:buSzPts val="1800"/>
              <a:buNone/>
            </a:pPr>
            <a:r>
              <a:rPr lang="en-IN" sz="1400" b="1"/>
              <a:t>Access Control</a:t>
            </a:r>
            <a:endParaRPr lang="en-IN" sz="1400" b="1"/>
          </a:p>
          <a:p>
            <a:pPr marL="114300" lvl="0" indent="0" algn="l" rtl="0">
              <a:lnSpc>
                <a:spcPct val="100000"/>
              </a:lnSpc>
              <a:spcBef>
                <a:spcPts val="360"/>
              </a:spcBef>
              <a:spcAft>
                <a:spcPts val="0"/>
              </a:spcAft>
              <a:buSzPts val="1800"/>
              <a:buNone/>
            </a:pPr>
            <a:endParaRPr sz="1200"/>
          </a:p>
          <a:p>
            <a:pPr marL="457200" lvl="0" indent="-342900" algn="l" rtl="0">
              <a:lnSpc>
                <a:spcPct val="100000"/>
              </a:lnSpc>
              <a:spcBef>
                <a:spcPts val="360"/>
              </a:spcBef>
              <a:spcAft>
                <a:spcPts val="0"/>
              </a:spcAft>
              <a:buSzPts val="1800"/>
              <a:buChar char="•"/>
            </a:pPr>
            <a:r>
              <a:rPr lang="en-IN" sz="1200"/>
              <a:t>Access Control restricts access to a computer to group of users through the use of authentication systems. </a:t>
            </a:r>
            <a:endParaRPr lang="en-IN" sz="1200"/>
          </a:p>
          <a:p>
            <a:pPr marL="457200" lvl="0" indent="-342900" algn="l" rtl="0">
              <a:lnSpc>
                <a:spcPct val="100000"/>
              </a:lnSpc>
              <a:spcBef>
                <a:spcPts val="360"/>
              </a:spcBef>
              <a:spcAft>
                <a:spcPts val="0"/>
              </a:spcAft>
              <a:buSzPts val="1800"/>
              <a:buChar char="•"/>
            </a:pPr>
            <a:r>
              <a:rPr lang="en-IN" sz="1200"/>
              <a:t>These systems can protect either the whole computer – such as through a login screen – or individual services, such as an FTP server. </a:t>
            </a:r>
            <a:endParaRPr lang="en-IN" sz="1200"/>
          </a:p>
          <a:p>
            <a:pPr marL="457200" lvl="0" indent="-342900" algn="l" rtl="0">
              <a:lnSpc>
                <a:spcPct val="100000"/>
              </a:lnSpc>
              <a:spcBef>
                <a:spcPts val="360"/>
              </a:spcBef>
              <a:spcAft>
                <a:spcPts val="0"/>
              </a:spcAft>
              <a:buSzPts val="1800"/>
              <a:buChar char="•"/>
            </a:pPr>
            <a:r>
              <a:rPr lang="en-IN" sz="1200"/>
              <a:t>Passwords , identification cards, smart cards and biometric systems</a:t>
            </a:r>
            <a:endParaRPr lang="en-IN" sz="1200"/>
          </a:p>
          <a:p>
            <a:pPr marL="457200" lvl="0" indent="-228600" algn="l" rtl="0">
              <a:lnSpc>
                <a:spcPct val="100000"/>
              </a:lnSpc>
              <a:spcBef>
                <a:spcPts val="360"/>
              </a:spcBef>
              <a:spcAft>
                <a:spcPts val="0"/>
              </a:spcAft>
              <a:buClr>
                <a:schemeClr val="dk1"/>
              </a:buClr>
              <a:buSzPts val="1800"/>
              <a:buNone/>
            </a:pPr>
            <a:endParaRPr sz="1200"/>
          </a:p>
          <a:p>
            <a:pPr marL="457200" lvl="0" indent="-228600" algn="l" rtl="0">
              <a:lnSpc>
                <a:spcPct val="100000"/>
              </a:lnSpc>
              <a:spcBef>
                <a:spcPts val="360"/>
              </a:spcBef>
              <a:spcAft>
                <a:spcPts val="0"/>
              </a:spcAft>
              <a:buSzPts val="1800"/>
              <a:buNone/>
            </a:pPr>
            <a:endParaRPr sz="1200"/>
          </a:p>
          <a:p>
            <a:pPr marL="457200" lvl="0" indent="-228600" algn="l" rtl="0">
              <a:lnSpc>
                <a:spcPct val="100000"/>
              </a:lnSpc>
              <a:spcBef>
                <a:spcPts val="360"/>
              </a:spcBef>
              <a:spcAft>
                <a:spcPts val="0"/>
              </a:spcAft>
              <a:buClr>
                <a:schemeClr val="dk1"/>
              </a:buClr>
              <a:buSzPts val="1800"/>
              <a:buNone/>
            </a:pPr>
            <a:endParaRPr sz="1200"/>
          </a:p>
          <a:p>
            <a:pPr marL="114300" lvl="0" indent="0" algn="l" rtl="0">
              <a:lnSpc>
                <a:spcPct val="100000"/>
              </a:lnSpc>
              <a:spcBef>
                <a:spcPts val="360"/>
              </a:spcBef>
              <a:spcAft>
                <a:spcPts val="0"/>
              </a:spcAft>
              <a:buSzPts val="1800"/>
              <a:buNone/>
            </a:pPr>
          </a:p>
        </p:txBody>
      </p:sp>
      <p:sp>
        <p:nvSpPr>
          <p:cNvPr id="79" name="Google Shape;79;p11"/>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84" name="Shape 84"/>
        <p:cNvGrpSpPr/>
        <p:nvPr/>
      </p:nvGrpSpPr>
      <p:grpSpPr>
        <a:xfrm>
          <a:off x="0" y="0"/>
          <a:ext cx="0" cy="0"/>
          <a:chOff x="0" y="0"/>
          <a:chExt cx="0" cy="0"/>
        </a:xfrm>
      </p:grpSpPr>
      <p:sp>
        <p:nvSpPr>
          <p:cNvPr id="85" name="Google Shape;85;p12"/>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IT SECURITY</a:t>
            </a:r>
            <a:endParaRPr sz="1800"/>
          </a:p>
        </p:txBody>
      </p:sp>
      <p:sp>
        <p:nvSpPr>
          <p:cNvPr id="86" name="Google Shape;86;p12"/>
          <p:cNvSpPr txBox="1"/>
          <p:nvPr>
            <p:ph type="body" idx="1"/>
          </p:nvPr>
        </p:nvSpPr>
        <p:spPr>
          <a:xfrm>
            <a:off x="457200" y="783772"/>
            <a:ext cx="8229600" cy="3810852"/>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400" b="1"/>
              <a:t>Anti-virus</a:t>
            </a:r>
            <a:r>
              <a:rPr lang="en-IN" sz="1200"/>
              <a:t> </a:t>
            </a:r>
            <a:endParaRPr sz="1200"/>
          </a:p>
          <a:p>
            <a:pPr marL="114300" lvl="0" indent="0" algn="l" rtl="0">
              <a:lnSpc>
                <a:spcPct val="100000"/>
              </a:lnSpc>
              <a:spcBef>
                <a:spcPts val="360"/>
              </a:spcBef>
              <a:spcAft>
                <a:spcPts val="0"/>
              </a:spcAft>
              <a:buSzPts val="1800"/>
              <a:buNone/>
            </a:pPr>
            <a:endParaRPr sz="1200"/>
          </a:p>
          <a:p>
            <a:pPr marL="457200" lvl="0" indent="-342900" algn="l" rtl="0">
              <a:lnSpc>
                <a:spcPct val="100000"/>
              </a:lnSpc>
              <a:spcBef>
                <a:spcPts val="360"/>
              </a:spcBef>
              <a:spcAft>
                <a:spcPts val="0"/>
              </a:spcAft>
              <a:buSzPts val="1800"/>
              <a:buChar char="•"/>
            </a:pPr>
            <a:r>
              <a:rPr lang="en-IN" sz="1200"/>
              <a:t>Anti-virus software consists of computer programs that attempt to identify, thwart and eliminate computer viruses and other malicious software (malware). </a:t>
            </a:r>
            <a:endParaRPr lang="en-IN" sz="1200"/>
          </a:p>
          <a:p>
            <a:pPr marL="457200" lvl="0" indent="-342900" algn="l" rtl="0">
              <a:lnSpc>
                <a:spcPct val="100000"/>
              </a:lnSpc>
              <a:spcBef>
                <a:spcPts val="360"/>
              </a:spcBef>
              <a:spcAft>
                <a:spcPts val="0"/>
              </a:spcAft>
              <a:buSzPts val="1800"/>
              <a:buChar char="•"/>
            </a:pPr>
            <a:r>
              <a:rPr lang="en-IN" sz="1200"/>
              <a:t>Confidentiality is the nondisclosure of information except to another authorized person</a:t>
            </a:r>
            <a:endParaRPr lang="en-IN" sz="1200"/>
          </a:p>
          <a:p>
            <a:pPr marL="457200" lvl="0" indent="-342900" algn="l" rtl="0">
              <a:lnSpc>
                <a:spcPct val="100000"/>
              </a:lnSpc>
              <a:spcBef>
                <a:spcPts val="360"/>
              </a:spcBef>
              <a:spcAft>
                <a:spcPts val="0"/>
              </a:spcAft>
              <a:buClr>
                <a:schemeClr val="dk1"/>
              </a:buClr>
              <a:buSzPts val="1800"/>
              <a:buChar char="•"/>
            </a:pPr>
            <a:r>
              <a:rPr lang="en-IN" sz="1200"/>
              <a:t>Symentec Antivirus End Point Protection is available</a:t>
            </a:r>
            <a:endParaRPr lang="en-IN" sz="1200"/>
          </a:p>
          <a:p>
            <a:pPr marL="114300" lvl="0" indent="0" algn="l" rtl="0">
              <a:lnSpc>
                <a:spcPct val="100000"/>
              </a:lnSpc>
              <a:spcBef>
                <a:spcPts val="360"/>
              </a:spcBef>
              <a:spcAft>
                <a:spcPts val="0"/>
              </a:spcAft>
              <a:buSzPts val="1800"/>
              <a:buNone/>
            </a:pPr>
            <a:r>
              <a:rPr lang="en-IN" sz="1200"/>
              <a:t>          covering  (i)   Virus Protection Update</a:t>
            </a:r>
            <a:endParaRPr lang="en-IN" sz="1200"/>
          </a:p>
          <a:p>
            <a:pPr marL="114300" lvl="0" indent="0" algn="l" rtl="0">
              <a:lnSpc>
                <a:spcPct val="100000"/>
              </a:lnSpc>
              <a:spcBef>
                <a:spcPts val="360"/>
              </a:spcBef>
              <a:spcAft>
                <a:spcPts val="0"/>
              </a:spcAft>
              <a:buSzPts val="1800"/>
              <a:buNone/>
            </a:pPr>
            <a:r>
              <a:rPr lang="en-IN" sz="1200"/>
              <a:t>                          (ii)   Network Protection</a:t>
            </a:r>
            <a:endParaRPr lang="en-IN" sz="1200"/>
          </a:p>
          <a:p>
            <a:pPr marL="114300" lvl="0" indent="0" algn="l" rtl="0">
              <a:lnSpc>
                <a:spcPct val="100000"/>
              </a:lnSpc>
              <a:spcBef>
                <a:spcPts val="360"/>
              </a:spcBef>
              <a:spcAft>
                <a:spcPts val="0"/>
              </a:spcAft>
              <a:buSzPts val="1800"/>
              <a:buNone/>
            </a:pPr>
            <a:r>
              <a:rPr lang="en-IN" sz="1200"/>
              <a:t>                          (iii)   Proactive threat</a:t>
            </a:r>
            <a:endParaRPr lang="en-IN" sz="1200"/>
          </a:p>
          <a:p>
            <a:pPr marL="114300" lvl="0" indent="0" algn="l" rtl="0">
              <a:lnSpc>
                <a:spcPct val="100000"/>
              </a:lnSpc>
              <a:spcBef>
                <a:spcPts val="360"/>
              </a:spcBef>
              <a:spcAft>
                <a:spcPts val="0"/>
              </a:spcAft>
              <a:buSzPts val="1800"/>
              <a:buNone/>
            </a:pPr>
            <a:endParaRPr sz="1200"/>
          </a:p>
          <a:p>
            <a:pPr marL="114300" lvl="0" indent="0" algn="l" rtl="0">
              <a:lnSpc>
                <a:spcPct val="100000"/>
              </a:lnSpc>
              <a:spcBef>
                <a:spcPts val="360"/>
              </a:spcBef>
              <a:spcAft>
                <a:spcPts val="0"/>
              </a:spcAft>
              <a:buSzPts val="1800"/>
              <a:buNone/>
            </a:pPr>
            <a:r>
              <a:rPr lang="en-IN" sz="1400" b="1"/>
              <a:t>Antivirus Protection available in 2012</a:t>
            </a:r>
            <a:endParaRPr lang="en-IN" sz="1400" b="1"/>
          </a:p>
          <a:p>
            <a:pPr marL="114300" lvl="0" indent="0" algn="l" rtl="0">
              <a:lnSpc>
                <a:spcPct val="100000"/>
              </a:lnSpc>
              <a:spcBef>
                <a:spcPts val="360"/>
              </a:spcBef>
              <a:spcAft>
                <a:spcPts val="0"/>
              </a:spcAft>
              <a:buSzPts val="1800"/>
              <a:buNone/>
            </a:pPr>
            <a:endParaRPr sz="1400" b="1"/>
          </a:p>
          <a:p>
            <a:pPr marL="457200" lvl="0" indent="-342900" algn="l" rtl="0">
              <a:lnSpc>
                <a:spcPct val="100000"/>
              </a:lnSpc>
              <a:spcBef>
                <a:spcPts val="360"/>
              </a:spcBef>
              <a:spcAft>
                <a:spcPts val="0"/>
              </a:spcAft>
              <a:buClr>
                <a:schemeClr val="dk1"/>
              </a:buClr>
              <a:buSzPts val="1800"/>
              <a:buChar char="•"/>
            </a:pPr>
            <a:r>
              <a:rPr lang="en-IN" sz="1200"/>
              <a:t>Avast - 17.4% worldwide market share. Microsoft - 13.2% worldwide market share. ESET - 11.1% worldwide market share. Symantec - 10.3% worldwide market share </a:t>
            </a:r>
            <a:endParaRPr lang="en-IN" sz="1200"/>
          </a:p>
          <a:p>
            <a:pPr marL="114300" lvl="0" indent="0" algn="l" rtl="0">
              <a:lnSpc>
                <a:spcPct val="100000"/>
              </a:lnSpc>
              <a:spcBef>
                <a:spcPts val="360"/>
              </a:spcBef>
              <a:spcAft>
                <a:spcPts val="0"/>
              </a:spcAft>
              <a:buSzPts val="1800"/>
              <a:buNone/>
            </a:pPr>
            <a:endParaRPr sz="1200"/>
          </a:p>
          <a:p>
            <a:pPr marL="457200" lvl="0" indent="-228600" algn="l" rtl="0">
              <a:lnSpc>
                <a:spcPct val="100000"/>
              </a:lnSpc>
              <a:spcBef>
                <a:spcPts val="360"/>
              </a:spcBef>
              <a:spcAft>
                <a:spcPts val="0"/>
              </a:spcAft>
              <a:buSzPts val="1800"/>
              <a:buNone/>
            </a:pPr>
            <a:endParaRPr sz="1200" b="1"/>
          </a:p>
          <a:p>
            <a:pPr marL="114300" lvl="0" indent="0" algn="l" rtl="0">
              <a:lnSpc>
                <a:spcPct val="100000"/>
              </a:lnSpc>
              <a:spcBef>
                <a:spcPts val="360"/>
              </a:spcBef>
              <a:spcAft>
                <a:spcPts val="0"/>
              </a:spcAft>
              <a:buSzPts val="1800"/>
              <a:buNone/>
            </a:pPr>
          </a:p>
        </p:txBody>
      </p:sp>
      <p:sp>
        <p:nvSpPr>
          <p:cNvPr id="87" name="Google Shape;87;p12"/>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92" name="Shape 92"/>
        <p:cNvGrpSpPr/>
        <p:nvPr/>
      </p:nvGrpSpPr>
      <p:grpSpPr>
        <a:xfrm>
          <a:off x="0" y="0"/>
          <a:ext cx="0" cy="0"/>
          <a:chOff x="0" y="0"/>
          <a:chExt cx="0" cy="0"/>
        </a:xfrm>
      </p:grpSpPr>
      <p:sp>
        <p:nvSpPr>
          <p:cNvPr id="93" name="Google Shape;93;p13"/>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IT SECURITY</a:t>
            </a:r>
            <a:endParaRPr sz="1800"/>
          </a:p>
        </p:txBody>
      </p:sp>
      <p:sp>
        <p:nvSpPr>
          <p:cNvPr id="94" name="Google Shape;94;p13"/>
          <p:cNvSpPr txBox="1"/>
          <p:nvPr>
            <p:ph type="body" idx="1"/>
          </p:nvPr>
        </p:nvSpPr>
        <p:spPr>
          <a:xfrm>
            <a:off x="457200" y="783772"/>
            <a:ext cx="8229600" cy="3810852"/>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400" b="1"/>
              <a:t>Some more Antivirus System</a:t>
            </a:r>
            <a:r>
              <a:rPr lang="en-IN" sz="1200"/>
              <a:t> </a:t>
            </a:r>
            <a:r>
              <a:rPr lang="en-IN" sz="1200" b="1"/>
              <a:t>available in the Market:</a:t>
            </a:r>
            <a:endParaRPr lang="en-IN" sz="1200" b="1"/>
          </a:p>
          <a:p>
            <a:pPr marL="114300" lvl="0" indent="0" algn="l" rtl="0">
              <a:lnSpc>
                <a:spcPct val="100000"/>
              </a:lnSpc>
              <a:spcBef>
                <a:spcPts val="360"/>
              </a:spcBef>
              <a:spcAft>
                <a:spcPts val="0"/>
              </a:spcAft>
              <a:buSzPts val="1800"/>
              <a:buNone/>
            </a:pPr>
            <a:r>
              <a:rPr lang="en-IN" sz="1200"/>
              <a:t> </a:t>
            </a:r>
            <a:endParaRPr sz="1200"/>
          </a:p>
          <a:p>
            <a:pPr marL="457200" lvl="0" indent="-342900" algn="l" rtl="0">
              <a:lnSpc>
                <a:spcPct val="100000"/>
              </a:lnSpc>
              <a:spcBef>
                <a:spcPts val="360"/>
              </a:spcBef>
              <a:spcAft>
                <a:spcPts val="0"/>
              </a:spcAft>
              <a:buClr>
                <a:schemeClr val="dk1"/>
              </a:buClr>
              <a:buSzPts val="1800"/>
              <a:buChar char="•"/>
            </a:pPr>
            <a:r>
              <a:rPr lang="en-IN" sz="1200"/>
              <a:t>Norton Security Deluxe   </a:t>
            </a:r>
            <a:endParaRPr lang="en-IN" sz="1200"/>
          </a:p>
          <a:p>
            <a:pPr marL="457200" lvl="0" indent="-342900" algn="l" rtl="0">
              <a:lnSpc>
                <a:spcPct val="100000"/>
              </a:lnSpc>
              <a:spcBef>
                <a:spcPts val="360"/>
              </a:spcBef>
              <a:spcAft>
                <a:spcPts val="0"/>
              </a:spcAft>
              <a:buClr>
                <a:schemeClr val="dk1"/>
              </a:buClr>
              <a:buSzPts val="1800"/>
              <a:buChar char="•"/>
            </a:pPr>
            <a:r>
              <a:rPr lang="en-IN" sz="1200"/>
              <a:t>Webroot Secure Anywhere® </a:t>
            </a:r>
            <a:r>
              <a:rPr lang="en-IN" sz="1200" b="1"/>
              <a:t>AntiVirus</a:t>
            </a:r>
            <a:r>
              <a:rPr lang="en-IN" sz="1200"/>
              <a:t>.   </a:t>
            </a:r>
            <a:endParaRPr lang="en-IN" sz="1200"/>
          </a:p>
          <a:p>
            <a:pPr marL="457200" lvl="0" indent="-342900" algn="l" rtl="0">
              <a:lnSpc>
                <a:spcPct val="100000"/>
              </a:lnSpc>
              <a:spcBef>
                <a:spcPts val="360"/>
              </a:spcBef>
              <a:spcAft>
                <a:spcPts val="0"/>
              </a:spcAft>
              <a:buClr>
                <a:schemeClr val="dk1"/>
              </a:buClr>
              <a:buSzPts val="1800"/>
              <a:buChar char="•"/>
            </a:pPr>
            <a:r>
              <a:rPr lang="en-IN" sz="1200"/>
              <a:t>McAfee® Total </a:t>
            </a:r>
            <a:r>
              <a:rPr lang="en-IN" sz="1200" b="1"/>
              <a:t>Protection</a:t>
            </a:r>
            <a:r>
              <a:rPr lang="en-IN" sz="1200"/>
              <a:t>.</a:t>
            </a:r>
            <a:endParaRPr lang="en-IN" sz="1200"/>
          </a:p>
          <a:p>
            <a:pPr marL="457200" lvl="0" indent="-342900" algn="l" rtl="0">
              <a:lnSpc>
                <a:spcPct val="100000"/>
              </a:lnSpc>
              <a:spcBef>
                <a:spcPts val="360"/>
              </a:spcBef>
              <a:spcAft>
                <a:spcPts val="0"/>
              </a:spcAft>
              <a:buClr>
                <a:schemeClr val="dk1"/>
              </a:buClr>
              <a:buSzPts val="1800"/>
              <a:buChar char="•"/>
            </a:pPr>
            <a:r>
              <a:rPr lang="en-IN" sz="1200"/>
              <a:t>Kaspersky Internet Security  </a:t>
            </a:r>
            <a:endParaRPr lang="en-IN" sz="1200"/>
          </a:p>
          <a:p>
            <a:pPr marL="457200" lvl="0" indent="-342900" algn="l" rtl="0">
              <a:lnSpc>
                <a:spcPct val="100000"/>
              </a:lnSpc>
              <a:spcBef>
                <a:spcPts val="360"/>
              </a:spcBef>
              <a:spcAft>
                <a:spcPts val="0"/>
              </a:spcAft>
              <a:buClr>
                <a:schemeClr val="dk1"/>
              </a:buClr>
              <a:buSzPts val="1800"/>
              <a:buChar char="•"/>
            </a:pPr>
            <a:r>
              <a:rPr lang="en-IN" sz="1200"/>
              <a:t>Avast Premier </a:t>
            </a:r>
            <a:r>
              <a:rPr lang="en-IN" sz="1200" b="1"/>
              <a:t>Antivirus</a:t>
            </a:r>
            <a:r>
              <a:rPr lang="en-IN" sz="1200"/>
              <a:t>.  </a:t>
            </a:r>
            <a:endParaRPr lang="en-IN" sz="1200"/>
          </a:p>
          <a:p>
            <a:pPr marL="457200" lvl="0" indent="-342900" algn="l" rtl="0">
              <a:lnSpc>
                <a:spcPct val="100000"/>
              </a:lnSpc>
              <a:spcBef>
                <a:spcPts val="360"/>
              </a:spcBef>
              <a:spcAft>
                <a:spcPts val="0"/>
              </a:spcAft>
              <a:buClr>
                <a:schemeClr val="dk1"/>
              </a:buClr>
              <a:buSzPts val="1800"/>
              <a:buChar char="•"/>
            </a:pPr>
            <a:r>
              <a:rPr lang="en-IN" sz="1200"/>
              <a:t>Bitdefender Internet Security 2017.</a:t>
            </a:r>
            <a:endParaRPr lang="en-IN" sz="1200"/>
          </a:p>
          <a:p>
            <a:pPr marL="457200" lvl="0" indent="-342900" algn="l" rtl="0">
              <a:lnSpc>
                <a:spcPct val="100000"/>
              </a:lnSpc>
              <a:spcBef>
                <a:spcPts val="360"/>
              </a:spcBef>
              <a:spcAft>
                <a:spcPts val="0"/>
              </a:spcAft>
              <a:buClr>
                <a:schemeClr val="dk1"/>
              </a:buClr>
              <a:buSzPts val="1800"/>
              <a:buChar char="•"/>
            </a:pPr>
            <a:r>
              <a:rPr lang="en-IN" sz="1200"/>
              <a:t>F-Secure Safe.</a:t>
            </a:r>
            <a:endParaRPr lang="en-IN" sz="1200"/>
          </a:p>
          <a:p>
            <a:pPr marL="457200" lvl="0" indent="-228600" algn="l" rtl="0">
              <a:lnSpc>
                <a:spcPct val="100000"/>
              </a:lnSpc>
              <a:spcBef>
                <a:spcPts val="360"/>
              </a:spcBef>
              <a:spcAft>
                <a:spcPts val="0"/>
              </a:spcAft>
              <a:buClr>
                <a:schemeClr val="dk1"/>
              </a:buClr>
              <a:buSzPts val="1800"/>
              <a:buNone/>
            </a:pPr>
            <a:endParaRPr sz="1200"/>
          </a:p>
          <a:p>
            <a:pPr marL="114300" lvl="0" indent="0" algn="l" rtl="0">
              <a:lnSpc>
                <a:spcPct val="100000"/>
              </a:lnSpc>
              <a:spcBef>
                <a:spcPts val="360"/>
              </a:spcBef>
              <a:spcAft>
                <a:spcPts val="0"/>
              </a:spcAft>
              <a:buSzPts val="1800"/>
              <a:buNone/>
            </a:pPr>
            <a:r>
              <a:rPr lang="en-IN" sz="1200"/>
              <a:t>and many more</a:t>
            </a:r>
            <a:endParaRPr lang="en-IN" sz="1200"/>
          </a:p>
          <a:p>
            <a:pPr marL="114300" lvl="0" indent="0" algn="l" rtl="0">
              <a:lnSpc>
                <a:spcPct val="100000"/>
              </a:lnSpc>
              <a:spcBef>
                <a:spcPts val="360"/>
              </a:spcBef>
              <a:spcAft>
                <a:spcPts val="0"/>
              </a:spcAft>
              <a:buSzPts val="1800"/>
              <a:buNone/>
            </a:pPr>
            <a:endParaRPr sz="1200"/>
          </a:p>
          <a:p>
            <a:pPr marL="114300" lvl="0" indent="0" algn="l" rtl="0">
              <a:lnSpc>
                <a:spcPct val="100000"/>
              </a:lnSpc>
              <a:spcBef>
                <a:spcPts val="360"/>
              </a:spcBef>
              <a:spcAft>
                <a:spcPts val="0"/>
              </a:spcAft>
              <a:buSzPts val="1800"/>
              <a:buNone/>
            </a:pPr>
            <a:r>
              <a:rPr lang="en-IN" sz="1200" b="1">
                <a:solidFill>
                  <a:srgbClr val="00B050"/>
                </a:solidFill>
              </a:rPr>
              <a:t>Methods to be analysed and accordingly problems crept in may be identified and accordingly interrogation to be made</a:t>
            </a:r>
            <a:endParaRPr sz="1200" b="1">
              <a:solidFill>
                <a:srgbClr val="00B050"/>
              </a:solidFill>
            </a:endParaRPr>
          </a:p>
          <a:p>
            <a:pPr marL="114300" lvl="0" indent="0" algn="l" rtl="0">
              <a:lnSpc>
                <a:spcPct val="100000"/>
              </a:lnSpc>
              <a:spcBef>
                <a:spcPts val="360"/>
              </a:spcBef>
              <a:spcAft>
                <a:spcPts val="0"/>
              </a:spcAft>
              <a:buSzPts val="1800"/>
              <a:buNone/>
            </a:pPr>
          </a:p>
        </p:txBody>
      </p:sp>
      <p:sp>
        <p:nvSpPr>
          <p:cNvPr id="95" name="Google Shape;95;p13"/>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00" name="Shape 100"/>
        <p:cNvGrpSpPr/>
        <p:nvPr/>
      </p:nvGrpSpPr>
      <p:grpSpPr>
        <a:xfrm>
          <a:off x="0" y="0"/>
          <a:ext cx="0" cy="0"/>
          <a:chOff x="0" y="0"/>
          <a:chExt cx="0" cy="0"/>
        </a:xfrm>
      </p:grpSpPr>
      <p:sp>
        <p:nvSpPr>
          <p:cNvPr id="101" name="Google Shape;101;p14"/>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IT SECURITY</a:t>
            </a:r>
            <a:endParaRPr sz="1800"/>
          </a:p>
        </p:txBody>
      </p:sp>
      <p:sp>
        <p:nvSpPr>
          <p:cNvPr id="102" name="Google Shape;102;p14"/>
          <p:cNvSpPr txBox="1"/>
          <p:nvPr>
            <p:ph type="body" idx="1"/>
          </p:nvPr>
        </p:nvSpPr>
        <p:spPr>
          <a:xfrm>
            <a:off x="457200" y="643811"/>
            <a:ext cx="8229600" cy="4030825"/>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400" b="1"/>
              <a:t>Backups </a:t>
            </a:r>
            <a:endParaRPr sz="1400" b="1"/>
          </a:p>
          <a:p>
            <a:pPr marL="114300" lvl="0" indent="0" algn="l" rtl="0">
              <a:lnSpc>
                <a:spcPct val="100000"/>
              </a:lnSpc>
              <a:spcBef>
                <a:spcPts val="360"/>
              </a:spcBef>
              <a:spcAft>
                <a:spcPts val="0"/>
              </a:spcAft>
              <a:buSzPts val="1800"/>
              <a:buNone/>
            </a:pPr>
            <a:endParaRPr sz="1200"/>
          </a:p>
          <a:p>
            <a:pPr marL="457200" lvl="0" indent="-342900" algn="l" rtl="0">
              <a:lnSpc>
                <a:spcPct val="100000"/>
              </a:lnSpc>
              <a:spcBef>
                <a:spcPts val="360"/>
              </a:spcBef>
              <a:spcAft>
                <a:spcPts val="0"/>
              </a:spcAft>
              <a:buSzPts val="1800"/>
              <a:buChar char="•"/>
            </a:pPr>
            <a:r>
              <a:rPr lang="en-IN" sz="1200"/>
              <a:t>Backups are a way of securing information; they are another copy of all the important computer files kept in another location. These files are kept on hard disks, CD-Rs, CD-RWs, tapes and more recently on the cloud. Backups are kept at fireproof, waterproof, and heat proof safe, or in a separate, offsite location than that in which the original files are contained</a:t>
            </a:r>
            <a:endParaRPr lang="en-IN" sz="1200"/>
          </a:p>
          <a:p>
            <a:pPr marL="114300" lvl="0" indent="0" algn="l" rtl="0">
              <a:lnSpc>
                <a:spcPct val="100000"/>
              </a:lnSpc>
              <a:spcBef>
                <a:spcPts val="360"/>
              </a:spcBef>
              <a:spcAft>
                <a:spcPts val="0"/>
              </a:spcAft>
              <a:buSzPts val="1800"/>
              <a:buNone/>
            </a:pPr>
            <a:r>
              <a:rPr lang="en-IN" sz="1200"/>
              <a:t> </a:t>
            </a:r>
            <a:endParaRPr lang="en-IN" sz="1200"/>
          </a:p>
          <a:p>
            <a:pPr marL="114300" lvl="0" indent="0" algn="l" rtl="0">
              <a:lnSpc>
                <a:spcPct val="100000"/>
              </a:lnSpc>
              <a:spcBef>
                <a:spcPts val="360"/>
              </a:spcBef>
              <a:spcAft>
                <a:spcPts val="0"/>
              </a:spcAft>
              <a:buSzPts val="1800"/>
              <a:buNone/>
            </a:pPr>
            <a:r>
              <a:rPr lang="en-IN" sz="1400" b="1"/>
              <a:t>Encryption</a:t>
            </a:r>
            <a:r>
              <a:rPr lang="en-IN" sz="1200" b="1"/>
              <a:t> </a:t>
            </a:r>
            <a:r>
              <a:rPr lang="en-IN" sz="1200"/>
              <a:t> </a:t>
            </a:r>
            <a:endParaRPr sz="1200"/>
          </a:p>
          <a:p>
            <a:pPr marL="114300" lvl="0" indent="0" algn="l" rtl="0">
              <a:lnSpc>
                <a:spcPct val="100000"/>
              </a:lnSpc>
              <a:spcBef>
                <a:spcPts val="360"/>
              </a:spcBef>
              <a:spcAft>
                <a:spcPts val="0"/>
              </a:spcAft>
              <a:buSzPts val="1800"/>
              <a:buNone/>
            </a:pPr>
            <a:endParaRPr sz="1200"/>
          </a:p>
          <a:p>
            <a:pPr marL="457200" lvl="0" indent="-342900" algn="l" rtl="0">
              <a:lnSpc>
                <a:spcPct val="100000"/>
              </a:lnSpc>
              <a:spcBef>
                <a:spcPts val="360"/>
              </a:spcBef>
              <a:spcAft>
                <a:spcPts val="0"/>
              </a:spcAft>
              <a:buSzPts val="1800"/>
              <a:buChar char="•"/>
            </a:pPr>
            <a:r>
              <a:rPr lang="en-IN" sz="1200"/>
              <a:t>Encryption is used to protect the message from the eyes of others.  </a:t>
            </a:r>
            <a:endParaRPr lang="en-IN" sz="1200"/>
          </a:p>
          <a:p>
            <a:pPr marL="457200" lvl="0" indent="-342900" algn="l" rtl="0">
              <a:lnSpc>
                <a:spcPct val="100000"/>
              </a:lnSpc>
              <a:spcBef>
                <a:spcPts val="360"/>
              </a:spcBef>
              <a:spcAft>
                <a:spcPts val="0"/>
              </a:spcAft>
              <a:buSzPts val="1800"/>
              <a:buChar char="•"/>
            </a:pPr>
            <a:r>
              <a:rPr lang="en-IN" sz="1200"/>
              <a:t>Cryptographic techniques can be used to defend data in transit between systems, reducing the probability that data exchanged between systems can be intercepted or modified.</a:t>
            </a:r>
            <a:endParaRPr sz="1200"/>
          </a:p>
          <a:p>
            <a:pPr marL="114300" lvl="0" indent="0" algn="l" rtl="0">
              <a:lnSpc>
                <a:spcPct val="100000"/>
              </a:lnSpc>
              <a:spcBef>
                <a:spcPts val="360"/>
              </a:spcBef>
              <a:spcAft>
                <a:spcPts val="0"/>
              </a:spcAft>
              <a:buSzPts val="1800"/>
              <a:buNone/>
            </a:pPr>
            <a:endParaRPr sz="1200"/>
          </a:p>
          <a:p>
            <a:pPr marL="114300" lvl="0" indent="0" algn="l" rtl="0">
              <a:lnSpc>
                <a:spcPct val="100000"/>
              </a:lnSpc>
              <a:spcBef>
                <a:spcPts val="360"/>
              </a:spcBef>
              <a:spcAft>
                <a:spcPts val="0"/>
              </a:spcAft>
              <a:buSzPts val="1800"/>
              <a:buNone/>
            </a:pPr>
            <a:r>
              <a:rPr lang="en-IN" sz="1400" b="1"/>
              <a:t>Cryptography</a:t>
            </a:r>
            <a:endParaRPr lang="en-IN" sz="1400" b="1"/>
          </a:p>
          <a:p>
            <a:pPr marL="457200" lvl="0" indent="-342900" algn="l" rtl="0">
              <a:lnSpc>
                <a:spcPct val="100000"/>
              </a:lnSpc>
              <a:spcBef>
                <a:spcPts val="360"/>
              </a:spcBef>
              <a:spcAft>
                <a:spcPts val="0"/>
              </a:spcAft>
              <a:buClr>
                <a:schemeClr val="dk1"/>
              </a:buClr>
              <a:buSzPts val="1800"/>
              <a:buChar char="•"/>
            </a:pPr>
            <a:r>
              <a:rPr lang="en-IN" sz="1200"/>
              <a:t>In many cases, the encryption and decryption keys are the same. In public key </a:t>
            </a:r>
            <a:r>
              <a:rPr lang="en-IN" sz="1200" b="1"/>
              <a:t>cryptography</a:t>
            </a:r>
            <a:r>
              <a:rPr lang="en-IN" sz="1200"/>
              <a:t>, encryption key is made public, but it is computationally infeasible to find the decryption key without the information known to the receiver. A message is to be transferred from one party to another across some sort of internet.</a:t>
            </a:r>
            <a:endParaRPr lang="en-IN" sz="1200"/>
          </a:p>
          <a:p>
            <a:pPr marL="457200" lvl="0" indent="-228600" algn="l" rtl="0">
              <a:lnSpc>
                <a:spcPct val="100000"/>
              </a:lnSpc>
              <a:spcBef>
                <a:spcPts val="360"/>
              </a:spcBef>
              <a:spcAft>
                <a:spcPts val="0"/>
              </a:spcAft>
              <a:buSzPts val="1800"/>
              <a:buNone/>
            </a:pPr>
            <a:endParaRPr sz="1200"/>
          </a:p>
        </p:txBody>
      </p:sp>
      <p:sp>
        <p:nvSpPr>
          <p:cNvPr id="103" name="Google Shape;103;p14"/>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08" name="Shape 108"/>
        <p:cNvGrpSpPr/>
        <p:nvPr/>
      </p:nvGrpSpPr>
      <p:grpSpPr>
        <a:xfrm>
          <a:off x="0" y="0"/>
          <a:ext cx="0" cy="0"/>
          <a:chOff x="0" y="0"/>
          <a:chExt cx="0" cy="0"/>
        </a:xfrm>
      </p:grpSpPr>
      <p:sp>
        <p:nvSpPr>
          <p:cNvPr id="109" name="Google Shape;109;p15"/>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IT SECURITY</a:t>
            </a:r>
            <a:endParaRPr sz="1800"/>
          </a:p>
        </p:txBody>
      </p:sp>
      <p:sp>
        <p:nvSpPr>
          <p:cNvPr id="110" name="Google Shape;110;p15"/>
          <p:cNvSpPr txBox="1"/>
          <p:nvPr>
            <p:ph type="body" idx="1"/>
          </p:nvPr>
        </p:nvSpPr>
        <p:spPr>
          <a:xfrm>
            <a:off x="457200" y="783772"/>
            <a:ext cx="8229600" cy="3810852"/>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400" b="1"/>
              <a:t>Data integrity</a:t>
            </a:r>
            <a:r>
              <a:rPr lang="en-IN" sz="1200"/>
              <a:t>  </a:t>
            </a:r>
            <a:endParaRPr sz="1200"/>
          </a:p>
          <a:p>
            <a:pPr marL="114300" lvl="0" indent="0" algn="l" rtl="0">
              <a:lnSpc>
                <a:spcPct val="100000"/>
              </a:lnSpc>
              <a:spcBef>
                <a:spcPts val="360"/>
              </a:spcBef>
              <a:spcAft>
                <a:spcPts val="0"/>
              </a:spcAft>
              <a:buSzPts val="1800"/>
              <a:buNone/>
            </a:pPr>
            <a:endParaRPr sz="1200"/>
          </a:p>
          <a:p>
            <a:pPr marL="457200" lvl="0" indent="-342900" algn="l" rtl="0">
              <a:lnSpc>
                <a:spcPct val="100000"/>
              </a:lnSpc>
              <a:spcBef>
                <a:spcPts val="360"/>
              </a:spcBef>
              <a:spcAft>
                <a:spcPts val="0"/>
              </a:spcAft>
              <a:buSzPts val="1800"/>
              <a:buChar char="•"/>
            </a:pPr>
            <a:r>
              <a:rPr lang="en-IN" sz="1200"/>
              <a:t>Data integrity is the accuracy and consistency of stored data, indicated by an absence of any alteration in data between two updates of a data record.</a:t>
            </a:r>
            <a:endParaRPr lang="en-IN" sz="1200"/>
          </a:p>
          <a:p>
            <a:pPr marL="457200" lvl="0" indent="-228600" algn="l" rtl="0">
              <a:lnSpc>
                <a:spcPct val="100000"/>
              </a:lnSpc>
              <a:spcBef>
                <a:spcPts val="360"/>
              </a:spcBef>
              <a:spcAft>
                <a:spcPts val="0"/>
              </a:spcAft>
              <a:buClr>
                <a:schemeClr val="dk1"/>
              </a:buClr>
              <a:buSzPts val="1800"/>
              <a:buNone/>
            </a:pPr>
            <a:endParaRPr sz="1200"/>
          </a:p>
          <a:p>
            <a:pPr marL="114300" lvl="0" indent="0" algn="l" rtl="0">
              <a:lnSpc>
                <a:spcPct val="100000"/>
              </a:lnSpc>
              <a:spcBef>
                <a:spcPts val="360"/>
              </a:spcBef>
              <a:spcAft>
                <a:spcPts val="0"/>
              </a:spcAft>
              <a:buSzPts val="1800"/>
              <a:buNone/>
            </a:pPr>
            <a:r>
              <a:rPr lang="en-IN" sz="1400" b="1"/>
              <a:t>Firewalls </a:t>
            </a:r>
            <a:endParaRPr sz="1400" b="1"/>
          </a:p>
          <a:p>
            <a:pPr marL="114300" lvl="0" indent="0" algn="l" rtl="0">
              <a:lnSpc>
                <a:spcPct val="100000"/>
              </a:lnSpc>
              <a:spcBef>
                <a:spcPts val="360"/>
              </a:spcBef>
              <a:spcAft>
                <a:spcPts val="0"/>
              </a:spcAft>
              <a:buSzPts val="1800"/>
              <a:buNone/>
            </a:pPr>
            <a:endParaRPr sz="1200"/>
          </a:p>
          <a:p>
            <a:pPr marL="457200" lvl="0" indent="-342900" algn="l" rtl="0">
              <a:lnSpc>
                <a:spcPct val="100000"/>
              </a:lnSpc>
              <a:spcBef>
                <a:spcPts val="360"/>
              </a:spcBef>
              <a:spcAft>
                <a:spcPts val="0"/>
              </a:spcAft>
              <a:buSzPts val="1800"/>
              <a:buChar char="•"/>
            </a:pPr>
            <a:r>
              <a:rPr lang="en-IN" sz="1200"/>
              <a:t>Firewalls are an important method for control and security on the Internet and other networks.  A network firewall can be a communications processor, typically a router, or a dedicated server, along with firewall software. A firewall serves as a gatekeeper system that protects a company's intranets and other computer networks from intrusion by providing a filter and safe transfer point for access to and from the Internet and other networks.</a:t>
            </a:r>
            <a:endParaRPr lang="en-IN" sz="1200"/>
          </a:p>
          <a:p>
            <a:pPr marL="114300" lvl="0" indent="0" algn="l" rtl="0">
              <a:lnSpc>
                <a:spcPct val="100000"/>
              </a:lnSpc>
              <a:spcBef>
                <a:spcPts val="360"/>
              </a:spcBef>
              <a:spcAft>
                <a:spcPts val="0"/>
              </a:spcAft>
              <a:buSzPts val="1800"/>
              <a:buNone/>
            </a:pPr>
            <a:endParaRPr sz="1200"/>
          </a:p>
          <a:p>
            <a:pPr marL="457200" lvl="0" indent="-342900" algn="l" rtl="0">
              <a:lnSpc>
                <a:spcPct val="100000"/>
              </a:lnSpc>
              <a:spcBef>
                <a:spcPts val="360"/>
              </a:spcBef>
              <a:spcAft>
                <a:spcPts val="0"/>
              </a:spcAft>
              <a:buSzPts val="1800"/>
              <a:buChar char="•"/>
            </a:pPr>
            <a:r>
              <a:rPr lang="en-IN" sz="1200"/>
              <a:t>It screens all network traffic for proper passwords or other security codes and only allows authorized transmission in and out of the network. Firewalls can deter, but not completely prevent, unauthorized access (hacking) into computer networks; they can also provide some protection from online intrusion</a:t>
            </a:r>
            <a:endParaRPr lang="en-IN" sz="1200"/>
          </a:p>
          <a:p>
            <a:pPr marL="114300" lvl="0" indent="0" algn="l" rtl="0">
              <a:lnSpc>
                <a:spcPct val="100000"/>
              </a:lnSpc>
              <a:spcBef>
                <a:spcPts val="360"/>
              </a:spcBef>
              <a:spcAft>
                <a:spcPts val="0"/>
              </a:spcAft>
              <a:buSzPts val="1800"/>
              <a:buNone/>
            </a:pPr>
          </a:p>
        </p:txBody>
      </p:sp>
      <p:sp>
        <p:nvSpPr>
          <p:cNvPr id="111" name="Google Shape;111;p15"/>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16" name="Shape 116"/>
        <p:cNvGrpSpPr/>
        <p:nvPr/>
      </p:nvGrpSpPr>
      <p:grpSpPr>
        <a:xfrm>
          <a:off x="0" y="0"/>
          <a:ext cx="0" cy="0"/>
          <a:chOff x="0" y="0"/>
          <a:chExt cx="0" cy="0"/>
        </a:xfrm>
      </p:grpSpPr>
      <p:sp>
        <p:nvSpPr>
          <p:cNvPr id="117" name="Google Shape;117;p16"/>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IT SECURITY</a:t>
            </a:r>
            <a:endParaRPr sz="1800"/>
          </a:p>
        </p:txBody>
      </p:sp>
      <p:sp>
        <p:nvSpPr>
          <p:cNvPr id="118" name="Google Shape;118;p16"/>
          <p:cNvSpPr txBox="1"/>
          <p:nvPr>
            <p:ph type="body" idx="1"/>
          </p:nvPr>
        </p:nvSpPr>
        <p:spPr>
          <a:xfrm>
            <a:off x="457200" y="783772"/>
            <a:ext cx="8229600" cy="3810852"/>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400" b="1"/>
              <a:t>Intrusion-Detection Systems </a:t>
            </a:r>
            <a:endParaRPr lang="en-IN" sz="1400" b="1"/>
          </a:p>
          <a:p>
            <a:pPr marL="114300" lvl="0" indent="0" algn="l" rtl="0">
              <a:lnSpc>
                <a:spcPct val="100000"/>
              </a:lnSpc>
              <a:spcBef>
                <a:spcPts val="360"/>
              </a:spcBef>
              <a:spcAft>
                <a:spcPts val="0"/>
              </a:spcAft>
              <a:buSzPts val="1800"/>
              <a:buNone/>
            </a:pPr>
            <a:endParaRPr sz="1200"/>
          </a:p>
          <a:p>
            <a:pPr marL="457200" lvl="0" indent="-342900" algn="l" rtl="0">
              <a:lnSpc>
                <a:spcPct val="100000"/>
              </a:lnSpc>
              <a:spcBef>
                <a:spcPts val="360"/>
              </a:spcBef>
              <a:spcAft>
                <a:spcPts val="0"/>
              </a:spcAft>
              <a:buSzPts val="1800"/>
              <a:buChar char="•"/>
            </a:pPr>
            <a:r>
              <a:rPr lang="en-IN" sz="1200"/>
              <a:t>Intrusion-Detection Systems can scan a network for people that are on the network but who should not be there or are doing things that they should not be doing, for example trying a lot of passwords to gain access to the network.</a:t>
            </a:r>
            <a:endParaRPr lang="en-IN" sz="1200"/>
          </a:p>
          <a:p>
            <a:pPr marL="114300" lvl="0" indent="0" algn="l" rtl="0">
              <a:lnSpc>
                <a:spcPct val="100000"/>
              </a:lnSpc>
              <a:spcBef>
                <a:spcPts val="360"/>
              </a:spcBef>
              <a:spcAft>
                <a:spcPts val="0"/>
              </a:spcAft>
              <a:buSzPts val="1800"/>
              <a:buNone/>
            </a:pPr>
            <a:endParaRPr sz="1200"/>
          </a:p>
          <a:p>
            <a:pPr marL="114300" lvl="0" indent="0" algn="l" rtl="0">
              <a:lnSpc>
                <a:spcPct val="100000"/>
              </a:lnSpc>
              <a:spcBef>
                <a:spcPts val="360"/>
              </a:spcBef>
              <a:spcAft>
                <a:spcPts val="0"/>
              </a:spcAft>
              <a:buSzPts val="1800"/>
              <a:buNone/>
            </a:pPr>
            <a:r>
              <a:rPr lang="en-IN" sz="1400" b="1"/>
              <a:t>Social Engineering</a:t>
            </a:r>
            <a:r>
              <a:rPr lang="en-IN" sz="1200"/>
              <a:t> </a:t>
            </a:r>
            <a:endParaRPr sz="1200"/>
          </a:p>
          <a:p>
            <a:pPr marL="114300" lvl="0" indent="0" algn="l" rtl="0">
              <a:lnSpc>
                <a:spcPct val="100000"/>
              </a:lnSpc>
              <a:spcBef>
                <a:spcPts val="360"/>
              </a:spcBef>
              <a:spcAft>
                <a:spcPts val="0"/>
              </a:spcAft>
              <a:buSzPts val="1800"/>
              <a:buNone/>
            </a:pPr>
            <a:endParaRPr sz="1200"/>
          </a:p>
          <a:p>
            <a:pPr marL="457200" lvl="0" indent="-342900" algn="l" rtl="0">
              <a:lnSpc>
                <a:spcPct val="100000"/>
              </a:lnSpc>
              <a:spcBef>
                <a:spcPts val="360"/>
              </a:spcBef>
              <a:spcAft>
                <a:spcPts val="0"/>
              </a:spcAft>
              <a:buSzPts val="1800"/>
              <a:buChar char="•"/>
            </a:pPr>
            <a:r>
              <a:rPr lang="en-IN" sz="1200"/>
              <a:t>Social Engineering is nothing but the  use of deception to manipulate  individuals into divulging confidential or personal information that may be used for fraudulent purposes</a:t>
            </a:r>
            <a:endParaRPr lang="en-IN" sz="1200"/>
          </a:p>
          <a:p>
            <a:pPr marL="457200" lvl="0" indent="-342900" algn="l" rtl="0">
              <a:lnSpc>
                <a:spcPct val="100000"/>
              </a:lnSpc>
              <a:spcBef>
                <a:spcPts val="360"/>
              </a:spcBef>
              <a:spcAft>
                <a:spcPts val="0"/>
              </a:spcAft>
              <a:buSzPts val="1800"/>
              <a:buChar char="•"/>
            </a:pPr>
            <a:r>
              <a:rPr lang="en-IN" sz="1200"/>
              <a:t>Social engineering refers to psychological manipulation of people into performing actions or divulging confidential information. A type of confidence trick for the purpose of information gathering, fraud, or system access.</a:t>
            </a:r>
            <a:endParaRPr lang="en-IN" sz="1200"/>
          </a:p>
          <a:p>
            <a:pPr marL="457200" lvl="0" indent="-228600" algn="l" rtl="0">
              <a:lnSpc>
                <a:spcPct val="100000"/>
              </a:lnSpc>
              <a:spcBef>
                <a:spcPts val="360"/>
              </a:spcBef>
              <a:spcAft>
                <a:spcPts val="0"/>
              </a:spcAft>
              <a:buSzPts val="1800"/>
              <a:buNone/>
            </a:pPr>
            <a:endParaRPr sz="1200"/>
          </a:p>
          <a:p>
            <a:pPr marL="114300" lvl="0" indent="0" algn="l" rtl="0">
              <a:lnSpc>
                <a:spcPct val="100000"/>
              </a:lnSpc>
              <a:spcBef>
                <a:spcPts val="360"/>
              </a:spcBef>
              <a:spcAft>
                <a:spcPts val="0"/>
              </a:spcAft>
              <a:buSzPts val="1800"/>
              <a:buNone/>
            </a:pPr>
          </a:p>
        </p:txBody>
      </p:sp>
      <p:sp>
        <p:nvSpPr>
          <p:cNvPr id="119" name="Google Shape;119;p16"/>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25" name="Shape 125"/>
        <p:cNvGrpSpPr/>
        <p:nvPr/>
      </p:nvGrpSpPr>
      <p:grpSpPr>
        <a:xfrm>
          <a:off x="0" y="0"/>
          <a:ext cx="0" cy="0"/>
          <a:chOff x="0" y="0"/>
          <a:chExt cx="0" cy="0"/>
        </a:xfrm>
      </p:grpSpPr>
      <p:sp>
        <p:nvSpPr>
          <p:cNvPr id="126" name="Google Shape;126;p17"/>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IT SECURITY</a:t>
            </a:r>
            <a:endParaRPr sz="1800"/>
          </a:p>
        </p:txBody>
      </p:sp>
      <p:sp>
        <p:nvSpPr>
          <p:cNvPr id="127" name="Google Shape;127;p17"/>
          <p:cNvSpPr txBox="1"/>
          <p:nvPr>
            <p:ph type="body" idx="1"/>
          </p:nvPr>
        </p:nvSpPr>
        <p:spPr>
          <a:xfrm>
            <a:off x="457200" y="783772"/>
            <a:ext cx="8229600" cy="3810852"/>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400" b="1"/>
              <a:t>Disaster – Definition</a:t>
            </a:r>
            <a:endParaRPr lang="en-IN" sz="1400" b="1"/>
          </a:p>
          <a:p>
            <a:pPr marL="114300" lvl="0" indent="0" algn="l" rtl="0">
              <a:lnSpc>
                <a:spcPct val="100000"/>
              </a:lnSpc>
              <a:spcBef>
                <a:spcPts val="360"/>
              </a:spcBef>
              <a:spcAft>
                <a:spcPts val="0"/>
              </a:spcAft>
              <a:buSzPts val="1800"/>
              <a:buNone/>
            </a:pPr>
            <a:endParaRPr sz="1400"/>
          </a:p>
          <a:p>
            <a:pPr marL="457200" lvl="0" indent="-342900" algn="l" rtl="0">
              <a:lnSpc>
                <a:spcPct val="100000"/>
              </a:lnSpc>
              <a:spcBef>
                <a:spcPts val="360"/>
              </a:spcBef>
              <a:spcAft>
                <a:spcPts val="0"/>
              </a:spcAft>
              <a:buSzPts val="1800"/>
              <a:buChar char="•"/>
            </a:pPr>
            <a:r>
              <a:rPr lang="en-IN" sz="1400"/>
              <a:t>In simple terms, any event which results in direct denial or stoppage of essential business functions for a considerable period of time may be defined as a disaster.</a:t>
            </a:r>
            <a:endParaRPr lang="en-IN" sz="1400"/>
          </a:p>
          <a:p>
            <a:pPr marL="457200" lvl="0" indent="-342900" algn="l" rtl="0">
              <a:lnSpc>
                <a:spcPct val="100000"/>
              </a:lnSpc>
              <a:spcBef>
                <a:spcPts val="360"/>
              </a:spcBef>
              <a:spcAft>
                <a:spcPts val="0"/>
              </a:spcAft>
              <a:buSzPts val="1800"/>
              <a:buChar char="•"/>
            </a:pPr>
            <a:r>
              <a:rPr lang="en-IN" sz="1400"/>
              <a:t>Disaster Recovery Management   (also known as Business Continuity Plan in Technical Area)</a:t>
            </a:r>
            <a:endParaRPr lang="en-IN" sz="1400"/>
          </a:p>
          <a:p>
            <a:pPr marL="114300" lvl="0" indent="0" algn="l" rtl="0">
              <a:lnSpc>
                <a:spcPct val="100000"/>
              </a:lnSpc>
              <a:spcBef>
                <a:spcPts val="360"/>
              </a:spcBef>
              <a:spcAft>
                <a:spcPts val="0"/>
              </a:spcAft>
              <a:buSzPts val="1800"/>
              <a:buNone/>
            </a:pPr>
            <a:endParaRPr sz="1400"/>
          </a:p>
          <a:p>
            <a:pPr marL="114300" lvl="0" indent="0" algn="l" rtl="0">
              <a:lnSpc>
                <a:spcPct val="100000"/>
              </a:lnSpc>
              <a:spcBef>
                <a:spcPts val="360"/>
              </a:spcBef>
              <a:spcAft>
                <a:spcPts val="0"/>
              </a:spcAft>
              <a:buSzPts val="1800"/>
              <a:buNone/>
            </a:pPr>
            <a:r>
              <a:rPr lang="en-IN" sz="1400" b="1"/>
              <a:t>Types of Disasters</a:t>
            </a:r>
            <a:endParaRPr lang="en-IN" sz="1400" b="1"/>
          </a:p>
          <a:p>
            <a:pPr marL="114300" lvl="0" indent="0" algn="l" rtl="0">
              <a:lnSpc>
                <a:spcPct val="100000"/>
              </a:lnSpc>
              <a:spcBef>
                <a:spcPts val="360"/>
              </a:spcBef>
              <a:spcAft>
                <a:spcPts val="0"/>
              </a:spcAft>
              <a:buSzPts val="1800"/>
              <a:buNone/>
            </a:pPr>
            <a:endParaRPr sz="1400"/>
          </a:p>
          <a:p>
            <a:pPr marL="457200" lvl="0" indent="-342900" algn="l" rtl="0">
              <a:lnSpc>
                <a:spcPct val="100000"/>
              </a:lnSpc>
              <a:spcBef>
                <a:spcPts val="360"/>
              </a:spcBef>
              <a:spcAft>
                <a:spcPts val="0"/>
              </a:spcAft>
              <a:buSzPts val="1800"/>
              <a:buChar char="•"/>
            </a:pPr>
            <a:r>
              <a:rPr lang="en-IN" sz="1400"/>
              <a:t>Natural disasters like Fire, Flood/Tsunami, Earthquake </a:t>
            </a:r>
            <a:endParaRPr lang="en-IN" sz="1400"/>
          </a:p>
          <a:p>
            <a:pPr marL="457200" lvl="0" indent="-342900" algn="l" rtl="0">
              <a:lnSpc>
                <a:spcPct val="100000"/>
              </a:lnSpc>
              <a:spcBef>
                <a:spcPts val="360"/>
              </a:spcBef>
              <a:spcAft>
                <a:spcPts val="0"/>
              </a:spcAft>
              <a:buSzPts val="1800"/>
              <a:buChar char="•"/>
            </a:pPr>
            <a:r>
              <a:rPr lang="en-IN" sz="1400"/>
              <a:t>Power failures </a:t>
            </a:r>
            <a:endParaRPr lang="en-IN" sz="1400"/>
          </a:p>
          <a:p>
            <a:pPr marL="457200" lvl="0" indent="-342900" algn="l" rtl="0">
              <a:lnSpc>
                <a:spcPct val="100000"/>
              </a:lnSpc>
              <a:spcBef>
                <a:spcPts val="360"/>
              </a:spcBef>
              <a:spcAft>
                <a:spcPts val="0"/>
              </a:spcAft>
              <a:buSzPts val="1800"/>
              <a:buChar char="•"/>
            </a:pPr>
            <a:r>
              <a:rPr lang="en-IN" sz="1400"/>
              <a:t>Communication/Connectivity failures </a:t>
            </a:r>
            <a:endParaRPr lang="en-IN" sz="1400"/>
          </a:p>
          <a:p>
            <a:pPr marL="457200" lvl="0" indent="-342900" algn="l" rtl="0">
              <a:lnSpc>
                <a:spcPct val="100000"/>
              </a:lnSpc>
              <a:spcBef>
                <a:spcPts val="360"/>
              </a:spcBef>
              <a:spcAft>
                <a:spcPts val="0"/>
              </a:spcAft>
              <a:buSzPts val="1800"/>
              <a:buChar char="•"/>
            </a:pPr>
            <a:r>
              <a:rPr lang="en-IN" sz="1400"/>
              <a:t>Breakdown of servers, hardware peripherals, connectivity &amp; communication equipments. </a:t>
            </a:r>
            <a:endParaRPr lang="en-IN" sz="1400"/>
          </a:p>
          <a:p>
            <a:pPr marL="457200" lvl="0" indent="-342900" algn="l" rtl="0">
              <a:lnSpc>
                <a:spcPct val="100000"/>
              </a:lnSpc>
              <a:spcBef>
                <a:spcPts val="360"/>
              </a:spcBef>
              <a:spcAft>
                <a:spcPts val="0"/>
              </a:spcAft>
              <a:buSzPts val="1800"/>
              <a:buChar char="•"/>
            </a:pPr>
            <a:r>
              <a:rPr lang="en-IN" sz="1400"/>
              <a:t>Virus/Worm attacks   </a:t>
            </a:r>
            <a:r>
              <a:rPr lang="en-IN" sz="1600" b="1">
                <a:solidFill>
                  <a:srgbClr val="00B050"/>
                </a:solidFill>
              </a:rPr>
              <a:t>(</a:t>
            </a:r>
            <a:r>
              <a:rPr lang="en-IN" sz="1600" b="1" u="sng">
                <a:solidFill>
                  <a:srgbClr val="00B050"/>
                </a:solidFill>
              </a:rPr>
              <a:t>Page No.92  4.11 of the Book-let for various case studies</a:t>
            </a:r>
            <a:r>
              <a:rPr lang="en-IN" sz="1600" b="1">
                <a:solidFill>
                  <a:srgbClr val="00B050"/>
                </a:solidFill>
              </a:rPr>
              <a:t>)</a:t>
            </a:r>
            <a:endParaRPr lang="en-IN" sz="1600" b="1">
              <a:solidFill>
                <a:srgbClr val="00B050"/>
              </a:solidFill>
            </a:endParaRPr>
          </a:p>
          <a:p>
            <a:pPr marL="114300" lvl="0" indent="0" algn="l" rtl="0">
              <a:lnSpc>
                <a:spcPct val="100000"/>
              </a:lnSpc>
              <a:spcBef>
                <a:spcPts val="360"/>
              </a:spcBef>
              <a:spcAft>
                <a:spcPts val="0"/>
              </a:spcAft>
              <a:buSzPts val="1800"/>
              <a:buNone/>
            </a:pPr>
            <a:endParaRPr sz="1400"/>
          </a:p>
        </p:txBody>
      </p:sp>
      <p:sp>
        <p:nvSpPr>
          <p:cNvPr id="128" name="Google Shape;128;p17"/>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33" name="Shape 133"/>
        <p:cNvGrpSpPr/>
        <p:nvPr/>
      </p:nvGrpSpPr>
      <p:grpSpPr>
        <a:xfrm>
          <a:off x="0" y="0"/>
          <a:ext cx="0" cy="0"/>
          <a:chOff x="0" y="0"/>
          <a:chExt cx="0" cy="0"/>
        </a:xfrm>
      </p:grpSpPr>
      <p:sp>
        <p:nvSpPr>
          <p:cNvPr id="134" name="Google Shape;134;p18"/>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IT SECURITY</a:t>
            </a:r>
            <a:endParaRPr sz="1800"/>
          </a:p>
        </p:txBody>
      </p:sp>
      <p:sp>
        <p:nvSpPr>
          <p:cNvPr id="135" name="Google Shape;135;p18"/>
          <p:cNvSpPr txBox="1"/>
          <p:nvPr>
            <p:ph type="body" idx="1"/>
          </p:nvPr>
        </p:nvSpPr>
        <p:spPr>
          <a:xfrm>
            <a:off x="457200" y="681135"/>
            <a:ext cx="8229600" cy="3984171"/>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400" b="1"/>
              <a:t>ATTACKS</a:t>
            </a:r>
            <a:endParaRPr sz="1400"/>
          </a:p>
          <a:p>
            <a:pPr marL="114300" lvl="0" indent="0" algn="l" rtl="0">
              <a:lnSpc>
                <a:spcPct val="100000"/>
              </a:lnSpc>
              <a:spcBef>
                <a:spcPts val="360"/>
              </a:spcBef>
              <a:spcAft>
                <a:spcPts val="0"/>
              </a:spcAft>
              <a:buSzPts val="1800"/>
              <a:buNone/>
            </a:pPr>
            <a:r>
              <a:rPr lang="en-IN" sz="1400"/>
              <a:t> </a:t>
            </a:r>
            <a:r>
              <a:rPr lang="en-IN" sz="1400" b="1"/>
              <a:t>PHISHING</a:t>
            </a:r>
            <a:endParaRPr sz="1400"/>
          </a:p>
          <a:p>
            <a:pPr marL="114300" lvl="0" indent="0" algn="l" rtl="0">
              <a:lnSpc>
                <a:spcPct val="100000"/>
              </a:lnSpc>
              <a:spcBef>
                <a:spcPts val="360"/>
              </a:spcBef>
              <a:spcAft>
                <a:spcPts val="0"/>
              </a:spcAft>
              <a:buSzPts val="1800"/>
              <a:buNone/>
            </a:pPr>
            <a:r>
              <a:rPr lang="en-IN" sz="1400"/>
              <a:t> </a:t>
            </a:r>
            <a:endParaRPr lang="en-IN" sz="1400"/>
          </a:p>
          <a:p>
            <a:pPr marL="457200" lvl="0" indent="-342900" algn="l" rtl="0">
              <a:lnSpc>
                <a:spcPct val="100000"/>
              </a:lnSpc>
              <a:spcBef>
                <a:spcPts val="360"/>
              </a:spcBef>
              <a:spcAft>
                <a:spcPts val="0"/>
              </a:spcAft>
              <a:buClr>
                <a:schemeClr val="dk1"/>
              </a:buClr>
              <a:buSzPts val="1800"/>
              <a:buChar char="•"/>
            </a:pPr>
            <a:r>
              <a:rPr lang="en-IN" sz="1200" b="1"/>
              <a:t>Phishing</a:t>
            </a:r>
            <a:r>
              <a:rPr lang="en-IN" sz="1200"/>
              <a:t> is the attempt to obtain sensitive information such as usernames, passwords, credit card details, Account Number, Date of Birth often for malicious reasons, by disguising as a trustworthy entity in an electronic communication.  It may even happen for employees of organisation from outsiders, which is term as “SPEAR PHISHING” </a:t>
            </a:r>
            <a:endParaRPr sz="1200"/>
          </a:p>
          <a:p>
            <a:pPr marL="114300" lvl="0" indent="0" algn="l" rtl="0">
              <a:lnSpc>
                <a:spcPct val="100000"/>
              </a:lnSpc>
              <a:spcBef>
                <a:spcPts val="360"/>
              </a:spcBef>
              <a:spcAft>
                <a:spcPts val="0"/>
              </a:spcAft>
              <a:buSzPts val="1800"/>
              <a:buNone/>
            </a:pPr>
            <a:r>
              <a:rPr lang="en-IN" sz="1200"/>
              <a:t> </a:t>
            </a:r>
            <a:endParaRPr sz="1200"/>
          </a:p>
          <a:p>
            <a:pPr marL="457200" lvl="0" indent="-342900" algn="l" rtl="0">
              <a:lnSpc>
                <a:spcPct val="100000"/>
              </a:lnSpc>
              <a:spcBef>
                <a:spcPts val="360"/>
              </a:spcBef>
              <a:spcAft>
                <a:spcPts val="0"/>
              </a:spcAft>
              <a:buClr>
                <a:schemeClr val="dk1"/>
              </a:buClr>
              <a:buSzPts val="1800"/>
              <a:buChar char="•"/>
            </a:pPr>
            <a:r>
              <a:rPr lang="en-IN" sz="1200" b="1"/>
              <a:t>Spear Physing </a:t>
            </a:r>
            <a:r>
              <a:rPr lang="en-IN" sz="1200"/>
              <a:t>is nothing but the fraudulent practice of sending emails ostensibly from a known or trusted sender in order to induce targeted individuals to reveal confidential information.</a:t>
            </a:r>
            <a:endParaRPr lang="en-IN" sz="1200"/>
          </a:p>
          <a:p>
            <a:pPr marL="114300" lvl="0" indent="0" algn="l" rtl="0">
              <a:lnSpc>
                <a:spcPct val="100000"/>
              </a:lnSpc>
              <a:spcBef>
                <a:spcPts val="360"/>
              </a:spcBef>
              <a:spcAft>
                <a:spcPts val="0"/>
              </a:spcAft>
              <a:buSzPts val="1800"/>
              <a:buNone/>
            </a:pPr>
            <a:r>
              <a:rPr lang="en-IN" sz="1200"/>
              <a:t>         </a:t>
            </a:r>
            <a:r>
              <a:rPr lang="en-IN" sz="1200" b="1">
                <a:solidFill>
                  <a:srgbClr val="C00000"/>
                </a:solidFill>
              </a:rPr>
              <a:t>"Spear phishing represents a serious threat for every industry"</a:t>
            </a:r>
            <a:endParaRPr lang="en-IN" sz="1200" b="1">
              <a:solidFill>
                <a:srgbClr val="C00000"/>
              </a:solidFill>
            </a:endParaRPr>
          </a:p>
          <a:p>
            <a:pPr marL="457200" lvl="0" indent="-228600" algn="l" rtl="0">
              <a:lnSpc>
                <a:spcPct val="100000"/>
              </a:lnSpc>
              <a:spcBef>
                <a:spcPts val="360"/>
              </a:spcBef>
              <a:spcAft>
                <a:spcPts val="0"/>
              </a:spcAft>
              <a:buClr>
                <a:schemeClr val="dk1"/>
              </a:buClr>
              <a:buSzPts val="1800"/>
              <a:buNone/>
            </a:pPr>
            <a:endParaRPr sz="1200" b="1" u="sng"/>
          </a:p>
          <a:p>
            <a:pPr marL="114300" lvl="0" indent="0" algn="l" rtl="0">
              <a:lnSpc>
                <a:spcPct val="100000"/>
              </a:lnSpc>
              <a:spcBef>
                <a:spcPts val="360"/>
              </a:spcBef>
              <a:spcAft>
                <a:spcPts val="0"/>
              </a:spcAft>
              <a:buSzPts val="1800"/>
              <a:buNone/>
            </a:pPr>
            <a:r>
              <a:rPr lang="en-IN" sz="1400" b="1"/>
              <a:t>VISHING</a:t>
            </a:r>
            <a:endParaRPr sz="1400"/>
          </a:p>
          <a:p>
            <a:pPr marL="114300" lvl="0" indent="0" algn="l" rtl="0">
              <a:lnSpc>
                <a:spcPct val="100000"/>
              </a:lnSpc>
              <a:spcBef>
                <a:spcPts val="360"/>
              </a:spcBef>
              <a:spcAft>
                <a:spcPts val="0"/>
              </a:spcAft>
              <a:buSzPts val="1800"/>
              <a:buNone/>
            </a:pPr>
            <a:r>
              <a:rPr lang="en-IN" sz="1200"/>
              <a:t> </a:t>
            </a:r>
            <a:endParaRPr lang="en-IN" sz="1200"/>
          </a:p>
          <a:p>
            <a:pPr marL="457200" lvl="0" indent="-342900" algn="l" rtl="0">
              <a:lnSpc>
                <a:spcPct val="100000"/>
              </a:lnSpc>
              <a:spcBef>
                <a:spcPts val="360"/>
              </a:spcBef>
              <a:spcAft>
                <a:spcPts val="0"/>
              </a:spcAft>
              <a:buClr>
                <a:schemeClr val="dk1"/>
              </a:buClr>
              <a:buSzPts val="1800"/>
              <a:buChar char="•"/>
            </a:pPr>
            <a:r>
              <a:rPr lang="en-IN" sz="1200"/>
              <a:t>Voice phishing is the criminal practice of using social engineering over the telephone system to gain access to private personal and financial information from the public for the purpose of financial reward. It is sometimes referred to as 'vishing', a word that is a combination of "voice" and phishing.</a:t>
            </a:r>
            <a:endParaRPr lang="en-IN" sz="1200"/>
          </a:p>
          <a:p>
            <a:pPr marL="114300" lvl="0" indent="0" algn="l" rtl="0">
              <a:lnSpc>
                <a:spcPct val="100000"/>
              </a:lnSpc>
              <a:spcBef>
                <a:spcPts val="360"/>
              </a:spcBef>
              <a:spcAft>
                <a:spcPts val="0"/>
              </a:spcAft>
              <a:buSzPts val="1800"/>
              <a:buNone/>
            </a:pPr>
            <a:endParaRPr sz="1200"/>
          </a:p>
          <a:p>
            <a:pPr marL="114300" lvl="0" indent="0" algn="l" rtl="0">
              <a:lnSpc>
                <a:spcPct val="100000"/>
              </a:lnSpc>
              <a:spcBef>
                <a:spcPts val="360"/>
              </a:spcBef>
              <a:spcAft>
                <a:spcPts val="0"/>
              </a:spcAft>
              <a:buSzPts val="1800"/>
              <a:buNone/>
            </a:pPr>
          </a:p>
        </p:txBody>
      </p:sp>
      <p:sp>
        <p:nvSpPr>
          <p:cNvPr id="136" name="Google Shape;136;p18"/>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41" name="Shape 141"/>
        <p:cNvGrpSpPr/>
        <p:nvPr/>
      </p:nvGrpSpPr>
      <p:grpSpPr>
        <a:xfrm>
          <a:off x="0" y="0"/>
          <a:ext cx="0" cy="0"/>
          <a:chOff x="0" y="0"/>
          <a:chExt cx="0" cy="0"/>
        </a:xfrm>
      </p:grpSpPr>
      <p:sp>
        <p:nvSpPr>
          <p:cNvPr id="142" name="Google Shape;142;p19"/>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IT SECURITY</a:t>
            </a:r>
            <a:endParaRPr sz="1800"/>
          </a:p>
        </p:txBody>
      </p:sp>
      <p:sp>
        <p:nvSpPr>
          <p:cNvPr id="143" name="Google Shape;143;p19"/>
          <p:cNvSpPr txBox="1"/>
          <p:nvPr>
            <p:ph type="body" idx="1"/>
          </p:nvPr>
        </p:nvSpPr>
        <p:spPr>
          <a:xfrm>
            <a:off x="457200" y="681135"/>
            <a:ext cx="8229600" cy="3984171"/>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400" b="1"/>
              <a:t>SKIMMING</a:t>
            </a:r>
            <a:endParaRPr sz="1400" b="1"/>
          </a:p>
          <a:p>
            <a:pPr marL="114300" lvl="0" indent="0" algn="l" rtl="0">
              <a:lnSpc>
                <a:spcPct val="100000"/>
              </a:lnSpc>
              <a:spcBef>
                <a:spcPts val="360"/>
              </a:spcBef>
              <a:spcAft>
                <a:spcPts val="0"/>
              </a:spcAft>
              <a:buSzPts val="1800"/>
              <a:buNone/>
            </a:pPr>
            <a:endParaRPr sz="1400"/>
          </a:p>
          <a:p>
            <a:pPr marL="457200" lvl="0" indent="-342900" algn="l" rtl="0">
              <a:lnSpc>
                <a:spcPct val="100000"/>
              </a:lnSpc>
              <a:spcBef>
                <a:spcPts val="360"/>
              </a:spcBef>
              <a:spcAft>
                <a:spcPts val="0"/>
              </a:spcAft>
              <a:buClr>
                <a:schemeClr val="dk1"/>
              </a:buClr>
              <a:buSzPts val="1800"/>
              <a:buChar char="•"/>
            </a:pPr>
            <a:r>
              <a:rPr lang="en-IN" sz="1400" b="1"/>
              <a:t>Skimming </a:t>
            </a:r>
            <a:r>
              <a:rPr lang="en-IN" sz="1400"/>
              <a:t>is the way of hacking that is generally come in the cyber crime category.  It generally happens with the help of ATM machine and have become very common. In today’s technical world, the safety techniques are being attacked as we usually pay the money by using Credit card, Debit card and by other means. These ways are all attacking point generally. Thus card skimming is the copying the card information illegally from the magnetic strips of the Debit or Credit cards. They steal account      information and then misuse that to make a fake card and then harm the card holder financially.  Providentially, the victim is generally unaware of such type of hacking unless he gets information about debiting the account/credit card usage message . </a:t>
            </a:r>
            <a:endParaRPr lang="en-IN" sz="1400"/>
          </a:p>
          <a:p>
            <a:pPr marL="114300" lvl="0" indent="0" algn="l" rtl="0">
              <a:lnSpc>
                <a:spcPct val="100000"/>
              </a:lnSpc>
              <a:spcBef>
                <a:spcPts val="360"/>
              </a:spcBef>
              <a:spcAft>
                <a:spcPts val="0"/>
              </a:spcAft>
              <a:buSzPts val="1800"/>
              <a:buNone/>
            </a:pPr>
            <a:endParaRPr sz="1200"/>
          </a:p>
          <a:p>
            <a:pPr marL="114300" lvl="0" indent="0" algn="l" rtl="0">
              <a:lnSpc>
                <a:spcPct val="100000"/>
              </a:lnSpc>
              <a:spcBef>
                <a:spcPts val="360"/>
              </a:spcBef>
              <a:spcAft>
                <a:spcPts val="0"/>
              </a:spcAft>
              <a:buSzPts val="1800"/>
              <a:buNone/>
            </a:pPr>
          </a:p>
        </p:txBody>
      </p:sp>
      <p:sp>
        <p:nvSpPr>
          <p:cNvPr id="144" name="Google Shape;144;p19"/>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49" name="Shape 149"/>
        <p:cNvGrpSpPr/>
        <p:nvPr/>
      </p:nvGrpSpPr>
      <p:grpSpPr>
        <a:xfrm>
          <a:off x="0" y="0"/>
          <a:ext cx="0" cy="0"/>
          <a:chOff x="0" y="0"/>
          <a:chExt cx="0" cy="0"/>
        </a:xfrm>
      </p:grpSpPr>
      <p:sp>
        <p:nvSpPr>
          <p:cNvPr id="150" name="Google Shape;150;p20"/>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IT SECURITY</a:t>
            </a:r>
            <a:endParaRPr sz="1800"/>
          </a:p>
        </p:txBody>
      </p:sp>
      <p:sp>
        <p:nvSpPr>
          <p:cNvPr id="151" name="Google Shape;151;p20"/>
          <p:cNvSpPr txBox="1"/>
          <p:nvPr>
            <p:ph type="body" idx="1"/>
          </p:nvPr>
        </p:nvSpPr>
        <p:spPr>
          <a:xfrm>
            <a:off x="457200" y="681135"/>
            <a:ext cx="8229600" cy="4086808"/>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400" b="1"/>
              <a:t>IDENTIFY THEFT</a:t>
            </a:r>
            <a:endParaRPr lang="en-IN" sz="1400" b="1"/>
          </a:p>
          <a:p>
            <a:pPr marL="114300" lvl="0" indent="0" algn="l" rtl="0">
              <a:lnSpc>
                <a:spcPct val="100000"/>
              </a:lnSpc>
              <a:spcBef>
                <a:spcPts val="360"/>
              </a:spcBef>
              <a:spcAft>
                <a:spcPts val="0"/>
              </a:spcAft>
              <a:buSzPts val="1800"/>
              <a:buNone/>
            </a:pPr>
            <a:endParaRPr sz="1400" b="1"/>
          </a:p>
          <a:p>
            <a:pPr marL="457200" lvl="0" indent="-342900" algn="l" rtl="0">
              <a:lnSpc>
                <a:spcPct val="100000"/>
              </a:lnSpc>
              <a:spcBef>
                <a:spcPts val="360"/>
              </a:spcBef>
              <a:spcAft>
                <a:spcPts val="0"/>
              </a:spcAft>
              <a:buClr>
                <a:schemeClr val="dk1"/>
              </a:buClr>
              <a:buSzPts val="1800"/>
              <a:buChar char="•"/>
            </a:pPr>
            <a:r>
              <a:rPr lang="en-IN" sz="1400"/>
              <a:t>Identity theft is a crime whereby criminals impersonate individuals, usually for financial gain. In today's society, you often need to reveal personal bits of information about yourself, such as your social security number, signature, name, address, phone number, cell number or even banking and credit card information.</a:t>
            </a:r>
            <a:endParaRPr lang="en-IN" sz="1400"/>
          </a:p>
          <a:p>
            <a:pPr marL="457200" lvl="0" indent="-342900" algn="l" rtl="0">
              <a:lnSpc>
                <a:spcPct val="100000"/>
              </a:lnSpc>
              <a:spcBef>
                <a:spcPts val="360"/>
              </a:spcBef>
              <a:spcAft>
                <a:spcPts val="0"/>
              </a:spcAft>
              <a:buClr>
                <a:schemeClr val="dk1"/>
              </a:buClr>
              <a:buSzPts val="1800"/>
              <a:buChar char="•"/>
            </a:pPr>
            <a:r>
              <a:rPr lang="en-IN" sz="1400"/>
              <a:t>AML and KYC details to be studied in full </a:t>
            </a:r>
            <a:endParaRPr sz="1400"/>
          </a:p>
        </p:txBody>
      </p:sp>
      <p:sp>
        <p:nvSpPr>
          <p:cNvPr id="152" name="Google Shape;152;p20"/>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57" name="Shape 157"/>
        <p:cNvGrpSpPr/>
        <p:nvPr/>
      </p:nvGrpSpPr>
      <p:grpSpPr>
        <a:xfrm>
          <a:off x="0" y="0"/>
          <a:ext cx="0" cy="0"/>
          <a:chOff x="0" y="0"/>
          <a:chExt cx="0" cy="0"/>
        </a:xfrm>
      </p:grpSpPr>
      <p:sp>
        <p:nvSpPr>
          <p:cNvPr id="158" name="Google Shape;158;p21"/>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IT SECURITY</a:t>
            </a:r>
            <a:endParaRPr sz="1800"/>
          </a:p>
        </p:txBody>
      </p:sp>
      <p:sp>
        <p:nvSpPr>
          <p:cNvPr id="159" name="Google Shape;159;p21"/>
          <p:cNvSpPr txBox="1"/>
          <p:nvPr>
            <p:ph type="body" idx="1"/>
          </p:nvPr>
        </p:nvSpPr>
        <p:spPr>
          <a:xfrm>
            <a:off x="457200" y="681135"/>
            <a:ext cx="8229600" cy="4086808"/>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600" b="1"/>
              <a:t>WannaCry Ransomeware - A recent cyper attack</a:t>
            </a:r>
            <a:endParaRPr sz="1600"/>
          </a:p>
          <a:p>
            <a:pPr marL="114300" lvl="0" indent="0" algn="l" rtl="0">
              <a:lnSpc>
                <a:spcPct val="100000"/>
              </a:lnSpc>
              <a:spcBef>
                <a:spcPts val="360"/>
              </a:spcBef>
              <a:spcAft>
                <a:spcPts val="0"/>
              </a:spcAft>
              <a:buSzPts val="1800"/>
              <a:buNone/>
            </a:pPr>
            <a:r>
              <a:rPr lang="en-IN" sz="1400"/>
              <a:t> </a:t>
            </a:r>
            <a:endParaRPr lang="en-IN" sz="1400"/>
          </a:p>
          <a:p>
            <a:pPr marL="457200" lvl="0" indent="-342900" algn="l" rtl="0">
              <a:lnSpc>
                <a:spcPct val="100000"/>
              </a:lnSpc>
              <a:spcBef>
                <a:spcPts val="360"/>
              </a:spcBef>
              <a:spcAft>
                <a:spcPts val="0"/>
              </a:spcAft>
              <a:buClr>
                <a:schemeClr val="dk1"/>
              </a:buClr>
              <a:buSzPts val="1800"/>
              <a:buChar char="•"/>
            </a:pPr>
            <a:r>
              <a:rPr lang="en-IN" sz="1400"/>
              <a:t>A virulent new strain of ransomware known as WannaCry (Ransom Wannacry) has hit hundreds of thousands of computers worldwide since its emergence on </a:t>
            </a:r>
            <a:r>
              <a:rPr lang="en-IN" sz="1400" b="1"/>
              <a:t>Friday, May 1, 2017. </a:t>
            </a:r>
            <a:r>
              <a:rPr lang="en-IN" sz="1400"/>
              <a:t>WannaCry is far more dangerous than other common ransomware types because of its ability to spread itself across an organization's network by exploiting a critical vulnerability in  Windows computers, which was patched by Microsoft in March 2017 (MS17-010).  The exploit, known as "Eternal Blue" was released online in April in the latest of a series of leaks by a group known as the Shadow Brokers, who claimed that it had stolen the data from the Equation cyber espionage group.</a:t>
            </a:r>
            <a:endParaRPr lang="en-IN" sz="1400"/>
          </a:p>
          <a:p>
            <a:pPr marL="114300" lvl="0" indent="0" algn="l" rtl="0">
              <a:lnSpc>
                <a:spcPct val="100000"/>
              </a:lnSpc>
              <a:spcBef>
                <a:spcPts val="360"/>
              </a:spcBef>
              <a:spcAft>
                <a:spcPts val="0"/>
              </a:spcAft>
              <a:buSzPts val="1800"/>
              <a:buNone/>
            </a:pPr>
            <a:r>
              <a:rPr lang="en-IN" sz="1400"/>
              <a:t> </a:t>
            </a:r>
            <a:endParaRPr lang="en-IN" sz="1400"/>
          </a:p>
          <a:p>
            <a:pPr marL="114300" lvl="0" indent="0" algn="l" rtl="0">
              <a:lnSpc>
                <a:spcPct val="100000"/>
              </a:lnSpc>
              <a:spcBef>
                <a:spcPts val="360"/>
              </a:spcBef>
              <a:spcAft>
                <a:spcPts val="0"/>
              </a:spcAft>
              <a:buSzPts val="1800"/>
              <a:buNone/>
            </a:pPr>
            <a:r>
              <a:rPr lang="en-IN" sz="1400" b="1"/>
              <a:t>Effects</a:t>
            </a:r>
            <a:endParaRPr sz="1400"/>
          </a:p>
          <a:p>
            <a:pPr marL="114300" lvl="0" indent="0" algn="l" rtl="0">
              <a:lnSpc>
                <a:spcPct val="100000"/>
              </a:lnSpc>
              <a:spcBef>
                <a:spcPts val="360"/>
              </a:spcBef>
              <a:spcAft>
                <a:spcPts val="0"/>
              </a:spcAft>
              <a:buSzPts val="1800"/>
              <a:buNone/>
            </a:pPr>
            <a:r>
              <a:rPr lang="en-IN" sz="1400"/>
              <a:t> </a:t>
            </a:r>
            <a:endParaRPr lang="en-IN" sz="1400"/>
          </a:p>
          <a:p>
            <a:pPr marL="457200" lvl="0" indent="-342900" algn="l" rtl="0">
              <a:lnSpc>
                <a:spcPct val="100000"/>
              </a:lnSpc>
              <a:spcBef>
                <a:spcPts val="360"/>
              </a:spcBef>
              <a:spcAft>
                <a:spcPts val="0"/>
              </a:spcAft>
              <a:buClr>
                <a:schemeClr val="dk1"/>
              </a:buClr>
              <a:buSzPts val="1800"/>
              <a:buChar char="•"/>
            </a:pPr>
            <a:r>
              <a:rPr lang="en-IN" sz="1400"/>
              <a:t>Unwarranted Mails, Encrypts, links were sent through Mail Messages and whomever attended such of those items were caught.  Many of their file savings have been removed from their recorded savings and the attackers wanted ransom for releasing the stolen records/data through bit coins.  It was advised not to attend to their instructions.</a:t>
            </a:r>
            <a:endParaRPr lang="en-IN" sz="1400"/>
          </a:p>
        </p:txBody>
      </p:sp>
      <p:sp>
        <p:nvSpPr>
          <p:cNvPr id="160" name="Google Shape;160;p21"/>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65" name="Shape 165"/>
        <p:cNvGrpSpPr/>
        <p:nvPr/>
      </p:nvGrpSpPr>
      <p:grpSpPr>
        <a:xfrm>
          <a:off x="0" y="0"/>
          <a:ext cx="0" cy="0"/>
          <a:chOff x="0" y="0"/>
          <a:chExt cx="0" cy="0"/>
        </a:xfrm>
      </p:grpSpPr>
      <p:sp>
        <p:nvSpPr>
          <p:cNvPr id="166" name="Google Shape;166;p22"/>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IT SECURITY</a:t>
            </a:r>
            <a:endParaRPr sz="1800"/>
          </a:p>
        </p:txBody>
      </p:sp>
      <p:sp>
        <p:nvSpPr>
          <p:cNvPr id="167" name="Google Shape;167;p22"/>
          <p:cNvSpPr txBox="1"/>
          <p:nvPr>
            <p:ph type="body" idx="1"/>
          </p:nvPr>
        </p:nvSpPr>
        <p:spPr>
          <a:xfrm>
            <a:off x="457200" y="681135"/>
            <a:ext cx="8229600" cy="4086808"/>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400" b="1"/>
              <a:t>WannaCry Ransomeware - A recent cyper attack</a:t>
            </a:r>
            <a:endParaRPr sz="1400"/>
          </a:p>
          <a:p>
            <a:pPr marL="114300" lvl="0" indent="0" algn="l" rtl="0">
              <a:lnSpc>
                <a:spcPct val="100000"/>
              </a:lnSpc>
              <a:spcBef>
                <a:spcPts val="360"/>
              </a:spcBef>
              <a:spcAft>
                <a:spcPts val="0"/>
              </a:spcAft>
              <a:buSzPts val="1800"/>
              <a:buNone/>
            </a:pPr>
            <a:r>
              <a:rPr lang="en-IN" sz="1400"/>
              <a:t> </a:t>
            </a:r>
            <a:endParaRPr lang="en-IN" sz="1400"/>
          </a:p>
          <a:p>
            <a:pPr marL="457200" lvl="0" indent="-342900" algn="l" rtl="0">
              <a:lnSpc>
                <a:spcPct val="100000"/>
              </a:lnSpc>
              <a:spcBef>
                <a:spcPts val="360"/>
              </a:spcBef>
              <a:spcAft>
                <a:spcPts val="0"/>
              </a:spcAft>
              <a:buClr>
                <a:schemeClr val="dk1"/>
              </a:buClr>
              <a:buSzPts val="1800"/>
              <a:buChar char="•"/>
            </a:pPr>
            <a:r>
              <a:rPr lang="en-IN" sz="1400"/>
              <a:t>"</a:t>
            </a:r>
            <a:r>
              <a:rPr lang="en-IN" sz="1400" b="1"/>
              <a:t>WannaCry</a:t>
            </a:r>
            <a:r>
              <a:rPr lang="en-IN" sz="1400"/>
              <a:t>" ransomware attack losses could reach $4 billion. Global financial and economic losses from the "</a:t>
            </a:r>
            <a:r>
              <a:rPr lang="en-IN" sz="1400" b="1"/>
              <a:t>WannaCry</a:t>
            </a:r>
            <a:r>
              <a:rPr lang="en-IN" sz="1400"/>
              <a:t>" attack that crippled computers in at least 150 countries could swell into the billions of dollars, making it one of the most damaging incidents involving so-called ransomware.  </a:t>
            </a:r>
            <a:endParaRPr sz="1400"/>
          </a:p>
          <a:p>
            <a:pPr marL="457200" lvl="0" indent="-228600" algn="l" rtl="0">
              <a:lnSpc>
                <a:spcPct val="100000"/>
              </a:lnSpc>
              <a:spcBef>
                <a:spcPts val="360"/>
              </a:spcBef>
              <a:spcAft>
                <a:spcPts val="0"/>
              </a:spcAft>
              <a:buClr>
                <a:schemeClr val="dk1"/>
              </a:buClr>
              <a:buSzPts val="1800"/>
              <a:buNone/>
            </a:pPr>
            <a:endParaRPr sz="1400"/>
          </a:p>
          <a:p>
            <a:pPr marL="457200" lvl="0" indent="-342900" algn="l" rtl="0">
              <a:lnSpc>
                <a:spcPct val="100000"/>
              </a:lnSpc>
              <a:spcBef>
                <a:spcPts val="360"/>
              </a:spcBef>
              <a:spcAft>
                <a:spcPts val="0"/>
              </a:spcAft>
              <a:buClr>
                <a:schemeClr val="dk1"/>
              </a:buClr>
              <a:buSzPts val="1800"/>
              <a:buChar char="•"/>
            </a:pPr>
            <a:r>
              <a:rPr lang="en-IN" sz="1400"/>
              <a:t>The ransomware campaign was unprecedented in scale according to Europol, which estimates that around 200,000 computers were infected across 150 countries. According to Kaspersky Lab, the four most </a:t>
            </a:r>
            <a:r>
              <a:rPr lang="en-IN" sz="1400" b="1"/>
              <a:t>affected</a:t>
            </a:r>
            <a:r>
              <a:rPr lang="en-IN" sz="1400"/>
              <a:t> countries were Russia, Ukraine, India and Taiwan.</a:t>
            </a:r>
            <a:endParaRPr lang="en-IN" sz="1400"/>
          </a:p>
          <a:p>
            <a:pPr marL="457200" lvl="0" indent="-228600" algn="l" rtl="0">
              <a:lnSpc>
                <a:spcPct val="100000"/>
              </a:lnSpc>
              <a:spcBef>
                <a:spcPts val="360"/>
              </a:spcBef>
              <a:spcAft>
                <a:spcPts val="0"/>
              </a:spcAft>
              <a:buClr>
                <a:schemeClr val="dk1"/>
              </a:buClr>
              <a:buSzPts val="1800"/>
              <a:buNone/>
            </a:pPr>
            <a:endParaRPr sz="1400"/>
          </a:p>
          <a:p>
            <a:pPr marL="457200" lvl="0" indent="-342900" algn="l" rtl="0">
              <a:lnSpc>
                <a:spcPct val="100000"/>
              </a:lnSpc>
              <a:spcBef>
                <a:spcPts val="360"/>
              </a:spcBef>
              <a:spcAft>
                <a:spcPts val="0"/>
              </a:spcAft>
              <a:buClr>
                <a:schemeClr val="dk1"/>
              </a:buClr>
              <a:buSzPts val="1800"/>
              <a:buChar char="•"/>
            </a:pPr>
            <a:r>
              <a:rPr lang="en-IN" sz="1400"/>
              <a:t>In 2016, such schemes caused losses of </a:t>
            </a:r>
            <a:r>
              <a:rPr lang="en-IN" sz="1400" u="sng">
                <a:solidFill>
                  <a:schemeClr val="hlink"/>
                </a:solidFill>
                <a:hlinkClick r:id="rId1"/>
              </a:rPr>
              <a:t>$1.5 billion</a:t>
            </a:r>
            <a:r>
              <a:rPr lang="en-IN" sz="1400"/>
              <a:t>, according to market researcher Cybersecurity Ventures. That includes lost productivity and the cost of conducting forensic investigations and restoration of data, said Steve Morgan, founder and editor-in-Chief of Cybersecurity Ventures.</a:t>
            </a:r>
            <a:endParaRPr lang="en-IN" sz="1400"/>
          </a:p>
          <a:p>
            <a:pPr marL="114300" lvl="0" indent="0" algn="l" rtl="0">
              <a:lnSpc>
                <a:spcPct val="100000"/>
              </a:lnSpc>
              <a:spcBef>
                <a:spcPts val="360"/>
              </a:spcBef>
              <a:spcAft>
                <a:spcPts val="0"/>
              </a:spcAft>
              <a:buSzPts val="1800"/>
              <a:buNone/>
            </a:pPr>
            <a:endParaRPr sz="1400"/>
          </a:p>
          <a:p>
            <a:pPr marL="457200" lvl="0" indent="-342900" algn="l" rtl="0">
              <a:lnSpc>
                <a:spcPct val="100000"/>
              </a:lnSpc>
              <a:spcBef>
                <a:spcPts val="360"/>
              </a:spcBef>
              <a:spcAft>
                <a:spcPts val="0"/>
              </a:spcAft>
              <a:buClr>
                <a:schemeClr val="dk1"/>
              </a:buClr>
              <a:buSzPts val="1800"/>
              <a:buChar char="•"/>
            </a:pPr>
            <a:r>
              <a:rPr lang="en-IN" sz="1400"/>
              <a:t>Please go through the article written by Shri.Jonathan berr on May 16, 2017 at 5.00 a.m. Money Watch – Refer Google Search</a:t>
            </a:r>
            <a:endParaRPr lang="en-IN" sz="1400"/>
          </a:p>
          <a:p>
            <a:pPr marL="457200" lvl="0" indent="-228600" algn="l" rtl="0">
              <a:lnSpc>
                <a:spcPct val="100000"/>
              </a:lnSpc>
              <a:spcBef>
                <a:spcPts val="360"/>
              </a:spcBef>
              <a:spcAft>
                <a:spcPts val="0"/>
              </a:spcAft>
              <a:buClr>
                <a:schemeClr val="dk1"/>
              </a:buClr>
              <a:buSzPts val="1800"/>
              <a:buNone/>
            </a:pPr>
            <a:endParaRPr sz="1400"/>
          </a:p>
        </p:txBody>
      </p:sp>
      <p:sp>
        <p:nvSpPr>
          <p:cNvPr id="168" name="Google Shape;168;p22"/>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74" name="Shape 174"/>
        <p:cNvGrpSpPr/>
        <p:nvPr/>
      </p:nvGrpSpPr>
      <p:grpSpPr>
        <a:xfrm>
          <a:off x="0" y="0"/>
          <a:ext cx="0" cy="0"/>
          <a:chOff x="0" y="0"/>
          <a:chExt cx="0" cy="0"/>
        </a:xfrm>
      </p:grpSpPr>
      <p:sp>
        <p:nvSpPr>
          <p:cNvPr id="175" name="Google Shape;175;p23"/>
          <p:cNvSpPr txBox="1"/>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IT SECURITY</a:t>
            </a:r>
            <a:endParaRPr sz="1800"/>
          </a:p>
        </p:txBody>
      </p:sp>
      <p:sp>
        <p:nvSpPr>
          <p:cNvPr id="176" name="Google Shape;176;p23"/>
          <p:cNvSpPr txBox="1"/>
          <p:nvPr>
            <p:ph type="body" idx="1"/>
          </p:nvPr>
        </p:nvSpPr>
        <p:spPr>
          <a:xfrm>
            <a:off x="457200" y="681135"/>
            <a:ext cx="8229600" cy="4086808"/>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400" b="1"/>
              <a:t>PROTECTION TIPS</a:t>
            </a:r>
            <a:endParaRPr sz="1400"/>
          </a:p>
          <a:p>
            <a:pPr marL="457200" lvl="0" indent="-342900" algn="l" rtl="0">
              <a:lnSpc>
                <a:spcPct val="100000"/>
              </a:lnSpc>
              <a:spcBef>
                <a:spcPts val="360"/>
              </a:spcBef>
              <a:spcAft>
                <a:spcPts val="0"/>
              </a:spcAft>
              <a:buSzPts val="1800"/>
              <a:buChar char="•"/>
            </a:pPr>
            <a:r>
              <a:rPr lang="en-IN" sz="1200"/>
              <a:t>Never give out credit card details unless it’s a website you trust or you have phoned the company directly. </a:t>
            </a:r>
            <a:endParaRPr lang="en-IN" sz="1200"/>
          </a:p>
          <a:p>
            <a:pPr marL="457200" lvl="0" indent="-342900" algn="l" rtl="0">
              <a:lnSpc>
                <a:spcPct val="100000"/>
              </a:lnSpc>
              <a:spcBef>
                <a:spcPts val="360"/>
              </a:spcBef>
              <a:spcAft>
                <a:spcPts val="0"/>
              </a:spcAft>
              <a:buSzPts val="1800"/>
              <a:buChar char="•"/>
            </a:pPr>
            <a:r>
              <a:rPr lang="en-IN" sz="1200"/>
              <a:t>If anyone calls claiming to be a trusted institution, grab their details and call them back.</a:t>
            </a:r>
            <a:endParaRPr lang="en-IN" sz="1200"/>
          </a:p>
          <a:p>
            <a:pPr marL="457200" lvl="0" indent="-342900" algn="l" rtl="0">
              <a:lnSpc>
                <a:spcPct val="100000"/>
              </a:lnSpc>
              <a:spcBef>
                <a:spcPts val="360"/>
              </a:spcBef>
              <a:spcAft>
                <a:spcPts val="0"/>
              </a:spcAft>
              <a:buSzPts val="1800"/>
              <a:buChar char="•"/>
            </a:pPr>
            <a:r>
              <a:rPr lang="en-IN" sz="1200"/>
              <a:t>Do not open suspicious emails. Delete them, flag them as phishing emails within your email account or report them to the inform Cyber Crime Cell of your area. </a:t>
            </a:r>
            <a:endParaRPr lang="en-IN" sz="1200"/>
          </a:p>
          <a:p>
            <a:pPr marL="457200" lvl="0" indent="-342900" algn="l" rtl="0">
              <a:lnSpc>
                <a:spcPct val="100000"/>
              </a:lnSpc>
              <a:spcBef>
                <a:spcPts val="360"/>
              </a:spcBef>
              <a:spcAft>
                <a:spcPts val="0"/>
              </a:spcAft>
              <a:buSzPts val="1800"/>
              <a:buChar char="•"/>
            </a:pPr>
            <a:r>
              <a:rPr lang="en-IN" sz="1200"/>
              <a:t>If you have opened the email, do no click on the links within it or open any attachments. </a:t>
            </a:r>
            <a:endParaRPr lang="en-IN" sz="1200"/>
          </a:p>
          <a:p>
            <a:pPr marL="457200" lvl="0" indent="-342900" algn="l" rtl="0">
              <a:lnSpc>
                <a:spcPct val="100000"/>
              </a:lnSpc>
              <a:spcBef>
                <a:spcPts val="360"/>
              </a:spcBef>
              <a:spcAft>
                <a:spcPts val="0"/>
              </a:spcAft>
              <a:buSzPts val="1800"/>
              <a:buChar char="•"/>
            </a:pPr>
            <a:r>
              <a:rPr lang="en-IN" sz="1200"/>
              <a:t>Don’t call numbers from spam emails or SMS.</a:t>
            </a:r>
            <a:endParaRPr lang="en-IN" sz="1200"/>
          </a:p>
          <a:p>
            <a:pPr marL="457200" lvl="0" indent="-342900" algn="l" rtl="0">
              <a:lnSpc>
                <a:spcPct val="100000"/>
              </a:lnSpc>
              <a:spcBef>
                <a:spcPts val="360"/>
              </a:spcBef>
              <a:spcAft>
                <a:spcPts val="0"/>
              </a:spcAft>
              <a:buSzPts val="1800"/>
              <a:buChar char="•"/>
            </a:pPr>
            <a:r>
              <a:rPr lang="en-IN" sz="1200"/>
              <a:t>Bookmark the legitimate Internet account links that are used regularly rather than following links in emails.</a:t>
            </a:r>
            <a:endParaRPr lang="en-IN" sz="1200"/>
          </a:p>
          <a:p>
            <a:pPr marL="457200" lvl="0" indent="-342900" algn="l" rtl="0">
              <a:lnSpc>
                <a:spcPct val="100000"/>
              </a:lnSpc>
              <a:spcBef>
                <a:spcPts val="360"/>
              </a:spcBef>
              <a:spcAft>
                <a:spcPts val="0"/>
              </a:spcAft>
              <a:buSzPts val="1800"/>
              <a:buChar char="•"/>
            </a:pPr>
            <a:r>
              <a:rPr lang="en-IN" sz="1200"/>
              <a:t>Check the website carefully and if not 100% sure don’t enter credit/debit card and other details. </a:t>
            </a:r>
            <a:endParaRPr lang="en-IN" sz="1200"/>
          </a:p>
          <a:p>
            <a:pPr marL="457200" lvl="0" indent="-342900" algn="l" rtl="0">
              <a:lnSpc>
                <a:spcPct val="100000"/>
              </a:lnSpc>
              <a:spcBef>
                <a:spcPts val="360"/>
              </a:spcBef>
              <a:spcAft>
                <a:spcPts val="0"/>
              </a:spcAft>
              <a:buSzPts val="1800"/>
              <a:buChar char="•"/>
            </a:pPr>
            <a:r>
              <a:rPr lang="en-IN" sz="1200"/>
              <a:t>Do not send card details via email or SMS.</a:t>
            </a:r>
            <a:endParaRPr lang="en-IN" sz="1200"/>
          </a:p>
          <a:p>
            <a:pPr marL="457200" lvl="0" indent="-342900" algn="l" rtl="0">
              <a:lnSpc>
                <a:spcPct val="100000"/>
              </a:lnSpc>
              <a:spcBef>
                <a:spcPts val="360"/>
              </a:spcBef>
              <a:spcAft>
                <a:spcPts val="0"/>
              </a:spcAft>
              <a:buClr>
                <a:schemeClr val="dk1"/>
              </a:buClr>
              <a:buSzPts val="1800"/>
              <a:buChar char="•"/>
            </a:pPr>
            <a:r>
              <a:rPr lang="en-IN" sz="1400" b="1"/>
              <a:t>Being an investigator, you have to check all these types so as to find out the nature and effects and accordingly identify the culprit</a:t>
            </a:r>
            <a:endParaRPr lang="en-IN" sz="1400" b="1"/>
          </a:p>
          <a:p>
            <a:pPr marL="114300" lvl="0" indent="0" algn="l" rtl="0">
              <a:lnSpc>
                <a:spcPct val="100000"/>
              </a:lnSpc>
              <a:spcBef>
                <a:spcPts val="360"/>
              </a:spcBef>
              <a:spcAft>
                <a:spcPts val="0"/>
              </a:spcAft>
              <a:buSzPts val="1800"/>
              <a:buNone/>
            </a:pPr>
            <a:r>
              <a:rPr lang="en-IN" sz="1400" b="1">
                <a:solidFill>
                  <a:srgbClr val="00B0F0"/>
                </a:solidFill>
              </a:rPr>
              <a:t>GET YOURSELF EDUCATED AND THEN EDUCATE BOTH OUR MEMBERS OF STAFF AND OUR CUSTOMERS &amp; OTHERS</a:t>
            </a:r>
            <a:endParaRPr sz="1400">
              <a:solidFill>
                <a:srgbClr val="00B0F0"/>
              </a:solidFill>
            </a:endParaRPr>
          </a:p>
          <a:p>
            <a:pPr marL="457200" lvl="0" indent="-228600" algn="l" rtl="0">
              <a:lnSpc>
                <a:spcPct val="100000"/>
              </a:lnSpc>
              <a:spcBef>
                <a:spcPts val="360"/>
              </a:spcBef>
              <a:spcAft>
                <a:spcPts val="0"/>
              </a:spcAft>
              <a:buClr>
                <a:schemeClr val="dk1"/>
              </a:buClr>
              <a:buSzPts val="1800"/>
              <a:buNone/>
            </a:pPr>
            <a:endParaRPr sz="1400"/>
          </a:p>
          <a:p>
            <a:pPr marL="457200" lvl="0" indent="-228600" algn="l" rtl="0">
              <a:lnSpc>
                <a:spcPct val="100000"/>
              </a:lnSpc>
              <a:spcBef>
                <a:spcPts val="360"/>
              </a:spcBef>
              <a:spcAft>
                <a:spcPts val="0"/>
              </a:spcAft>
              <a:buClr>
                <a:schemeClr val="dk1"/>
              </a:buClr>
              <a:buSzPts val="1800"/>
              <a:buNone/>
            </a:pPr>
            <a:endParaRPr sz="1400"/>
          </a:p>
        </p:txBody>
      </p:sp>
      <p:sp>
        <p:nvSpPr>
          <p:cNvPr id="177" name="Google Shape;177;p23"/>
          <p:cNvSpPr txBox="1"/>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fld>
            <a:endParaRPr lang="en-IN"/>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11038</Words>
  <Application>WPS Presentation</Application>
  <PresentationFormat/>
  <Paragraphs>235</Paragraphs>
  <Slides>15</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15</vt:i4>
      </vt:variant>
    </vt:vector>
  </HeadingPairs>
  <TitlesOfParts>
    <vt:vector size="23" baseType="lpstr">
      <vt:lpstr>Arial</vt:lpstr>
      <vt:lpstr>SimSun</vt:lpstr>
      <vt:lpstr>Wingdings</vt:lpstr>
      <vt:lpstr>Arial</vt:lpstr>
      <vt:lpstr>Calibri</vt:lpstr>
      <vt:lpstr>Microsoft YaHei</vt:lpstr>
      <vt:lpstr>Arial Unicode MS</vt:lpstr>
      <vt:lpstr>Office Theme</vt:lpstr>
      <vt:lpstr>M.Sc. - Cyber Forensics &amp; Information Security </vt:lpstr>
      <vt:lpstr>IT SECURITY</vt:lpstr>
      <vt:lpstr>IT SECURITY</vt:lpstr>
      <vt:lpstr>IT SECURITY</vt:lpstr>
      <vt:lpstr>IT SECURITY</vt:lpstr>
      <vt:lpstr>IT SECURITY</vt:lpstr>
      <vt:lpstr>IT SECURITY</vt:lpstr>
      <vt:lpstr>IT SECURITY</vt:lpstr>
      <vt:lpstr>IT SECURITY</vt:lpstr>
      <vt:lpstr>IT SECURITY</vt:lpstr>
      <vt:lpstr>IT SECURITY</vt:lpstr>
      <vt:lpstr>IT SECURITY</vt:lpstr>
      <vt:lpstr>IT SECURITY</vt:lpstr>
      <vt:lpstr>IT SECURITY</vt:lpstr>
      <vt:lpstr>IT SECURITY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M.Sc. - Cyber Forensics &amp; Information Security </dc:title>
  <dc:creator/>
  <cp:lastModifiedBy>Sudhan Venu</cp:lastModifiedBy>
  <cp:revision>2</cp:revision>
  <dcterms:created xsi:type="dcterms:W3CDTF">2025-09-14T05:36:00Z</dcterms:created>
  <dcterms:modified xsi:type="dcterms:W3CDTF">2025-09-14T06:40:33Z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9AAD31A3C00941779EF8C9ECE85B37FB_12</vt:lpwstr>
  </property>
  <property fmtid="{D5CDD505-2E9C-101B-9397-08002B2CF9AE}" pid="3" name="KSOProductBuildVer">
    <vt:lpwstr>1033-12.2.0.22549</vt:lpwstr>
  </property>
</Properties>
</file>