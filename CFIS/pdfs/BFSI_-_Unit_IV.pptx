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342" r:id="rId6"/>
    <p:sldId id="343" r:id="rId7"/>
    <p:sldId id="344"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8" r:id="rId30"/>
    <p:sldId id="366" r:id="rId31"/>
    <p:sldId id="367" r:id="rId32"/>
    <p:sldId id="369" r:id="rId33"/>
    <p:sldId id="376" r:id="rId34"/>
    <p:sldId id="370" r:id="rId35"/>
    <p:sldId id="371" r:id="rId36"/>
    <p:sldId id="372" r:id="rId37"/>
    <p:sldId id="373" r:id="rId38"/>
    <p:sldId id="374" r:id="rId39"/>
    <p:sldId id="375" r:id="rId40"/>
    <p:sldId id="377" r:id="rId41"/>
    <p:sldId id="378" r:id="rId42"/>
    <p:sldId id="379" r:id="rId43"/>
    <p:sldId id="380" r:id="rId44"/>
    <p:sldId id="381" r:id="rId45"/>
    <p:sldId id="382" r:id="rId46"/>
    <p:sldId id="383" r:id="rId47"/>
    <p:sldId id="384" r:id="rId48"/>
    <p:sldId id="385" r:id="rId49"/>
  </p:sldIdLst>
  <p:sldSz cx="9144000" cy="6858000"/>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8" userDrawn="1">
          <p15:clr>
            <a:srgbClr val="A4A3A4"/>
          </p15:clr>
        </p15:guide>
        <p15:guide id="2" pos="21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8"/>
        <p:guide pos="213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200" b="0" i="0">
                <a:solidFill>
                  <a:srgbClr val="375F92"/>
                </a:solidFill>
                <a:latin typeface="Calibri" panose="020F0502020204030204"/>
                <a:cs typeface="Calibri" panose="020F0502020204030204"/>
              </a:defRPr>
            </a:lvl1pPr>
          </a:lstStyle>
          <a:p>
            <a:pPr marL="38100">
              <a:lnSpc>
                <a:spcPts val="1240"/>
              </a:lnSpc>
            </a:pPr>
            <a:fld id="{81D60167-4931-47E6-BA6A-407CBD079E47}" type="slidenum">
              <a:rPr dirty="0"/>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244060"/>
                </a:solidFill>
                <a:latin typeface="Calibri" panose="020F0502020204030204"/>
                <a:cs typeface="Calibri" panose="020F0502020204030204"/>
              </a:defRPr>
            </a:lvl1pPr>
          </a:lstStyle>
          <a:p/>
        </p:txBody>
      </p:sp>
      <p:sp>
        <p:nvSpPr>
          <p:cNvPr id="3" name="Holder 3"/>
          <p:cNvSpPr>
            <a:spLocks noGrp="1"/>
          </p:cNvSpPr>
          <p:nvPr>
            <p:ph type="body" idx="1"/>
          </p:nvPr>
        </p:nvSpPr>
        <p:spPr/>
        <p:txBody>
          <a:bodyPr lIns="0" tIns="0" rIns="0" bIns="0"/>
          <a:lstStyle>
            <a:lvl1pPr>
              <a:defRPr sz="2400" b="1" i="0">
                <a:solidFill>
                  <a:srgbClr val="244060"/>
                </a:solidFill>
                <a:latin typeface="Calibri" panose="020F0502020204030204"/>
                <a:cs typeface="Calibri" panose="020F050202020403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200" b="0" i="0">
                <a:solidFill>
                  <a:srgbClr val="375F92"/>
                </a:solidFill>
                <a:latin typeface="Calibri" panose="020F0502020204030204"/>
                <a:cs typeface="Calibri" panose="020F0502020204030204"/>
              </a:defRPr>
            </a:lvl1pPr>
          </a:lstStyle>
          <a:p>
            <a:pPr marL="38100">
              <a:lnSpc>
                <a:spcPts val="1240"/>
              </a:lnSpc>
            </a:pPr>
            <a:fld id="{81D60167-4931-47E6-BA6A-407CBD079E47}" type="slidenum">
              <a:rPr dirty="0"/>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244060"/>
                </a:solidFill>
                <a:latin typeface="Calibri" panose="020F0502020204030204"/>
                <a:cs typeface="Calibri" panose="020F0502020204030204"/>
              </a:defRPr>
            </a:lvl1pPr>
          </a:lstStyle>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200" b="0" i="0">
                <a:solidFill>
                  <a:srgbClr val="375F92"/>
                </a:solidFill>
                <a:latin typeface="Calibri" panose="020F0502020204030204"/>
                <a:cs typeface="Calibri" panose="020F0502020204030204"/>
              </a:defRPr>
            </a:lvl1pPr>
          </a:lstStyle>
          <a:p>
            <a:pPr marL="38100">
              <a:lnSpc>
                <a:spcPts val="1240"/>
              </a:lnSpc>
            </a:pPr>
            <a:fld id="{81D60167-4931-47E6-BA6A-407CBD079E47}" type="slidenum">
              <a:rPr dirty="0"/>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244060"/>
                </a:solidFill>
                <a:latin typeface="Calibri" panose="020F0502020204030204"/>
                <a:cs typeface="Calibri" panose="020F05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200" b="0" i="0">
                <a:solidFill>
                  <a:srgbClr val="375F92"/>
                </a:solidFill>
                <a:latin typeface="Calibri" panose="020F0502020204030204"/>
                <a:cs typeface="Calibri" panose="020F0502020204030204"/>
              </a:defRPr>
            </a:lvl1pPr>
          </a:lstStyle>
          <a:p>
            <a:pPr marL="38100">
              <a:lnSpc>
                <a:spcPts val="1240"/>
              </a:lnSpc>
            </a:pPr>
            <a:fld id="{81D60167-4931-47E6-BA6A-407CBD079E47}" type="slidenum">
              <a:rPr dirty="0"/>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200" b="0" i="0">
                <a:solidFill>
                  <a:srgbClr val="375F92"/>
                </a:solidFill>
                <a:latin typeface="Calibri" panose="020F0502020204030204"/>
                <a:cs typeface="Calibri" panose="020F0502020204030204"/>
              </a:defRPr>
            </a:lvl1pPr>
          </a:lstStyle>
          <a:p>
            <a:pPr marL="38100">
              <a:lnSpc>
                <a:spcPts val="1240"/>
              </a:lnSpc>
            </a:pPr>
            <a:fld id="{81D60167-4931-47E6-BA6A-407CBD079E47}" type="slidenum">
              <a:rPr dirty="0"/>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08856" y="211277"/>
            <a:ext cx="1526286" cy="697230"/>
          </a:xfrm>
          <a:prstGeom prst="rect">
            <a:avLst/>
          </a:prstGeom>
        </p:spPr>
        <p:txBody>
          <a:bodyPr wrap="square" lIns="0" tIns="0" rIns="0" bIns="0">
            <a:spAutoFit/>
          </a:bodyPr>
          <a:lstStyle>
            <a:lvl1pPr>
              <a:defRPr sz="4400" b="1" i="0">
                <a:solidFill>
                  <a:srgbClr val="244060"/>
                </a:solidFill>
                <a:latin typeface="Calibri" panose="020F0502020204030204"/>
                <a:cs typeface="Calibri" panose="020F0502020204030204"/>
              </a:defRPr>
            </a:lvl1pPr>
          </a:lstStyle>
          <a:p/>
        </p:txBody>
      </p:sp>
      <p:sp>
        <p:nvSpPr>
          <p:cNvPr id="3" name="Holder 3"/>
          <p:cNvSpPr>
            <a:spLocks noGrp="1"/>
          </p:cNvSpPr>
          <p:nvPr>
            <p:ph type="body" idx="1"/>
          </p:nvPr>
        </p:nvSpPr>
        <p:spPr>
          <a:xfrm>
            <a:off x="459740" y="1232661"/>
            <a:ext cx="8149590" cy="2952115"/>
          </a:xfrm>
          <a:prstGeom prst="rect">
            <a:avLst/>
          </a:prstGeom>
        </p:spPr>
        <p:txBody>
          <a:bodyPr wrap="square" lIns="0" tIns="0" rIns="0" bIns="0">
            <a:spAutoFit/>
          </a:bodyPr>
          <a:lstStyle>
            <a:lvl1pPr>
              <a:defRPr sz="2400" b="1" i="0">
                <a:solidFill>
                  <a:srgbClr val="244060"/>
                </a:solidFill>
                <a:latin typeface="Calibri" panose="020F0502020204030204"/>
                <a:cs typeface="Calibri" panose="020F0502020204030204"/>
              </a:defRPr>
            </a:lvl1pPr>
          </a:lstStyle>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401811" y="6465214"/>
            <a:ext cx="231775" cy="177800"/>
          </a:xfrm>
          <a:prstGeom prst="rect">
            <a:avLst/>
          </a:prstGeom>
        </p:spPr>
        <p:txBody>
          <a:bodyPr wrap="square" lIns="0" tIns="0" rIns="0" bIns="0">
            <a:spAutoFit/>
          </a:bodyPr>
          <a:lstStyle>
            <a:lvl1pPr>
              <a:defRPr sz="1200" b="0" i="0">
                <a:solidFill>
                  <a:srgbClr val="375F92"/>
                </a:solidFill>
                <a:latin typeface="Calibri" panose="020F0502020204030204"/>
                <a:cs typeface="Calibri" panose="020F0502020204030204"/>
              </a:defRPr>
            </a:lvl1pPr>
          </a:lstStyle>
          <a:p>
            <a:pPr marL="38100">
              <a:lnSpc>
                <a:spcPts val="1240"/>
              </a:lnSpc>
            </a:pPr>
            <a:fld id="{81D60167-4931-47E6-BA6A-407CBD079E47}" type="slidenum">
              <a:rPr dirty="0"/>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mailto:shvani@gmail.com" TargetMode="Externa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5165216" y="6039103"/>
            <a:ext cx="3830954" cy="381635"/>
          </a:xfrm>
          <a:prstGeom prst="rect">
            <a:avLst/>
          </a:prstGeom>
        </p:spPr>
        <p:txBody>
          <a:bodyPr vert="horz" wrap="square" lIns="0" tIns="12700" rIns="0" bIns="0" rtlCol="0">
            <a:spAutoFit/>
          </a:bodyPr>
          <a:lstStyle/>
          <a:p>
            <a:pPr marL="12700">
              <a:lnSpc>
                <a:spcPct val="100000"/>
              </a:lnSpc>
              <a:spcBef>
                <a:spcPts val="100"/>
              </a:spcBef>
            </a:pPr>
            <a:r>
              <a:rPr lang="en-US" sz="2400" b="1" spc="-5" dirty="0">
                <a:solidFill>
                  <a:srgbClr val="244060"/>
                </a:solidFill>
                <a:latin typeface="Calibri" panose="020F0502020204030204"/>
                <a:cs typeface="Calibri" panose="020F0502020204030204"/>
              </a:rPr>
              <a:t>Sudhan Venu</a:t>
            </a:r>
            <a:endParaRPr sz="1800">
              <a:latin typeface="Calibri" panose="020F0502020204030204"/>
              <a:cs typeface="Calibri" panose="020F0502020204030204"/>
            </a:endParaRPr>
          </a:p>
        </p:txBody>
      </p:sp>
      <p:pic>
        <p:nvPicPr>
          <p:cNvPr id="9" name="object 9"/>
          <p:cNvPicPr/>
          <p:nvPr/>
        </p:nvPicPr>
        <p:blipFill>
          <a:blip r:embed="rId1" cstate="print"/>
          <a:stretch>
            <a:fillRect/>
          </a:stretch>
        </p:blipFill>
        <p:spPr>
          <a:xfrm>
            <a:off x="775970" y="5701030"/>
            <a:ext cx="3458210" cy="1156970"/>
          </a:xfrm>
          <a:prstGeom prst="rect">
            <a:avLst/>
          </a:prstGeom>
        </p:spPr>
      </p:pic>
      <p:sp>
        <p:nvSpPr>
          <p:cNvPr id="11" name="Title 10"/>
          <p:cNvSpPr/>
          <p:nvPr>
            <p:ph type="title"/>
          </p:nvPr>
        </p:nvSpPr>
        <p:spPr>
          <a:xfrm>
            <a:off x="609600" y="381000"/>
            <a:ext cx="7851775" cy="5006340"/>
          </a:xfrm>
        </p:spPr>
        <p:txBody>
          <a:bodyPr wrap="square">
            <a:noAutofit/>
          </a:bodyPr>
          <a:p>
            <a:pPr algn="ctr"/>
            <a:r>
              <a:rPr lang="en-US" altLang="en-US" sz="3200"/>
              <a:t>BFSI FRAUDS &amp; COUNTERMEASURES</a:t>
            </a:r>
            <a:endParaRPr lang="en-US" altLang="en-US" sz="3200"/>
          </a:p>
        </p:txBody>
      </p:sp>
      <p:pic>
        <p:nvPicPr>
          <p:cNvPr id="12" name="Picture 11"/>
          <p:cNvPicPr>
            <a:picLocks noChangeAspect="1"/>
          </p:cNvPicPr>
          <p:nvPr/>
        </p:nvPicPr>
        <p:blipFill>
          <a:blip r:embed="rId2"/>
          <a:stretch>
            <a:fillRect/>
          </a:stretch>
        </p:blipFill>
        <p:spPr>
          <a:xfrm>
            <a:off x="776605" y="1106170"/>
            <a:ext cx="7460615" cy="39535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07365" y="1055370"/>
            <a:ext cx="7842250" cy="5071110"/>
          </a:xfrm>
          <a:prstGeom prst="rect">
            <a:avLst/>
          </a:prstGeom>
        </p:spPr>
        <p:txBody>
          <a:bodyPr vert="horz" wrap="square" lIns="0" tIns="12065" rIns="0" bIns="0" rtlCol="0">
            <a:noAutofit/>
          </a:bodyPr>
          <a:lstStyle/>
          <a:p>
            <a:pPr marL="12700">
              <a:lnSpc>
                <a:spcPct val="100000"/>
              </a:lnSpc>
              <a:spcBef>
                <a:spcPts val="95"/>
              </a:spcBef>
            </a:pPr>
            <a:r>
              <a:rPr sz="3200" b="1" spc="-5" dirty="0">
                <a:solidFill>
                  <a:srgbClr val="244060"/>
                </a:solidFill>
                <a:latin typeface="Calibri" panose="020F0502020204030204" charset="0"/>
                <a:cs typeface="Calibri" panose="020F0502020204030204" charset="0"/>
              </a:rPr>
              <a:t>Vulnerable areas in CBS and their exploitation</a:t>
            </a:r>
            <a:endParaRPr sz="2400" b="1" spc="-5" dirty="0">
              <a:solidFill>
                <a:srgbClr val="244060"/>
              </a:solidFill>
              <a:latin typeface="Calibri" panose="020F0502020204030204" charset="0"/>
              <a:cs typeface="Calibri" panose="020F0502020204030204" charset="0"/>
            </a:endParaRPr>
          </a:p>
          <a:p>
            <a:pPr>
              <a:lnSpc>
                <a:spcPct val="100000"/>
              </a:lnSpc>
              <a:spcBef>
                <a:spcPts val="25"/>
              </a:spcBef>
            </a:pPr>
            <a:endParaRPr sz="2500">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Core Banking System</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Banking Overview</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Conventional Bank Branch- setup – Traditional</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Computerisation and Indian Banks</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Drivers and options</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TBA architecture computerisation and Indian Banks – options</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Physical design CBS-Ovarian</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General Ledger</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CBS architecture Variations</a:t>
            </a:r>
            <a:endParaRPr lang="en-US" altLang="en-US" sz="2400" b="1">
              <a:latin typeface="Calibri" panose="020F0502020204030204" charset="0"/>
              <a:cs typeface="Calibri" panose="020F0502020204030204" charset="0"/>
            </a:endParaRPr>
          </a:p>
        </p:txBody>
      </p:sp>
      <p:sp>
        <p:nvSpPr>
          <p:cNvPr id="3" name="object 3"/>
          <p:cNvSpPr txBox="1">
            <a:spLocks noGrp="1"/>
          </p:cNvSpPr>
          <p:nvPr>
            <p:ph type="title"/>
          </p:nvPr>
        </p:nvSpPr>
        <p:spPr>
          <a:xfrm>
            <a:off x="3659505" y="180975"/>
            <a:ext cx="1527810" cy="442595"/>
          </a:xfrm>
          <a:prstGeom prst="rect">
            <a:avLst/>
          </a:prstGeom>
        </p:spPr>
        <p:txBody>
          <a:bodyPr vert="horz" wrap="square" lIns="0" tIns="12065" rIns="0" bIns="0" rtlCol="0">
            <a:spAutoFit/>
          </a:bodyPr>
          <a:lstStyle/>
          <a:p>
            <a:pPr marL="12700">
              <a:lnSpc>
                <a:spcPct val="100000"/>
              </a:lnSpc>
              <a:spcBef>
                <a:spcPts val="95"/>
              </a:spcBef>
            </a:pPr>
            <a:r>
              <a:rPr sz="2800" spc="-5" dirty="0">
                <a:latin typeface="Arial" panose="020B0604020202020204"/>
                <a:cs typeface="Arial" panose="020B0604020202020204"/>
              </a:rPr>
              <a:t>Unit</a:t>
            </a:r>
            <a:r>
              <a:rPr sz="2800" spc="-25" dirty="0">
                <a:latin typeface="Arial" panose="020B0604020202020204"/>
                <a:cs typeface="Arial" panose="020B0604020202020204"/>
              </a:rPr>
              <a:t> </a:t>
            </a:r>
            <a:r>
              <a:rPr sz="2800" spc="-5" dirty="0">
                <a:latin typeface="Arial" panose="020B0604020202020204"/>
                <a:cs typeface="Arial" panose="020B0604020202020204"/>
              </a:rPr>
              <a:t>-</a:t>
            </a:r>
            <a:r>
              <a:rPr sz="2800" spc="-45" dirty="0">
                <a:latin typeface="Arial" panose="020B0604020202020204"/>
                <a:cs typeface="Arial" panose="020B0604020202020204"/>
              </a:rPr>
              <a:t> </a:t>
            </a:r>
            <a:r>
              <a:rPr lang="en-US" sz="2800" spc="-45" dirty="0">
                <a:latin typeface="Arial" panose="020B0604020202020204"/>
                <a:cs typeface="Arial" panose="020B0604020202020204"/>
              </a:rPr>
              <a:t>IV</a:t>
            </a:r>
            <a:endParaRPr lang="en-US" sz="2800" spc="-45" dirty="0">
              <a:latin typeface="Arial" panose="020B0604020202020204"/>
              <a:cs typeface="Arial" panose="020B0604020202020204"/>
            </a:endParaRPr>
          </a:p>
        </p:txBody>
      </p:sp>
      <p:sp>
        <p:nvSpPr>
          <p:cNvPr id="4" name="object 4"/>
          <p:cNvSpPr/>
          <p:nvPr/>
        </p:nvSpPr>
        <p:spPr>
          <a:xfrm>
            <a:off x="7242175" y="15240"/>
            <a:ext cx="1902460" cy="67500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5" name="object 5"/>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pic>
        <p:nvPicPr>
          <p:cNvPr id="6" name="object 6"/>
          <p:cNvPicPr/>
          <p:nvPr/>
        </p:nvPicPr>
        <p:blipFill>
          <a:blip r:embed="rId1" cstate="print"/>
          <a:stretch>
            <a:fillRect/>
          </a:stretch>
        </p:blipFill>
        <p:spPr>
          <a:xfrm>
            <a:off x="7467600" y="4585715"/>
            <a:ext cx="1659636" cy="2034539"/>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3820" y="102235"/>
            <a:ext cx="575056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Banking Overview</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535940" y="990600"/>
            <a:ext cx="8124825" cy="5610860"/>
          </a:xfrm>
          <a:prstGeom prst="rect">
            <a:avLst/>
          </a:prstGeom>
        </p:spPr>
        <p:txBody>
          <a:bodyPr vert="horz" wrap="square" lIns="0" tIns="12700" rIns="0" bIns="0" rtlCol="0">
            <a:noAutofit/>
          </a:bodyPr>
          <a:lstStyle/>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Basic Banking </a:t>
            </a:r>
            <a:r>
              <a:rPr lang="en-US" altLang="en-US" sz="2400">
                <a:latin typeface="Calibri" panose="020F0502020204030204"/>
                <a:cs typeface="Calibri" panose="020F0502020204030204"/>
              </a:rPr>
              <a:t>- Accepting Deposits, Lending to Borrowers</a:t>
            </a:r>
            <a:endParaRPr lang="en-US" altLang="en-US" sz="2400">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Remittance Services</a:t>
            </a:r>
            <a:r>
              <a:rPr lang="en-US" altLang="en-US" sz="2400">
                <a:latin typeface="Calibri" panose="020F0502020204030204"/>
                <a:cs typeface="Calibri" panose="020F0502020204030204"/>
              </a:rPr>
              <a:t> - Draft (DD), Mail Transfer (MT) Telegraphic Transfer (TT)</a:t>
            </a:r>
            <a:endParaRPr lang="en-US" altLang="en-US" sz="2400">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Trade Finance</a:t>
            </a:r>
            <a:endParaRPr lang="en-US" altLang="en-US" sz="2400" b="1">
              <a:latin typeface="Calibri" panose="020F0502020204030204"/>
              <a:cs typeface="Calibri" panose="020F0502020204030204"/>
            </a:endParaRPr>
          </a:p>
          <a:p>
            <a:pPr marL="1213485" marR="5080" lvl="2" indent="-287020" algn="just">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Bills – Collection, Purchase, Discount</a:t>
            </a:r>
            <a:endParaRPr lang="en-US" altLang="en-US" sz="2400">
              <a:latin typeface="Calibri" panose="020F0502020204030204"/>
              <a:cs typeface="Calibri" panose="020F0502020204030204"/>
            </a:endParaRPr>
          </a:p>
          <a:p>
            <a:pPr marL="1213485" marR="5080" lvl="2" indent="-287020" algn="just">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Letter of Credit</a:t>
            </a:r>
            <a:endParaRPr lang="en-US" altLang="en-US" sz="2400">
              <a:latin typeface="Calibri" panose="020F0502020204030204"/>
              <a:cs typeface="Calibri" panose="020F0502020204030204"/>
            </a:endParaRPr>
          </a:p>
          <a:p>
            <a:pPr marL="1213485" marR="5080" lvl="2" indent="-287020" algn="just">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Bank Guarantee</a:t>
            </a:r>
            <a:endParaRPr lang="en-US" altLang="en-US" sz="2400">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Safe Deposits and Lockers</a:t>
            </a: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Foreign Exchange Services</a:t>
            </a: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Investments and Treasury Operations</a:t>
            </a: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MIS And Statutory Reporting</a:t>
            </a: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Risk Management</a:t>
            </a: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Consultancy Services</a:t>
            </a: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Loan Syndication</a:t>
            </a: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Mergers And Acquisitions and Portfolio Management</a:t>
            </a:r>
            <a:endParaRPr lang="en-US" altLang="en-US" sz="2400" b="1">
              <a:latin typeface="Calibri" panose="020F05020202040302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3820" y="102235"/>
            <a:ext cx="5750560" cy="657225"/>
          </a:xfrm>
          <a:prstGeom prst="rect">
            <a:avLst/>
          </a:prstGeom>
        </p:spPr>
        <p:txBody>
          <a:bodyPr vert="horz" wrap="square" lIns="0" tIns="13335" rIns="0" bIns="0" rtlCol="0">
            <a:noAutofit/>
          </a:bodyPr>
          <a:lstStyle/>
          <a:p>
            <a:pPr marL="12700" algn="ctr">
              <a:lnSpc>
                <a:spcPct val="100000"/>
              </a:lnSpc>
              <a:spcBef>
                <a:spcPts val="105"/>
              </a:spcBef>
            </a:pPr>
            <a:r>
              <a:rPr lang="en-US" altLang="en-US" sz="2400" spc="-10" dirty="0"/>
              <a:t>Conventional Bank Branch - Set up - Traditional</a:t>
            </a:r>
            <a:endParaRPr lang="en-US" altLang="en-US" sz="24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535940" y="990600"/>
            <a:ext cx="8124825" cy="5610860"/>
          </a:xfrm>
          <a:prstGeom prst="rect">
            <a:avLst/>
          </a:prstGeom>
        </p:spPr>
        <p:txBody>
          <a:bodyPr vert="horz" wrap="square" lIns="0" tIns="12700" rIns="0" bIns="0" rtlCol="0">
            <a:noAutofit/>
          </a:bodyPr>
          <a:lstStyle/>
          <a:p>
            <a:pPr marL="756285" marR="5080" lvl="1" indent="-287020" algn="just">
              <a:lnSpc>
                <a:spcPct val="100000"/>
              </a:lnSpc>
              <a:spcBef>
                <a:spcPts val="100"/>
              </a:spcBef>
              <a:buFont typeface="Arial MT"/>
              <a:buChar char="•"/>
              <a:tabLst>
                <a:tab pos="299720" algn="l"/>
              </a:tabLst>
            </a:pP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Multiple Counters – Dedicated Tasks</a:t>
            </a: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Strong Visual Monitoring</a:t>
            </a:r>
            <a:endParaRPr lang="en-US" altLang="en-US" sz="2400" b="1">
              <a:latin typeface="Calibri" panose="020F0502020204030204"/>
              <a:cs typeface="Calibri" panose="020F0502020204030204"/>
            </a:endParaRPr>
          </a:p>
          <a:p>
            <a:pPr marL="1213485" marR="5080" lvl="2"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 </a:t>
            </a:r>
            <a:r>
              <a:rPr lang="en-US" altLang="en-US" sz="2400">
                <a:latin typeface="Calibri" panose="020F0502020204030204"/>
                <a:cs typeface="Calibri" panose="020F0502020204030204"/>
              </a:rPr>
              <a:t>Each Staff Handles Only His/ Her Books</a:t>
            </a:r>
            <a:endParaRPr lang="en-US" altLang="en-US" sz="2400">
              <a:latin typeface="Calibri" panose="020F0502020204030204"/>
              <a:cs typeface="Calibri" panose="020F0502020204030204"/>
            </a:endParaRPr>
          </a:p>
          <a:p>
            <a:pPr marL="1213485" marR="5080" lvl="2" indent="-287020" algn="just">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Easy to See Who is Accessing/ Doing What</a:t>
            </a:r>
            <a:endParaRPr lang="en-US" altLang="en-US" sz="2400">
              <a:latin typeface="Calibri" panose="020F0502020204030204"/>
              <a:cs typeface="Calibri" panose="020F0502020204030204"/>
            </a:endParaRPr>
          </a:p>
          <a:p>
            <a:pPr marL="1213485" marR="5080" lvl="2" indent="-287020" algn="just">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Absent/ Former Staff Can Not Enter Transactions</a:t>
            </a:r>
            <a:endParaRPr lang="en-US" altLang="en-US" sz="2400" b="1">
              <a:latin typeface="Calibri" panose="020F0502020204030204"/>
              <a:cs typeface="Calibri" panose="020F0502020204030204"/>
            </a:endParaRPr>
          </a:p>
          <a:p>
            <a:pPr marL="1213485" marR="5080" lvl="2" indent="-287020" algn="just">
              <a:lnSpc>
                <a:spcPct val="100000"/>
              </a:lnSpc>
              <a:spcBef>
                <a:spcPts val="100"/>
              </a:spcBef>
              <a:buFont typeface="Arial MT"/>
              <a:buChar char="•"/>
              <a:tabLst>
                <a:tab pos="299720" algn="l"/>
              </a:tabLst>
            </a:pPr>
            <a:endParaRPr lang="en-US" altLang="en-US" sz="2400" b="1">
              <a:latin typeface="Calibri" panose="020F0502020204030204"/>
              <a:cs typeface="Calibri" panose="020F0502020204030204"/>
            </a:endParaRPr>
          </a:p>
          <a:p>
            <a:pPr marL="756285" marR="5080" lvl="1" indent="-287020" algn="just">
              <a:lnSpc>
                <a:spcPct val="100000"/>
              </a:lnSpc>
              <a:spcBef>
                <a:spcPts val="100"/>
              </a:spcBef>
              <a:buFont typeface="Arial MT"/>
              <a:buChar char="•"/>
              <a:tabLst>
                <a:tab pos="299720" algn="l"/>
              </a:tabLst>
            </a:pPr>
            <a:r>
              <a:rPr lang="en-US" altLang="en-US" sz="2400" b="1">
                <a:latin typeface="Calibri" panose="020F0502020204030204"/>
                <a:cs typeface="Calibri" panose="020F0502020204030204"/>
              </a:rPr>
              <a:t>Transactions go Through Multiple Hands</a:t>
            </a:r>
            <a:endParaRPr lang="en-US" altLang="en-US" sz="2400" b="1">
              <a:latin typeface="Calibri" panose="020F0502020204030204"/>
              <a:cs typeface="Calibri" panose="020F0502020204030204"/>
            </a:endParaRPr>
          </a:p>
          <a:p>
            <a:pPr marL="1213485" marR="5080" lvl="2" indent="-287020" algn="just">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Easy Error Trapping</a:t>
            </a:r>
            <a:endParaRPr lang="en-US" altLang="en-US" sz="2400">
              <a:latin typeface="Calibri" panose="020F05020202040302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3820" y="210820"/>
            <a:ext cx="5750560" cy="548640"/>
          </a:xfrm>
          <a:prstGeom prst="rect">
            <a:avLst/>
          </a:prstGeom>
        </p:spPr>
        <p:txBody>
          <a:bodyPr vert="horz" wrap="square" lIns="0" tIns="13335" rIns="0" bIns="0" rtlCol="0">
            <a:noAutofit/>
          </a:bodyPr>
          <a:lstStyle/>
          <a:p>
            <a:pPr marL="12700" algn="ctr">
              <a:lnSpc>
                <a:spcPct val="100000"/>
              </a:lnSpc>
              <a:spcBef>
                <a:spcPts val="105"/>
              </a:spcBef>
            </a:pPr>
            <a:r>
              <a:rPr lang="en-US" altLang="en-US" sz="2400" spc="-10" dirty="0"/>
              <a:t>Computerisation &amp; Indian Banks</a:t>
            </a:r>
            <a:endParaRPr lang="en-US" altLang="en-US" sz="24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535940" y="990600"/>
            <a:ext cx="8124825" cy="5610860"/>
          </a:xfrm>
          <a:prstGeom prst="rect">
            <a:avLst/>
          </a:prstGeom>
        </p:spPr>
        <p:txBody>
          <a:bodyPr vert="horz" wrap="square" lIns="0" tIns="12700" rIns="0" bIns="0" rtlCol="0">
            <a:noAutofit/>
          </a:bodyPr>
          <a:lstStyle/>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Reconciliation Applications</a:t>
            </a:r>
            <a:endParaRPr lang="en-US" altLang="en-US" sz="2400" b="1">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Rangarajan Committee Reports</a:t>
            </a:r>
            <a:endParaRPr lang="en-US" altLang="en-US" sz="2400" b="1">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First Report - ALPMs And Back Office Systems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Second Report - Branch Level LAN and Administrative Office – Data Processing Centres</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MIS Applications</a:t>
            </a:r>
            <a:endParaRPr lang="en-US" altLang="en-US" sz="2400" b="1">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Consolidation of Branch Returns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Business Performance Tracking</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Payroll Application</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Personnel Inventory</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Industrial Relations Issues</a:t>
            </a:r>
            <a:r>
              <a:rPr lang="en-US" altLang="en-US" sz="2400">
                <a:latin typeface="Calibri" panose="020F0502020204030204"/>
                <a:cs typeface="Calibri" panose="020F0502020204030204"/>
              </a:rPr>
              <a:t> -  Slow Computerisation</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Changes Started With</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Railway Reservation – Customer Need</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Liberalisation in Early 1990s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New Private Sector Banks</a:t>
            </a:r>
            <a:endParaRPr lang="en-US" altLang="en-US" sz="2400">
              <a:latin typeface="Calibri" panose="020F0502020204030204"/>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590" y="210820"/>
            <a:ext cx="6776720" cy="884555"/>
          </a:xfrm>
          <a:prstGeom prst="rect">
            <a:avLst/>
          </a:prstGeom>
        </p:spPr>
        <p:txBody>
          <a:bodyPr vert="horz" wrap="square" lIns="0" tIns="13335" rIns="0" bIns="0" rtlCol="0">
            <a:noAutofit/>
          </a:bodyPr>
          <a:lstStyle/>
          <a:p>
            <a:pPr marL="12700" algn="ctr">
              <a:lnSpc>
                <a:spcPct val="100000"/>
              </a:lnSpc>
              <a:spcBef>
                <a:spcPts val="105"/>
              </a:spcBef>
            </a:pPr>
            <a:r>
              <a:rPr lang="en-US" altLang="en-US" sz="2400" spc="-10" dirty="0"/>
              <a:t>TBA Architecture Computerisation &amp; Indian Banks - Options</a:t>
            </a:r>
            <a:endParaRPr lang="en-US" altLang="en-US" sz="24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443855"/>
          </a:xfrm>
          <a:prstGeom prst="rect">
            <a:avLst/>
          </a:prstGeom>
        </p:spPr>
        <p:txBody>
          <a:bodyPr vert="horz" wrap="square" lIns="0" tIns="12700" rIns="0" bIns="0" rtlCol="0">
            <a:noAutofit/>
          </a:bodyPr>
          <a:lstStyle/>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Typical Approach Adopted by Banks</a:t>
            </a:r>
            <a:endParaRPr lang="en-US" altLang="en-US" sz="2400" b="1">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Core Banking Solutions (CBS)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Centralised Database</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Branches Linked to Central Data Centre (CDC)</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Smaller Banks - Link All Branches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Larger Banks - CBS Co-Exists With Other Approaches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Single Vendor And Solution</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Mandatory Modules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Customer Maintenance</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Deposit Accounts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Loans and Trade Finance</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Clearing, Collections, Remittances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General Ledger, Reports, Queries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Maintenance of Interest Rates, Charges</a:t>
            </a:r>
            <a:endParaRPr lang="en-US" altLang="en-US" sz="2400">
              <a:latin typeface="Calibri" panose="020F0502020204030204"/>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590" y="210820"/>
            <a:ext cx="6776720" cy="884555"/>
          </a:xfrm>
          <a:prstGeom prst="rect">
            <a:avLst/>
          </a:prstGeom>
        </p:spPr>
        <p:txBody>
          <a:bodyPr vert="horz" wrap="square" lIns="0" tIns="13335" rIns="0" bIns="0" rtlCol="0">
            <a:noAutofit/>
          </a:bodyPr>
          <a:lstStyle/>
          <a:p>
            <a:pPr marL="12700" algn="ctr">
              <a:lnSpc>
                <a:spcPct val="100000"/>
              </a:lnSpc>
              <a:spcBef>
                <a:spcPts val="105"/>
              </a:spcBef>
            </a:pPr>
            <a:r>
              <a:rPr lang="en-US" altLang="en-US" sz="2400" spc="-10" dirty="0"/>
              <a:t>TBA Architecture Computerisation &amp; Indian Banks - Options</a:t>
            </a:r>
            <a:endParaRPr lang="en-US" altLang="en-US" sz="24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443855"/>
          </a:xfrm>
          <a:prstGeom prst="rect">
            <a:avLst/>
          </a:prstGeom>
        </p:spPr>
        <p:txBody>
          <a:bodyPr vert="horz" wrap="square" lIns="0" tIns="12700" rIns="0" bIns="0" rtlCol="0">
            <a:noAutofit/>
          </a:bodyPr>
          <a:lstStyle/>
          <a:p>
            <a:pPr marL="812165" marR="5080" lvl="1" indent="-342900" algn="just">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Additional Modules</a:t>
            </a:r>
            <a:endParaRPr lang="en-US" altLang="en-US" sz="2400" b="1">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Safe Deposits, Lockers, Inventory</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Treasury Operations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Additional Features</a:t>
            </a:r>
            <a:r>
              <a:rPr lang="en-US" altLang="en-US" sz="2400">
                <a:latin typeface="Calibri" panose="020F0502020204030204"/>
                <a:cs typeface="Calibri" panose="020F0502020204030204"/>
              </a:rPr>
              <a:t> – Support For</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Telebanking, Internet Banking, Mobile Banking</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ATM Network</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Customer Relationship Management</a:t>
            </a: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Client</a:t>
            </a:r>
            <a:endParaRPr lang="en-US" altLang="en-US" sz="2400" b="1">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Teller : browser or client/server</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Customer : branch, ATM, POS, telephone, Internet; TV browser, PDA, mobile phone etc.</a:t>
            </a:r>
            <a:endParaRPr lang="en-US" altLang="en-US" sz="2400">
              <a:latin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590" y="379095"/>
            <a:ext cx="6776720" cy="521970"/>
          </a:xfrm>
          <a:prstGeom prst="rect">
            <a:avLst/>
          </a:prstGeom>
        </p:spPr>
        <p:txBody>
          <a:bodyPr vert="horz" wrap="square" lIns="0" tIns="13335" rIns="0" bIns="0" rtlCol="0">
            <a:noAutofit/>
          </a:bodyPr>
          <a:lstStyle/>
          <a:p>
            <a:pPr marL="12700" algn="ctr">
              <a:lnSpc>
                <a:spcPct val="100000"/>
              </a:lnSpc>
              <a:spcBef>
                <a:spcPts val="105"/>
              </a:spcBef>
            </a:pPr>
            <a:r>
              <a:rPr lang="en-US" altLang="en-US" sz="2400" spc="-10" dirty="0"/>
              <a:t>Physical Design CBS – Overview</a:t>
            </a:r>
            <a:endParaRPr lang="en-US" altLang="en-US" sz="24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008245"/>
          </a:xfrm>
          <a:prstGeom prst="rect">
            <a:avLst/>
          </a:prstGeom>
        </p:spPr>
        <p:txBody>
          <a:bodyPr vert="horz" wrap="square" lIns="0" tIns="12700" rIns="0" bIns="0" rtlCol="0">
            <a:noAutofit/>
          </a:bodyPr>
          <a:lstStyle/>
          <a:p>
            <a:pPr marL="812165" marR="5080" lvl="1" indent="-342900" algn="just">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CBS Revolves Around Parameterisation</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General Ledger</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Products</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Interest Calculation Methods</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Service Charges</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User Rights Management</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Transaction Level Features</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Interfaces to SWIFT, ATM, RTGS and so on</a:t>
            </a:r>
            <a:endParaRPr lang="en-US" altLang="en-US" sz="2400">
              <a:latin typeface="Calibri" panose="020F0502020204030204"/>
              <a:cs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590" y="379095"/>
            <a:ext cx="6776720" cy="52197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CBS Architecture Variations</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008245"/>
          </a:xfrm>
          <a:prstGeom prst="rect">
            <a:avLst/>
          </a:prstGeom>
        </p:spPr>
        <p:txBody>
          <a:bodyPr vert="horz" wrap="square" lIns="0" tIns="12700" rIns="0" bIns="0" rtlCol="0">
            <a:noAutofit/>
          </a:bodyPr>
          <a:lstStyle/>
          <a:p>
            <a:pPr marL="812165" marR="5080" lvl="1" indent="-342900" algn="just">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Single Central Database Approach</a:t>
            </a:r>
            <a:r>
              <a:rPr lang="en-US" altLang="en-US" sz="2400">
                <a:latin typeface="Calibri" panose="020F0502020204030204"/>
                <a:cs typeface="Calibri" panose="020F0502020204030204"/>
              </a:rPr>
              <a:t> - Finacle</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Branch Server + Central Database</a:t>
            </a:r>
            <a:r>
              <a:rPr lang="en-US" altLang="en-US" sz="2400">
                <a:latin typeface="Calibri" panose="020F0502020204030204"/>
                <a:cs typeface="Calibri" panose="020F0502020204030204"/>
              </a:rPr>
              <a:t> - Flexcube, Bancs24</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Cluster Approach</a:t>
            </a:r>
            <a:endParaRPr lang="en-US" altLang="en-US" sz="2400" b="1">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Branches Grouped Into Clusters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Clusters Connected to Central Server</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CBS Variation – Cluster Approach</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Branches Grouped into Geographic Clusters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Cluster Server at Hub Location (Mini-CBS)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Cluster Hubs Linked to Central Site</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Central Server Maintains Aggregate Data</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Transactions Across Branches Routed to Appropriate Cluster Server</a:t>
            </a:r>
            <a:endParaRPr lang="en-US" altLang="en-US" sz="2400">
              <a:latin typeface="Calibri" panose="020F0502020204030204"/>
              <a:cs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8270" y="379095"/>
            <a:ext cx="5781040" cy="52197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CBS Architecture</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008245"/>
          </a:xfrm>
          <a:prstGeom prst="rect">
            <a:avLst/>
          </a:prstGeom>
        </p:spPr>
        <p:txBody>
          <a:bodyPr vert="horz" wrap="square" lIns="0" tIns="12700" rIns="0" bIns="0" rtlCol="0">
            <a:noAutofit/>
          </a:bodyPr>
          <a:lstStyle/>
          <a:p>
            <a:pPr marL="812165" marR="5080" lvl="1" indent="-342900" algn="just">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p:txBody>
      </p:sp>
      <p:pic>
        <p:nvPicPr>
          <p:cNvPr id="7" name="Picture 6"/>
          <p:cNvPicPr>
            <a:picLocks noChangeAspect="1"/>
          </p:cNvPicPr>
          <p:nvPr/>
        </p:nvPicPr>
        <p:blipFill>
          <a:blip r:embed="rId1"/>
          <a:stretch>
            <a:fillRect/>
          </a:stretch>
        </p:blipFill>
        <p:spPr>
          <a:xfrm>
            <a:off x="1179195" y="1124585"/>
            <a:ext cx="6722110" cy="49079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379095"/>
            <a:ext cx="5579110" cy="52197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CBS Architecture</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008245"/>
          </a:xfrm>
          <a:prstGeom prst="rect">
            <a:avLst/>
          </a:prstGeom>
        </p:spPr>
        <p:txBody>
          <a:bodyPr vert="horz" wrap="square" lIns="0" tIns="12700" rIns="0" bIns="0" rtlCol="0">
            <a:noAutofit/>
          </a:bodyPr>
          <a:lstStyle/>
          <a:p>
            <a:pPr marL="812165" marR="5080" lvl="1" indent="-342900" algn="just">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p:txBody>
      </p:sp>
      <p:pic>
        <p:nvPicPr>
          <p:cNvPr id="8" name="Picture 7"/>
          <p:cNvPicPr>
            <a:picLocks noChangeAspect="1"/>
          </p:cNvPicPr>
          <p:nvPr/>
        </p:nvPicPr>
        <p:blipFill>
          <a:blip r:embed="rId1"/>
          <a:stretch>
            <a:fillRect/>
          </a:stretch>
        </p:blipFill>
        <p:spPr>
          <a:xfrm>
            <a:off x="1497330" y="1077595"/>
            <a:ext cx="6114415" cy="47790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7665" y="379095"/>
            <a:ext cx="5541645" cy="52197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CBS Architecture</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008245"/>
          </a:xfrm>
          <a:prstGeom prst="rect">
            <a:avLst/>
          </a:prstGeom>
        </p:spPr>
        <p:txBody>
          <a:bodyPr vert="horz" wrap="square" lIns="0" tIns="12700" rIns="0" bIns="0" rtlCol="0">
            <a:noAutofit/>
          </a:bodyPr>
          <a:lstStyle/>
          <a:p>
            <a:pPr marL="469265" marR="5080" lvl="1" indent="0" algn="just">
              <a:lnSpc>
                <a:spcPct val="10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The data centre Layout of centralized core Banking Solution (CBS) is illustrated in the following figure</a:t>
            </a: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p:txBody>
      </p:sp>
      <p:pic>
        <p:nvPicPr>
          <p:cNvPr id="7" name="Picture 6"/>
          <p:cNvPicPr>
            <a:picLocks noChangeAspect="1"/>
          </p:cNvPicPr>
          <p:nvPr/>
        </p:nvPicPr>
        <p:blipFill>
          <a:blip r:embed="rId1"/>
          <a:stretch>
            <a:fillRect/>
          </a:stretch>
        </p:blipFill>
        <p:spPr>
          <a:xfrm>
            <a:off x="1033145" y="2057400"/>
            <a:ext cx="6760210" cy="3638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5235" y="379095"/>
            <a:ext cx="5934075" cy="52197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CBS Architecture</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008245"/>
          </a:xfrm>
          <a:prstGeom prst="rect">
            <a:avLst/>
          </a:prstGeom>
        </p:spPr>
        <p:txBody>
          <a:bodyPr vert="horz" wrap="square" lIns="0" tIns="12700" rIns="0" bIns="0" rtlCol="0">
            <a:noAutofit/>
          </a:bodyPr>
          <a:lstStyle/>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p:txBody>
      </p:sp>
      <p:pic>
        <p:nvPicPr>
          <p:cNvPr id="8" name="Picture 7"/>
          <p:cNvPicPr>
            <a:picLocks noChangeAspect="1"/>
          </p:cNvPicPr>
          <p:nvPr/>
        </p:nvPicPr>
        <p:blipFill>
          <a:blip r:embed="rId1"/>
          <a:stretch>
            <a:fillRect/>
          </a:stretch>
        </p:blipFill>
        <p:spPr>
          <a:xfrm>
            <a:off x="1196340" y="1398905"/>
            <a:ext cx="6784340" cy="42462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5235" y="379095"/>
            <a:ext cx="5934075" cy="52197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CBS Architecture</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008245"/>
          </a:xfrm>
          <a:prstGeom prst="rect">
            <a:avLst/>
          </a:prstGeom>
        </p:spPr>
        <p:txBody>
          <a:bodyPr vert="horz" wrap="square" lIns="0" tIns="12700" rIns="0" bIns="0" rtlCol="0">
            <a:noAutofit/>
          </a:bodyPr>
          <a:lstStyle/>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p:txBody>
      </p:sp>
      <p:pic>
        <p:nvPicPr>
          <p:cNvPr id="7" name="Picture 6"/>
          <p:cNvPicPr>
            <a:picLocks noChangeAspect="1"/>
          </p:cNvPicPr>
          <p:nvPr/>
        </p:nvPicPr>
        <p:blipFill>
          <a:blip r:embed="rId1"/>
          <a:stretch>
            <a:fillRect/>
          </a:stretch>
        </p:blipFill>
        <p:spPr>
          <a:xfrm>
            <a:off x="706755" y="1158240"/>
            <a:ext cx="7415530" cy="49047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5235" y="379095"/>
            <a:ext cx="5934075" cy="52197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Database Management</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50520" y="1157605"/>
            <a:ext cx="8310245" cy="5485130"/>
          </a:xfrm>
          <a:prstGeom prst="rect">
            <a:avLst/>
          </a:prstGeom>
        </p:spPr>
        <p:txBody>
          <a:bodyPr vert="horz" wrap="square" lIns="0" tIns="12700" rIns="0" bIns="0" rtlCol="0">
            <a:noAutofit/>
          </a:bodyPr>
          <a:lstStyle/>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Realtime update at both, primary and secondary database servers, using SQL mirroring/Oracle Guard</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Support Storage area networks (SAN)</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History of database for MIS</a:t>
            </a:r>
            <a:endParaRPr lang="en-US" altLang="en-US" sz="2400">
              <a:latin typeface="Calibri" panose="020F0502020204030204"/>
              <a:cs typeface="Calibri" panose="020F0502020204030204"/>
            </a:endParaRPr>
          </a:p>
          <a:p>
            <a:pPr marL="812165" marR="5080" lvl="1" indent="-342900" algn="just">
              <a:lnSpc>
                <a:spcPct val="10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Platforms</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CBS solutions is built on 3 tier architecture</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It is browser based and compatible with IE, Netscape Navigator, Mozilla Firefox and so on.</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Development tools are Microsoft ASPNET 2005, JavaScript and Business Object 11.5</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Application Server is IIS web Server on MS windows 2008</a:t>
            </a:r>
            <a:endParaRPr lang="en-US" altLang="en-US" sz="2400">
              <a:latin typeface="Calibri" panose="020F0502020204030204"/>
              <a:cs typeface="Calibri" panose="020F0502020204030204"/>
            </a:endParaRPr>
          </a:p>
          <a:p>
            <a:pPr marL="1269365" marR="5080" lvl="2" indent="-342900" algn="just">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It is ODBC compliant and it can work with oracle or MS SQL</a:t>
            </a:r>
            <a:endParaRPr lang="en-US" altLang="en-US" sz="2400">
              <a:latin typeface="Calibri" panose="020F0502020204030204"/>
              <a:cs typeface="Calibri" panose="020F0502020204030204"/>
            </a:endParaRPr>
          </a:p>
          <a:p>
            <a:pPr marL="469265" marR="5080" lvl="1" indent="0" algn="just">
              <a:lnSpc>
                <a:spcPct val="10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7365" y="1055370"/>
            <a:ext cx="7896860" cy="4977765"/>
          </a:xfrm>
          <a:prstGeom prst="rect">
            <a:avLst/>
          </a:prstGeom>
        </p:spPr>
        <p:txBody>
          <a:bodyPr vert="horz" wrap="square" lIns="0" tIns="12065" rIns="0" bIns="0" rtlCol="0">
            <a:noAutofit/>
          </a:bodyPr>
          <a:lstStyle/>
          <a:p>
            <a:pPr marL="12700">
              <a:lnSpc>
                <a:spcPct val="100000"/>
              </a:lnSpc>
              <a:spcBef>
                <a:spcPts val="95"/>
              </a:spcBef>
            </a:pPr>
            <a:r>
              <a:rPr lang="en-US" altLang="en-US" sz="2800" b="1" spc="-5" dirty="0">
                <a:solidFill>
                  <a:srgbClr val="244060"/>
                </a:solidFill>
                <a:latin typeface="Calibri" panose="020F0502020204030204" charset="0"/>
                <a:cs typeface="Calibri" panose="020F0502020204030204" charset="0"/>
              </a:rPr>
              <a:t>Money Laundering and Anti Money Laundering</a:t>
            </a:r>
            <a:endParaRPr lang="en-US" altLang="en-US" sz="2400" b="1" spc="-5" dirty="0">
              <a:solidFill>
                <a:srgbClr val="244060"/>
              </a:solidFill>
              <a:latin typeface="Calibri" panose="020F0502020204030204" charset="0"/>
              <a:cs typeface="Calibri" panose="020F0502020204030204" charset="0"/>
            </a:endParaRPr>
          </a:p>
          <a:p>
            <a:pPr>
              <a:lnSpc>
                <a:spcPct val="100000"/>
              </a:lnSpc>
              <a:spcBef>
                <a:spcPts val="25"/>
              </a:spcBef>
            </a:pPr>
            <a:endParaRPr sz="2500">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Stages of Money Laundering - Brief</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Legal Acts Enacted</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Cash Transactions in Money Laundering</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Money Laundering Reporting Officers [MLRO]</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Laundering Process</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Money Laundering Process – Detailed</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Banks Role in Laundering</a:t>
            </a:r>
            <a:endParaRPr lang="en-US" altLang="en-US" sz="2400" b="1">
              <a:latin typeface="Calibri" panose="020F0502020204030204" charset="0"/>
              <a:cs typeface="Calibri" panose="020F0502020204030204" charset="0"/>
            </a:endParaRPr>
          </a:p>
          <a:p>
            <a:pPr marL="812800" lvl="1" indent="-342900">
              <a:lnSpc>
                <a:spcPct val="100000"/>
              </a:lnSpc>
              <a:buFont typeface="Arial" panose="020B0604020202020204" pitchFamily="34" charset="0"/>
              <a:buChar char="•"/>
            </a:pPr>
            <a:r>
              <a:rPr lang="en-US" altLang="en-US" sz="2400" b="1">
                <a:latin typeface="Calibri" panose="020F0502020204030204" charset="0"/>
                <a:cs typeface="Calibri" panose="020F0502020204030204" charset="0"/>
              </a:rPr>
              <a:t>Anti-Money Laundering Legal frameworks</a:t>
            </a:r>
            <a:endParaRPr lang="en-US" altLang="en-US" sz="2400" b="1">
              <a:latin typeface="Calibri" panose="020F0502020204030204" charset="0"/>
              <a:cs typeface="Calibri" panose="020F0502020204030204" charset="0"/>
            </a:endParaRPr>
          </a:p>
        </p:txBody>
      </p:sp>
      <p:sp>
        <p:nvSpPr>
          <p:cNvPr id="3" name="object 3"/>
          <p:cNvSpPr txBox="1">
            <a:spLocks noGrp="1"/>
          </p:cNvSpPr>
          <p:nvPr>
            <p:ph type="title"/>
          </p:nvPr>
        </p:nvSpPr>
        <p:spPr>
          <a:xfrm>
            <a:off x="3659505" y="180975"/>
            <a:ext cx="1527810" cy="442595"/>
          </a:xfrm>
          <a:prstGeom prst="rect">
            <a:avLst/>
          </a:prstGeom>
        </p:spPr>
        <p:txBody>
          <a:bodyPr vert="horz" wrap="square" lIns="0" tIns="12065" rIns="0" bIns="0" rtlCol="0">
            <a:spAutoFit/>
          </a:bodyPr>
          <a:lstStyle/>
          <a:p>
            <a:pPr marL="12700">
              <a:lnSpc>
                <a:spcPct val="100000"/>
              </a:lnSpc>
              <a:spcBef>
                <a:spcPts val="95"/>
              </a:spcBef>
            </a:pPr>
            <a:r>
              <a:rPr sz="2800" spc="-5" dirty="0">
                <a:latin typeface="Arial" panose="020B0604020202020204"/>
                <a:cs typeface="Arial" panose="020B0604020202020204"/>
              </a:rPr>
              <a:t>Unit</a:t>
            </a:r>
            <a:r>
              <a:rPr sz="2800" spc="-25" dirty="0">
                <a:latin typeface="Arial" panose="020B0604020202020204"/>
                <a:cs typeface="Arial" panose="020B0604020202020204"/>
              </a:rPr>
              <a:t> </a:t>
            </a:r>
            <a:r>
              <a:rPr sz="2800" spc="-5" dirty="0">
                <a:latin typeface="Arial" panose="020B0604020202020204"/>
                <a:cs typeface="Arial" panose="020B0604020202020204"/>
              </a:rPr>
              <a:t>-</a:t>
            </a:r>
            <a:r>
              <a:rPr sz="2800" spc="-45" dirty="0">
                <a:latin typeface="Arial" panose="020B0604020202020204"/>
                <a:cs typeface="Arial" panose="020B0604020202020204"/>
              </a:rPr>
              <a:t> </a:t>
            </a:r>
            <a:r>
              <a:rPr lang="en-US" sz="2800" spc="-45" dirty="0">
                <a:latin typeface="Arial" panose="020B0604020202020204"/>
                <a:cs typeface="Arial" panose="020B0604020202020204"/>
              </a:rPr>
              <a:t>V</a:t>
            </a:r>
            <a:endParaRPr lang="en-US" sz="2800" spc="-45" dirty="0">
              <a:latin typeface="Arial" panose="020B0604020202020204"/>
              <a:cs typeface="Arial" panose="020B0604020202020204"/>
            </a:endParaRPr>
          </a:p>
        </p:txBody>
      </p:sp>
      <p:sp>
        <p:nvSpPr>
          <p:cNvPr id="4" name="object 4"/>
          <p:cNvSpPr/>
          <p:nvPr/>
        </p:nvSpPr>
        <p:spPr>
          <a:xfrm>
            <a:off x="7242175" y="15240"/>
            <a:ext cx="1902460" cy="67500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5" name="object 5"/>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pic>
        <p:nvPicPr>
          <p:cNvPr id="6" name="object 6"/>
          <p:cNvPicPr/>
          <p:nvPr/>
        </p:nvPicPr>
        <p:blipFill>
          <a:blip r:embed="rId1" cstate="print"/>
          <a:stretch>
            <a:fillRect/>
          </a:stretch>
        </p:blipFill>
        <p:spPr>
          <a:xfrm>
            <a:off x="7467600" y="4585715"/>
            <a:ext cx="1659636" cy="2034539"/>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3820" y="102235"/>
            <a:ext cx="575056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What is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990600"/>
            <a:ext cx="8438515" cy="5610860"/>
          </a:xfrm>
          <a:prstGeom prst="rect">
            <a:avLst/>
          </a:prstGeom>
        </p:spPr>
        <p:txBody>
          <a:bodyPr vert="horz" wrap="square" lIns="0" tIns="12700" rIns="0" bIns="0" rtlCol="0">
            <a:noAutofit/>
          </a:bodyPr>
          <a:lstStyle/>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Money laundering is the process of transforming the profits of crime and corruption into ostensibly “legitimate” assets</a:t>
            </a:r>
            <a:endParaRPr lang="en-US" altLang="en-US" sz="2400">
              <a:latin typeface="Calibri" panose="020F0502020204030204"/>
              <a:cs typeface="Calibri" panose="020F0502020204030204"/>
            </a:endParaRPr>
          </a:p>
          <a:p>
            <a:pPr marL="756285" marR="5080" lvl="1" indent="-287020" algn="l">
              <a:lnSpc>
                <a:spcPct val="110000"/>
              </a:lnSpc>
              <a:spcBef>
                <a:spcPts val="100"/>
              </a:spcBef>
              <a:buFont typeface="Arial MT"/>
              <a:buChar char="•"/>
              <a:tabLst>
                <a:tab pos="299720" algn="l"/>
              </a:tabLst>
            </a:pPr>
            <a:r>
              <a:rPr lang="en-US" altLang="en-US" sz="2400">
                <a:latin typeface="Calibri" panose="020F0502020204030204"/>
                <a:cs typeface="Calibri" panose="020F0502020204030204"/>
              </a:rPr>
              <a:t>Money laundering is the process by which large amounts of illegally received money is given the appearance of having originated from a legitimate source.</a:t>
            </a:r>
            <a:endParaRPr lang="en-US" altLang="en-US" sz="2400">
              <a:latin typeface="Calibri" panose="020F0502020204030204"/>
              <a:cs typeface="Calibri" panose="020F0502020204030204"/>
            </a:endParaRPr>
          </a:p>
          <a:p>
            <a:pPr marL="756285" marR="5080" lvl="1" indent="-287020" algn="l">
              <a:lnSpc>
                <a:spcPct val="110000"/>
              </a:lnSpc>
              <a:spcBef>
                <a:spcPts val="100"/>
              </a:spcBef>
              <a:buFont typeface="Arial MT"/>
              <a:buChar char="•"/>
              <a:tabLst>
                <a:tab pos="299720" algn="l"/>
              </a:tabLst>
            </a:pPr>
            <a:r>
              <a:rPr lang="en-US" altLang="en-US" sz="2400">
                <a:latin typeface="Calibri" panose="020F0502020204030204"/>
                <a:cs typeface="Calibri" panose="020F0502020204030204"/>
              </a:rPr>
              <a:t>money laundering has criminal dimensions related to black</a:t>
            </a:r>
            <a:endParaRPr lang="en-US" altLang="en-US" sz="2400">
              <a:latin typeface="Calibri" panose="020F0502020204030204"/>
              <a:cs typeface="Calibri" panose="020F0502020204030204"/>
            </a:endParaRPr>
          </a:p>
          <a:p>
            <a:pPr marL="756285" marR="5080" lvl="1" indent="-287020" algn="l">
              <a:lnSpc>
                <a:spcPct val="110000"/>
              </a:lnSpc>
              <a:spcBef>
                <a:spcPts val="100"/>
              </a:spcBef>
              <a:buFont typeface="Arial MT"/>
              <a:buChar char="•"/>
              <a:tabLst>
                <a:tab pos="299720" algn="l"/>
              </a:tabLst>
            </a:pPr>
            <a:r>
              <a:rPr lang="en-US" altLang="en-US" sz="2400">
                <a:latin typeface="Calibri" panose="020F0502020204030204"/>
                <a:cs typeface="Calibri" panose="020F0502020204030204"/>
              </a:rPr>
              <a:t>It is the way to convert the black money into white money.</a:t>
            </a:r>
            <a:endParaRPr lang="en-US" altLang="en-US" sz="2400">
              <a:latin typeface="Calibri" panose="020F0502020204030204"/>
              <a:cs typeface="Calibri" panose="020F0502020204030204"/>
            </a:endParaRPr>
          </a:p>
          <a:p>
            <a:pPr marL="756285" marR="5080" lvl="1" indent="-287020" algn="l">
              <a:lnSpc>
                <a:spcPct val="110000"/>
              </a:lnSpc>
              <a:spcBef>
                <a:spcPts val="100"/>
              </a:spcBef>
              <a:buFont typeface="Arial MT"/>
              <a:buChar char="•"/>
              <a:tabLst>
                <a:tab pos="299720" algn="l"/>
              </a:tabLst>
            </a:pPr>
            <a:r>
              <a:rPr lang="en-US" altLang="en-US" sz="2400">
                <a:latin typeface="Calibri" panose="020F0502020204030204"/>
                <a:cs typeface="Calibri" panose="020F0502020204030204"/>
              </a:rPr>
              <a:t>Money laundering must involve a predicate crime such as the violation of Indian Penal Code, IPC, Narcotics, Prevention of Corruption Act and Human Trafficking.</a:t>
            </a:r>
            <a:endParaRPr lang="en-US" altLang="en-US" sz="2400">
              <a:latin typeface="Calibri" panose="020F0502020204030204"/>
              <a:cs typeface="Calibri" panose="020F0502020204030204"/>
            </a:endParaRPr>
          </a:p>
          <a:p>
            <a:pPr marL="756285" marR="5080" lvl="1" indent="-287020" algn="l">
              <a:lnSpc>
                <a:spcPct val="110000"/>
              </a:lnSpc>
              <a:spcBef>
                <a:spcPts val="100"/>
              </a:spcBef>
              <a:buFont typeface="Arial MT"/>
              <a:buChar char="•"/>
              <a:tabLst>
                <a:tab pos="299720" algn="l"/>
              </a:tabLst>
            </a:pPr>
            <a:r>
              <a:rPr lang="en-US" altLang="en-US" sz="2400">
                <a:latin typeface="Calibri" panose="020F0502020204030204"/>
                <a:cs typeface="Calibri" panose="020F0502020204030204"/>
              </a:rPr>
              <a:t>In India, stashing Black money a civil crime, while money laundering has criminal</a:t>
            </a:r>
            <a:endParaRPr lang="en-US" altLang="en-US" sz="2400">
              <a:latin typeface="Calibri" panose="020F0502020204030204"/>
              <a:cs typeface="Calibri" panose="020F0502020204030204"/>
            </a:endParaRPr>
          </a:p>
          <a:p>
            <a:pPr marL="756285" marR="5080" lvl="1" indent="-287020" algn="l">
              <a:lnSpc>
                <a:spcPct val="110000"/>
              </a:lnSpc>
              <a:spcBef>
                <a:spcPts val="100"/>
              </a:spcBef>
              <a:buFont typeface="Arial MT"/>
              <a:buChar char="•"/>
              <a:tabLst>
                <a:tab pos="299720" algn="l"/>
              </a:tabLst>
            </a:pPr>
            <a:r>
              <a:rPr lang="en-US" altLang="en-US" sz="2400">
                <a:latin typeface="Calibri" panose="020F0502020204030204"/>
                <a:cs typeface="Calibri" panose="020F0502020204030204"/>
              </a:rPr>
              <a:t>dimensions related to black money.</a:t>
            </a:r>
            <a:endParaRPr lang="en-US" altLang="en-US" sz="2400">
              <a:latin typeface="Calibri" panose="020F0502020204030204"/>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3820" y="102235"/>
            <a:ext cx="575056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Techniques of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990600"/>
            <a:ext cx="8438515" cy="5610860"/>
          </a:xfrm>
          <a:prstGeom prst="rect">
            <a:avLst/>
          </a:prstGeom>
        </p:spPr>
        <p:txBody>
          <a:bodyPr vert="horz" wrap="square" lIns="0" tIns="12700" rIns="0" bIns="0" rtlCol="0">
            <a:noAutofit/>
          </a:bodyPr>
          <a:lstStyle/>
          <a:p>
            <a:pPr marL="756285" marR="5080" lvl="1" indent="-287020" algn="l">
              <a:lnSpc>
                <a:spcPct val="100000"/>
              </a:lnSpc>
              <a:spcBef>
                <a:spcPts val="100"/>
              </a:spcBef>
              <a:buFont typeface="Arial MT"/>
              <a:buChar char="•"/>
              <a:tabLst>
                <a:tab pos="299720" algn="l"/>
              </a:tabLst>
            </a:pPr>
            <a:endParaRPr lang="en-US" altLang="en-US" sz="2400">
              <a:latin typeface="Calibri" panose="020F0502020204030204"/>
              <a:cs typeface="Calibri" panose="020F0502020204030204"/>
            </a:endParaRPr>
          </a:p>
          <a:p>
            <a:pPr marL="756285" marR="5080" lvl="1" indent="-287020" algn="l">
              <a:lnSpc>
                <a:spcPct val="80000"/>
              </a:lnSpc>
              <a:spcBef>
                <a:spcPts val="100"/>
              </a:spcBef>
              <a:buFont typeface="Arial MT"/>
              <a:buChar char="•"/>
              <a:tabLst>
                <a:tab pos="299720" algn="l"/>
              </a:tabLst>
            </a:pPr>
            <a:r>
              <a:rPr lang="en-US" altLang="en-US" sz="2400" b="1">
                <a:latin typeface="Calibri" panose="020F0502020204030204"/>
                <a:cs typeface="Calibri" panose="020F0502020204030204"/>
              </a:rPr>
              <a:t>Hawala</a:t>
            </a:r>
            <a:r>
              <a:rPr lang="en-US" altLang="en-US" sz="2400">
                <a:latin typeface="Calibri" panose="020F0502020204030204"/>
                <a:cs typeface="Calibri" panose="020F0502020204030204"/>
              </a:rPr>
              <a:t>: Hawala is an alternative or parallel remittance system. It exists and operates outside of, or parallel to ‘traditional’ banking or financial channels.</a:t>
            </a:r>
            <a:endParaRPr lang="en-US" altLang="en-US" sz="2400">
              <a:latin typeface="Calibri" panose="020F0502020204030204"/>
              <a:cs typeface="Calibri" panose="020F0502020204030204"/>
            </a:endParaRPr>
          </a:p>
          <a:p>
            <a:pPr marL="756285" marR="5080" lvl="1" indent="-287020" algn="l">
              <a:lnSpc>
                <a:spcPct val="80000"/>
              </a:lnSpc>
              <a:spcBef>
                <a:spcPts val="100"/>
              </a:spcBef>
              <a:buFont typeface="Arial MT"/>
              <a:buChar char="•"/>
              <a:tabLst>
                <a:tab pos="299720" algn="l"/>
              </a:tabLst>
            </a:pPr>
            <a:endParaRPr lang="en-US" altLang="en-US" sz="2400">
              <a:latin typeface="Calibri" panose="020F0502020204030204"/>
              <a:cs typeface="Calibri" panose="020F0502020204030204"/>
            </a:endParaRPr>
          </a:p>
          <a:p>
            <a:pPr marL="756285" marR="5080" lvl="1" indent="-287020" algn="l">
              <a:lnSpc>
                <a:spcPct val="80000"/>
              </a:lnSpc>
              <a:spcBef>
                <a:spcPts val="100"/>
              </a:spcBef>
              <a:buFont typeface="Arial MT"/>
              <a:buChar char="•"/>
              <a:tabLst>
                <a:tab pos="299720" algn="l"/>
              </a:tabLst>
            </a:pPr>
            <a:r>
              <a:rPr lang="en-US" altLang="en-US" sz="2400" b="1">
                <a:latin typeface="Calibri" panose="020F0502020204030204"/>
                <a:cs typeface="Calibri" panose="020F0502020204030204"/>
              </a:rPr>
              <a:t>Structuring deposits</a:t>
            </a:r>
            <a:r>
              <a:rPr lang="en-US" altLang="en-US" sz="2400">
                <a:latin typeface="Calibri" panose="020F0502020204030204"/>
                <a:cs typeface="Calibri" panose="020F0502020204030204"/>
              </a:rPr>
              <a:t>: Also known as smurfing, this method entails breaking up large amounts of money into smaller, less-suspicious amounts.</a:t>
            </a:r>
            <a:endParaRPr lang="en-US" altLang="en-US" sz="2400">
              <a:latin typeface="Calibri" panose="020F0502020204030204"/>
              <a:cs typeface="Calibri" panose="020F0502020204030204"/>
            </a:endParaRPr>
          </a:p>
          <a:p>
            <a:pPr marL="756285" marR="5080" lvl="1" indent="-287020" algn="l">
              <a:lnSpc>
                <a:spcPct val="80000"/>
              </a:lnSpc>
              <a:spcBef>
                <a:spcPts val="100"/>
              </a:spcBef>
              <a:buFont typeface="Arial MT"/>
              <a:buChar char="•"/>
              <a:tabLst>
                <a:tab pos="299720" algn="l"/>
              </a:tabLst>
            </a:pPr>
            <a:endParaRPr lang="en-US" altLang="en-US" sz="2400">
              <a:latin typeface="Calibri" panose="020F0502020204030204"/>
              <a:cs typeface="Calibri" panose="020F0502020204030204"/>
            </a:endParaRPr>
          </a:p>
          <a:p>
            <a:pPr marL="756285" marR="5080" lvl="1" indent="-287020" algn="l">
              <a:lnSpc>
                <a:spcPct val="80000"/>
              </a:lnSpc>
              <a:spcBef>
                <a:spcPts val="100"/>
              </a:spcBef>
              <a:buFont typeface="Arial MT"/>
              <a:buChar char="•"/>
              <a:tabLst>
                <a:tab pos="299720" algn="l"/>
              </a:tabLst>
            </a:pPr>
            <a:r>
              <a:rPr lang="en-US" altLang="en-US" sz="2400" b="1">
                <a:latin typeface="Calibri" panose="020F0502020204030204"/>
                <a:cs typeface="Calibri" panose="020F0502020204030204"/>
              </a:rPr>
              <a:t>Third party cheques</a:t>
            </a:r>
            <a:r>
              <a:rPr lang="en-US" altLang="en-US" sz="2400">
                <a:latin typeface="Calibri" panose="020F0502020204030204"/>
                <a:cs typeface="Calibri" panose="020F0502020204030204"/>
              </a:rPr>
              <a:t>: Utilizing counter cheques or banker’s drafts drawn on different institutions and clearing them via various third-party accounts. Third party cheques and traveler’s cheques are often purchased using proceeds of crime.</a:t>
            </a:r>
            <a:endParaRPr lang="en-US" altLang="en-US" sz="2400">
              <a:latin typeface="Calibri" panose="020F0502020204030204"/>
              <a:cs typeface="Calibri" panose="020F0502020204030204"/>
            </a:endParaRPr>
          </a:p>
          <a:p>
            <a:pPr marL="756285" marR="5080" lvl="1" indent="-287020" algn="l">
              <a:lnSpc>
                <a:spcPct val="80000"/>
              </a:lnSpc>
              <a:spcBef>
                <a:spcPts val="100"/>
              </a:spcBef>
              <a:buFont typeface="Arial MT"/>
              <a:buChar char="•"/>
              <a:tabLst>
                <a:tab pos="299720" algn="l"/>
              </a:tabLst>
            </a:pPr>
            <a:endParaRPr lang="en-US" altLang="en-US" sz="2400">
              <a:latin typeface="Calibri" panose="020F0502020204030204"/>
              <a:cs typeface="Calibri" panose="020F0502020204030204"/>
            </a:endParaRPr>
          </a:p>
          <a:p>
            <a:pPr marL="756285" marR="5080" lvl="1" indent="-287020" algn="l">
              <a:lnSpc>
                <a:spcPct val="80000"/>
              </a:lnSpc>
              <a:spcBef>
                <a:spcPts val="100"/>
              </a:spcBef>
              <a:buFont typeface="Arial MT"/>
              <a:buChar char="•"/>
              <a:tabLst>
                <a:tab pos="299720" algn="l"/>
              </a:tabLst>
            </a:pPr>
            <a:r>
              <a:rPr lang="en-US" altLang="en-US" sz="2400" b="1">
                <a:latin typeface="Calibri" panose="020F0502020204030204"/>
                <a:cs typeface="Calibri" panose="020F0502020204030204"/>
              </a:rPr>
              <a:t>Credit Cards</a:t>
            </a:r>
            <a:r>
              <a:rPr lang="en-US" altLang="en-US" sz="2400">
                <a:latin typeface="Calibri" panose="020F0502020204030204"/>
                <a:cs typeface="Calibri" panose="020F0502020204030204"/>
              </a:rPr>
              <a:t> – Clearing credit and charge card balances at the counters of different banks. Such cards have a number of uses and can be used across international borders.</a:t>
            </a:r>
            <a:endParaRPr lang="en-US" altLang="en-US" sz="2400">
              <a:latin typeface="Calibri" panose="020F0502020204030204"/>
              <a:cs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3820" y="102235"/>
            <a:ext cx="575056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Causes of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990600"/>
            <a:ext cx="8438515" cy="5610860"/>
          </a:xfrm>
          <a:prstGeom prst="rect">
            <a:avLst/>
          </a:prstGeom>
        </p:spPr>
        <p:txBody>
          <a:bodyPr vert="horz" wrap="square" lIns="0" tIns="12700" rIns="0" bIns="0" rtlCol="0">
            <a:noAutofit/>
          </a:bodyPr>
          <a:lstStyle/>
          <a:p>
            <a:pPr marL="756285" marR="5080" lvl="1" indent="-287020" algn="l">
              <a:lnSpc>
                <a:spcPct val="100000"/>
              </a:lnSpc>
              <a:spcBef>
                <a:spcPts val="100"/>
              </a:spcBef>
              <a:buFont typeface="Arial MT"/>
              <a:buChar char="•"/>
              <a:tabLst>
                <a:tab pos="299720" algn="l"/>
              </a:tabLst>
            </a:pPr>
            <a:endParaRPr lang="en-US" altLang="en-US" sz="2400">
              <a:latin typeface="Calibri" panose="020F0502020204030204"/>
              <a:cs typeface="Calibri" panose="020F0502020204030204"/>
            </a:endParaRPr>
          </a:p>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No deals for sharing tax information with other countries</a:t>
            </a:r>
            <a:endParaRPr lang="en-US" altLang="en-US" sz="2400">
              <a:latin typeface="Calibri" panose="020F0502020204030204"/>
              <a:cs typeface="Calibri" panose="020F0502020204030204"/>
            </a:endParaRPr>
          </a:p>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Availability of instant corporations</a:t>
            </a:r>
            <a:endParaRPr lang="en-US" altLang="en-US" sz="2400">
              <a:latin typeface="Calibri" panose="020F0502020204030204"/>
              <a:cs typeface="Calibri" panose="020F0502020204030204"/>
            </a:endParaRPr>
          </a:p>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Corporate Secrecy Laws – as the corporate law of certain countries enables launderers to hide behind shell companies.</a:t>
            </a:r>
            <a:endParaRPr lang="en-US" altLang="en-US" sz="2400">
              <a:latin typeface="Calibri" panose="020F0502020204030204"/>
              <a:cs typeface="Calibri" panose="020F0502020204030204"/>
            </a:endParaRPr>
          </a:p>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Excellent Electronic Communication</a:t>
            </a:r>
            <a:endParaRPr lang="en-US" altLang="en-US" sz="2400">
              <a:latin typeface="Calibri" panose="020F0502020204030204"/>
              <a:cs typeface="Calibri" panose="020F0502020204030204"/>
            </a:endParaRPr>
          </a:p>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Tight Bank Secrecy Laws</a:t>
            </a:r>
            <a:endParaRPr lang="en-US" altLang="en-US" sz="2400">
              <a:latin typeface="Calibri" panose="020F0502020204030204"/>
              <a:cs typeface="Calibri" panose="020F0502020204030204"/>
            </a:endParaRPr>
          </a:p>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A Government that is Relatively Invulnerable to Outside Pressures</a:t>
            </a:r>
            <a:endParaRPr lang="en-US" altLang="en-US" sz="2400">
              <a:latin typeface="Calibri" panose="020F0502020204030204"/>
              <a:cs typeface="Calibri" panose="020F0502020204030204"/>
            </a:endParaRPr>
          </a:p>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A high degree of Economic Dependence on the Financial Services Sector</a:t>
            </a:r>
            <a:endParaRPr lang="en-US" altLang="en-US" sz="2400">
              <a:latin typeface="Calibri" panose="020F0502020204030204"/>
              <a:cs typeface="Calibri" panose="020F0502020204030204"/>
            </a:endParaRPr>
          </a:p>
          <a:p>
            <a:pPr marL="756285" marR="5080" lvl="1" indent="-287020" algn="l">
              <a:lnSpc>
                <a:spcPct val="100000"/>
              </a:lnSpc>
              <a:spcBef>
                <a:spcPts val="100"/>
              </a:spcBef>
              <a:buFont typeface="Arial MT"/>
              <a:buChar char="•"/>
              <a:tabLst>
                <a:tab pos="299720" algn="l"/>
              </a:tabLst>
            </a:pPr>
            <a:r>
              <a:rPr lang="en-US" altLang="en-US" sz="2400">
                <a:latin typeface="Calibri" panose="020F0502020204030204"/>
                <a:cs typeface="Calibri" panose="020F0502020204030204"/>
              </a:rPr>
              <a:t>A Geographical Location that Facilitates Business Travel to and from rich neighbors.</a:t>
            </a:r>
            <a:endParaRPr lang="en-US" altLang="en-US" sz="2400">
              <a:latin typeface="Calibri" panose="020F0502020204030204"/>
              <a:cs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2130" y="102235"/>
            <a:ext cx="657225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Harmful effects of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990600"/>
            <a:ext cx="8438515" cy="5610860"/>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Terrorism: </a:t>
            </a:r>
            <a:endParaRPr lang="en-US" altLang="en-US" sz="2400">
              <a:latin typeface="Calibri" panose="020F0502020204030204"/>
              <a:cs typeface="Calibri" panose="020F0502020204030204"/>
            </a:endParaRPr>
          </a:p>
          <a:p>
            <a:pPr marL="469265" marR="5080" lvl="1" indent="45720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469265" marR="5080" lvl="1" indent="457200" algn="l">
              <a:lnSpc>
                <a:spcPct val="100000"/>
              </a:lnSpc>
              <a:spcBef>
                <a:spcPts val="100"/>
              </a:spcBef>
              <a:buFont typeface="Arial MT"/>
              <a:buNone/>
              <a:tabLst>
                <a:tab pos="299720" algn="l"/>
              </a:tabLst>
            </a:pPr>
            <a:r>
              <a:rPr lang="en-US" altLang="en-US" sz="2400">
                <a:latin typeface="Calibri" panose="020F0502020204030204"/>
                <a:cs typeface="Calibri" panose="020F0502020204030204"/>
              </a:rPr>
              <a:t>Money Laundering serves as an important mode of terrorism financing. Terrorists have shown adaptability and opportunism in meeting their funding requirements.</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Threat to banking system:</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469265" marR="5080" lvl="1" indent="457200" algn="l">
              <a:lnSpc>
                <a:spcPct val="100000"/>
              </a:lnSpc>
              <a:spcBef>
                <a:spcPts val="100"/>
              </a:spcBef>
              <a:buFont typeface="Arial MT"/>
              <a:buNone/>
              <a:tabLst>
                <a:tab pos="299720" algn="l"/>
              </a:tabLst>
            </a:pPr>
            <a:r>
              <a:rPr lang="en-US" altLang="en-US" sz="2400">
                <a:latin typeface="Calibri" panose="020F0502020204030204"/>
                <a:cs typeface="Calibri" panose="020F0502020204030204"/>
              </a:rPr>
              <a:t>Across the globe, banks have become a major target of Money Laundering operations and financial crime because they provide a variety of services and instruments that can be used</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a:latin typeface="Calibri" panose="020F0502020204030204"/>
                <a:cs typeface="Calibri" panose="020F0502020204030204"/>
              </a:rPr>
              <a:t>to conceal the source of money.</a:t>
            </a:r>
            <a:endParaRPr lang="en-US" altLang="en-US" sz="2400">
              <a:latin typeface="Calibri" panose="020F0502020204030204"/>
              <a:cs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2130" y="102235"/>
            <a:ext cx="657225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Harmful effects of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990600"/>
            <a:ext cx="8438515" cy="5610860"/>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Threat to economic and political stability: </a:t>
            </a:r>
            <a:endParaRPr lang="en-US" altLang="en-US" sz="2400">
              <a:latin typeface="Calibri" panose="020F0502020204030204"/>
              <a:cs typeface="Calibri" panose="020F0502020204030204"/>
            </a:endParaRPr>
          </a:p>
          <a:p>
            <a:pPr marL="469265" marR="5080" lvl="1" indent="45720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812165" marR="5080" lvl="1" indent="-342900" algn="l">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infiltration and sometimes saturation of dirty money into legitimate financial sectors and national accounts can threaten economic and political stability.</a:t>
            </a:r>
            <a:endParaRPr lang="en-US" altLang="en-US" sz="2400">
              <a:latin typeface="Calibri" panose="020F0502020204030204"/>
              <a:cs typeface="Calibri" panose="020F0502020204030204"/>
            </a:endParaRPr>
          </a:p>
          <a:p>
            <a:pPr marL="812165" marR="5080" lvl="1" indent="-342900" algn="l">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Thus money laundering is an activity which is capable of corrupting a chain of financial institution.</a:t>
            </a:r>
            <a:endParaRPr lang="en-US" altLang="en-US" sz="2400">
              <a:latin typeface="Calibri" panose="020F0502020204030204"/>
              <a:cs typeface="Calibri" panose="020F0502020204030204"/>
            </a:endParaRPr>
          </a:p>
          <a:p>
            <a:pPr marL="812165" marR="5080" lvl="1" indent="-342900" algn="l">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money laundering is an activity which is capable of corrupting a chain of financial institution</a:t>
            </a:r>
            <a:endParaRPr lang="en-US" altLang="en-US" sz="2400">
              <a:latin typeface="Calibri" panose="020F0502020204030204"/>
              <a:cs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Regulation of Money Laundering in India</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990600"/>
            <a:ext cx="8438515" cy="5610860"/>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Threat to economic and political stability: </a:t>
            </a:r>
            <a:endParaRPr lang="en-US" altLang="en-US" sz="2400">
              <a:latin typeface="Calibri" panose="020F0502020204030204"/>
              <a:cs typeface="Calibri" panose="020F0502020204030204"/>
            </a:endParaRPr>
          </a:p>
          <a:p>
            <a:pPr marL="469265" marR="5080" lvl="1" indent="45720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812165" marR="5080" lvl="1" indent="-342900" algn="l">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With its growing financial strength, India is vulnerable to money laundering activities even though the country’s strict foreign exchange laws make it difficult for criminals to launder money.</a:t>
            </a:r>
            <a:endParaRPr lang="en-US" altLang="en-US" sz="2400">
              <a:latin typeface="Calibri" panose="020F0502020204030204"/>
              <a:cs typeface="Calibri" panose="020F0502020204030204"/>
            </a:endParaRPr>
          </a:p>
          <a:p>
            <a:pPr marL="812165" marR="5080" lvl="1" indent="-342900" algn="l">
              <a:lnSpc>
                <a:spcPct val="10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10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International Narcotics Control Strategy Report by Bureau for International Narcotics and Law Enforcement Affair emphasizes India’s Vulnerability to money-laundering activities.</a:t>
            </a:r>
            <a:endParaRPr lang="en-US" altLang="en-US" sz="2400">
              <a:latin typeface="Calibri" panose="020F0502020204030204"/>
              <a:cs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Regulation of Money Laundering in India</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990600"/>
            <a:ext cx="8438515" cy="5610860"/>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Threat to economic and political stability: </a:t>
            </a:r>
            <a:endParaRPr lang="en-US" altLang="en-US" sz="2400">
              <a:latin typeface="Calibri" panose="020F0502020204030204"/>
              <a:cs typeface="Calibri" panose="020F0502020204030204"/>
            </a:endParaRPr>
          </a:p>
          <a:p>
            <a:pPr marL="469265" marR="5080" lvl="1" indent="45720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report highlighted India’s emerging status as a regional financial center, its large system of informal cross-border money flows, and its widely perceived tax avoidance roblems all contribute to the country’s vulnerability to money laundering activities.</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Some common sources of illegal proceeds in India are narcotics trafficking, illegal trade in endangered wildlife, trade in illegal gems (particularly diamonds), smuggling, trafficking in persons, corruption, and income tax evasion. Because of India’s geographical location between the heroin-producing countries of the Golden Triangle and Golden Crescent, India continues to be a drug-transit country</a:t>
            </a:r>
            <a:endParaRPr lang="en-US" altLang="en-US" sz="2400">
              <a:latin typeface="Calibri" panose="020F0502020204030204"/>
              <a:cs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Regulation of Money Laundering in India</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990600"/>
            <a:ext cx="8438515" cy="5610860"/>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Solutions: </a:t>
            </a:r>
            <a:endParaRPr lang="en-US" altLang="en-US" sz="2400">
              <a:latin typeface="Calibri" panose="020F0502020204030204"/>
              <a:cs typeface="Calibri" panose="020F0502020204030204"/>
            </a:endParaRPr>
          </a:p>
          <a:p>
            <a:pPr marL="469265" marR="5080" lvl="1" indent="45720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More strict laws related Anti-money laundering is necessary because money laundering tends to corrupt even the most professional players in the market.</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There is a need to sensitize the Private Sector about their role in anti-money laundering activities</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Continuous up-gradation and dissemination of information is necessary</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There is a need to build a balance between financial confidentiality and this	 confidentiality turning to a money-laundering haven.</a:t>
            </a:r>
            <a:endParaRPr lang="en-US" altLang="en-US" sz="2400">
              <a:latin typeface="Calibri" panose="020F0502020204030204"/>
              <a:cs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409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Global steps to counter money laundering problem</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International efforts to combat money laundering:</a:t>
            </a:r>
            <a:r>
              <a:rPr lang="en-US" altLang="en-US" sz="2400">
                <a:latin typeface="Calibri" panose="020F0502020204030204"/>
                <a:cs typeface="Calibri" panose="020F0502020204030204"/>
              </a:rPr>
              <a:t> 	International regimes attempt to monitor or regulate international relations and activities. By establishing norms, rules, and procedures agreed to in order to regulate money laundering, international regime reduce the disparities between divergent legal systems.</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United Nations Convention against illicit traffic in Narcotic Drugs and psychotropic substances:</a:t>
            </a:r>
            <a:endParaRPr lang="en-US" altLang="en-US" sz="2400" b="1">
              <a:latin typeface="Calibri" panose="020F0502020204030204"/>
              <a:cs typeface="Calibri" panose="020F0502020204030204"/>
            </a:endParaRPr>
          </a:p>
          <a:p>
            <a:pPr marL="469265" marR="5080" lvl="1" indent="457200" algn="l">
              <a:lnSpc>
                <a:spcPct val="100000"/>
              </a:lnSpc>
              <a:spcBef>
                <a:spcPts val="100"/>
              </a:spcBef>
              <a:buFont typeface="Arial MT"/>
              <a:buNone/>
              <a:tabLst>
                <a:tab pos="299720" algn="l"/>
              </a:tabLst>
            </a:pPr>
            <a:r>
              <a:rPr lang="en-US" altLang="en-US" sz="2400">
                <a:latin typeface="Calibri" panose="020F0502020204030204"/>
                <a:cs typeface="Calibri" panose="020F0502020204030204"/>
              </a:rPr>
              <a:t>India’s urgent need to control drug trafficking reflects growing awareness within the international community that drug trafficking and money laundering must be suppressed. The United has played an integral role in the global community’s fight against illicit drug trafficking and money laundering.</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3695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Global steps to counter money laundering problem</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Financial Action Task force on money laundering: 	</a:t>
            </a:r>
            <a:r>
              <a:rPr lang="en-US" altLang="en-US" sz="2400">
                <a:latin typeface="Calibri" panose="020F0502020204030204"/>
                <a:cs typeface="Calibri" panose="020F0502020204030204"/>
              </a:rPr>
              <a:t>Intergovernmental groups have also taken action against the rising levels of global money laundering. The task force was</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a:latin typeface="Calibri" panose="020F0502020204030204"/>
                <a:cs typeface="Calibri" panose="020F0502020204030204"/>
              </a:rPr>
              <a:t>created by G-7 countries to curb the occurrence of money laundering.</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Basel Committee Minimum standards:</a:t>
            </a:r>
            <a:r>
              <a:rPr lang="en-US" altLang="en-US" sz="2400">
                <a:latin typeface="Calibri" panose="020F0502020204030204"/>
                <a:cs typeface="Calibri" panose="020F0502020204030204"/>
              </a:rPr>
              <a:t> The Basle committee on Banking regulations and supervisory practices consists of officials from the central banks and supervisory authorities</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a:latin typeface="Calibri" panose="020F0502020204030204"/>
                <a:cs typeface="Calibri" panose="020F0502020204030204"/>
              </a:rPr>
              <a:t>of eleven major industrialized nations and Luxembourg. In 1998, the committee adopted a statement of principles that targeted money laundering.</a:t>
            </a:r>
            <a:endParaRPr lang="en-US" altLang="en-US" sz="2400">
              <a:latin typeface="Calibri" panose="020F0502020204030204"/>
              <a:cs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Laws related to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The Prevention of money Laundering Act 2002(PMLA): </a:t>
            </a:r>
            <a:endParaRPr lang="en-US" altLang="en-US" sz="2400" b="1">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It comes into force in 2005.</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It defines money laundering offence and provides for the freezing, seizures and confiscation of the proceeds of crime. </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provisions of this act are applicable to all financial institutions like banks, mutual funds, insurance companies, and their financial intermediaries.</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agency monitoring the anti-Money laundering activities in India is the </a:t>
            </a:r>
            <a:r>
              <a:rPr lang="en-US" altLang="en-US" sz="2400" b="1">
                <a:latin typeface="Calibri" panose="020F0502020204030204"/>
                <a:cs typeface="Calibri" panose="020F0502020204030204"/>
              </a:rPr>
              <a:t>Financial Intelligence Unit (FIU-IND)</a:t>
            </a:r>
            <a:r>
              <a:rPr lang="en-US" altLang="en-US" sz="2400">
                <a:latin typeface="Calibri" panose="020F0502020204030204"/>
                <a:cs typeface="Calibri" panose="020F0502020204030204"/>
              </a:rPr>
              <a:t>. The agency is responsible for coordinating and strengthening efforts of national and international intelligence, investigation and enforcement agencies in pursuing the global efforts against money laundering and related crimes.</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According to the act, there can be punishment of imprisonment upto 3-7 years with fine upto 5 lakh rupees. But in case of offences done under Narcotic Drugs and Psychotropic Substance Act 1985, maximum punishment is extent to 10 years rather than 7 years.</a:t>
            </a:r>
            <a:r>
              <a:rPr lang="en-US" altLang="en-US" sz="2400" b="1">
                <a:latin typeface="Calibri" panose="020F0502020204030204"/>
                <a:cs typeface="Calibri" panose="020F0502020204030204"/>
              </a:rPr>
              <a:t>	</a:t>
            </a:r>
            <a:endParaRPr lang="en-US" altLang="en-US" sz="2400">
              <a:latin typeface="Calibri" panose="020F0502020204030204"/>
              <a:cs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Laws related to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The Prevention of money Laundering Act 2002(PMLA): </a:t>
            </a:r>
            <a:endParaRPr lang="en-US" altLang="en-US" sz="2400" b="1">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Section 3 of the Prevention of Money Laundering Act, 2002 (PMLA) has defined the“offence of money laundering”as under:</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“Whosoever directly or indirectly attempts to indulge or knowingly</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Assists or knowingly is party or is actually involved in any proces</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 Or activity connected with the proceeds of crime (including its Concealment, possession, acquisition or use ) and projecting or Claiming it as untainted property shall be guilty of offense of Money laundering”.</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Money launders use the banking system for cleansing ‘dirty money’ obtained from criminal activities with the objective of hiding/disguising its source. The process of money laundering usually creating a web of financial transactions so as to hide the origin and true nature of these funds.</a:t>
            </a:r>
            <a:r>
              <a:rPr lang="en-US" altLang="en-US" sz="2400" b="1">
                <a:latin typeface="Calibri" panose="020F0502020204030204"/>
                <a:cs typeface="Calibri" panose="020F0502020204030204"/>
              </a:rPr>
              <a:t>	</a:t>
            </a:r>
            <a:endParaRPr lang="en-US" altLang="en-US" sz="2400">
              <a:latin typeface="Calibri" panose="020F0502020204030204"/>
              <a:cs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Laws related to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The Prevention of Money Laundering (Amendment) Act 2012: </a:t>
            </a:r>
            <a:endParaRPr lang="en-US" altLang="en-US" sz="2400" b="1">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act was enacted in 2002, but was amended thrice, first in 2005, then in 2009 and then 2012.</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PMLA (Amendment) Act, 2012 has enlarged the definition of money laundering by including activities such as concealment, acquisition, possession and use of proceeds of crime as criminal activities.</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amendment has introduced the concept of Corresponding law to link the provisions of Indian law with the laws of foreign countries and to provide for transfer of the proceeds of foreign predicate offence committed in any manner in India.</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It also introduced the concept of ‘reporting entity’ which would include a banking company, financial institution, intermediary or a person carrying on a designated business or profession. </a:t>
            </a:r>
            <a:endParaRPr lang="en-US" altLang="en-US" sz="2400">
              <a:latin typeface="Calibri" panose="020F0502020204030204"/>
              <a:cs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Laws related to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The Prevention of Money Laundering (Amendment) Act 2012: </a:t>
            </a:r>
            <a:endParaRPr lang="en-US" altLang="en-US" sz="2400" b="1">
              <a:latin typeface="Calibri" panose="020F0502020204030204"/>
              <a:cs typeface="Calibri" panose="020F0502020204030204"/>
            </a:endParaRPr>
          </a:p>
          <a:p>
            <a:pPr marL="812165" marR="5080" lvl="1" indent="-342900" algn="l">
              <a:lnSpc>
                <a:spcPct val="11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amendment act has removed this upper limit of fine which was levied by 2002 act</a:t>
            </a:r>
            <a:endParaRPr lang="en-US" altLang="en-US" sz="2400">
              <a:latin typeface="Calibri" panose="020F0502020204030204"/>
              <a:cs typeface="Calibri" panose="020F0502020204030204"/>
            </a:endParaRPr>
          </a:p>
          <a:p>
            <a:pPr marL="812165" marR="5080" lvl="1" indent="-342900" algn="l">
              <a:lnSpc>
                <a:spcPct val="11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act has provided for provisional attachment and confiscation of property of any  person (for a period not exceeding 180 days).</a:t>
            </a:r>
            <a:endParaRPr lang="en-US" altLang="en-US" sz="2400">
              <a:latin typeface="Calibri" panose="020F0502020204030204"/>
              <a:cs typeface="Calibri" panose="020F0502020204030204"/>
            </a:endParaRPr>
          </a:p>
          <a:p>
            <a:pPr marL="812165" marR="5080" lvl="1" indent="-342900" algn="l">
              <a:lnSpc>
                <a:spcPct val="11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act has delegated the powers upon the Director to call for records of transactions or any additional information that may be required for the purposes of investigation.</a:t>
            </a:r>
            <a:endParaRPr lang="en-US" altLang="en-US" sz="2400">
              <a:latin typeface="Calibri" panose="020F0502020204030204"/>
              <a:cs typeface="Calibri" panose="020F0502020204030204"/>
            </a:endParaRPr>
          </a:p>
          <a:p>
            <a:pPr marL="926465" marR="5080" lvl="2" indent="457200" algn="l">
              <a:lnSpc>
                <a:spcPct val="90000"/>
              </a:lnSpc>
              <a:spcBef>
                <a:spcPts val="100"/>
              </a:spcBef>
              <a:buNone/>
              <a:tabLst>
                <a:tab pos="299720" algn="l"/>
              </a:tabLst>
            </a:pPr>
            <a:endParaRPr lang="en-US" altLang="en-US" sz="2400">
              <a:latin typeface="Calibri" panose="020F0502020204030204"/>
              <a:cs typeface="Calibri" panose="020F0502020204030204"/>
            </a:endParaRPr>
          </a:p>
          <a:p>
            <a:pPr marL="926465" marR="5080" lvl="2" indent="457200" algn="l">
              <a:lnSpc>
                <a:spcPct val="90000"/>
              </a:lnSpc>
              <a:spcBef>
                <a:spcPts val="100"/>
              </a:spcBef>
              <a:buNone/>
              <a:tabLst>
                <a:tab pos="299720" algn="l"/>
              </a:tabLst>
            </a:pPr>
            <a:r>
              <a:rPr lang="en-US" altLang="en-US" sz="2400">
                <a:latin typeface="Calibri" panose="020F0502020204030204"/>
                <a:cs typeface="Calibri" panose="020F0502020204030204"/>
              </a:rPr>
              <a:t>The government needs to step in to expedite a probe into what could be a massive money laundering exercise. This will help in better results than waiting for millions of missing investors to turn up.</a:t>
            </a:r>
            <a:r>
              <a:rPr lang="en-US" altLang="en-US" sz="2400" b="1">
                <a:latin typeface="Calibri" panose="020F0502020204030204"/>
                <a:cs typeface="Calibri" panose="020F0502020204030204"/>
              </a:rPr>
              <a:t>	</a:t>
            </a:r>
            <a:endParaRPr lang="en-US" altLang="en-US" sz="2400">
              <a:latin typeface="Calibri" panose="020F0502020204030204"/>
              <a:cs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Stages of Money layndering in Brief</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PLACEMENT: </a:t>
            </a:r>
            <a:r>
              <a:rPr lang="en-US" altLang="en-US" sz="2400">
                <a:latin typeface="Calibri" panose="020F0502020204030204"/>
                <a:cs typeface="Calibri" panose="020F0502020204030204"/>
              </a:rPr>
              <a:t>This is first stage of money laundering. In this stage the cash, generated in stages the cash, generated in small unrecognizable quantity, through illegal or money laundering activities is place into the financial system.</a:t>
            </a: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LAYERING: </a:t>
            </a:r>
            <a:r>
              <a:rPr lang="en-US" altLang="en-US" sz="2400">
                <a:latin typeface="Calibri" panose="020F0502020204030204"/>
                <a:cs typeface="Calibri" panose="020F0502020204030204"/>
              </a:rPr>
              <a:t>while transferring funds, instead of ‘straight’ transfers from one point to another, a complex series of transfers are made. Layering ultimately conceals or obliterates the source of funds, the nature of funds and/or their ownership</a:t>
            </a:r>
            <a:endParaRPr lang="en-US" altLang="en-US" sz="2400">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IN" sz="2400" b="1">
                <a:solidFill>
                  <a:srgbClr val="C00000"/>
                </a:solidFill>
                <a:sym typeface="+mn-ea"/>
              </a:rPr>
              <a:t>Benami – Syndicate etc</a:t>
            </a:r>
            <a:r>
              <a:rPr lang="en-US" altLang="en-US" sz="2400">
                <a:latin typeface="Calibri" panose="020F0502020204030204"/>
                <a:cs typeface="Calibri" panose="020F0502020204030204"/>
              </a:rPr>
              <a:t>	</a:t>
            </a:r>
            <a:endParaRPr lang="en-US" altLang="en-US" sz="2400">
              <a:latin typeface="Calibri" panose="020F0502020204030204"/>
              <a:cs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Stages of Money layndering in Brief</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0" algn="l">
              <a:lnSpc>
                <a:spcPct val="100000"/>
              </a:lnSpc>
              <a:spcBef>
                <a:spcPts val="100"/>
              </a:spcBef>
              <a:buFont typeface="Arial MT"/>
              <a:buNone/>
              <a:tabLst>
                <a:tab pos="299720" algn="l"/>
              </a:tabLst>
            </a:pP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STRUCTURING: </a:t>
            </a:r>
            <a:r>
              <a:rPr lang="en-US" altLang="en-US" sz="2400">
                <a:latin typeface="Calibri" panose="020F0502020204030204"/>
                <a:cs typeface="Calibri" panose="020F0502020204030204"/>
              </a:rPr>
              <a:t>keeping the amounts lower than that fixed for reporting and building up similar transactions till the amount placed to be laundered. For example transaction in cash below Rs.10.00 lakh (to avoid CTR), making Demand Draft below Rs.50,000 /- (to avoid giving PAN no), planning maturity value of TDR below Rs.20,000 /- to have payment only in cash</a:t>
            </a: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endParaRPr lang="en-US" altLang="en-US" sz="2400" b="1">
              <a:latin typeface="Calibri" panose="020F0502020204030204"/>
              <a:cs typeface="Calibri" panose="020F0502020204030204"/>
            </a:endParaRPr>
          </a:p>
          <a:p>
            <a:pPr marL="469265" marR="5080" lvl="1" indent="0" algn="l">
              <a:lnSpc>
                <a:spcPct val="100000"/>
              </a:lnSpc>
              <a:spcBef>
                <a:spcPts val="100"/>
              </a:spcBef>
              <a:buFont typeface="Arial MT"/>
              <a:buNone/>
              <a:tabLst>
                <a:tab pos="299720" algn="l"/>
              </a:tabLst>
            </a:pPr>
            <a:r>
              <a:rPr lang="en-US" altLang="en-US" sz="2400" b="1">
                <a:latin typeface="Calibri" panose="020F0502020204030204"/>
                <a:cs typeface="Calibri" panose="020F0502020204030204"/>
              </a:rPr>
              <a:t>INTEGRATING: </a:t>
            </a:r>
            <a:r>
              <a:rPr lang="en-US" altLang="en-US" sz="2400">
                <a:latin typeface="Calibri" panose="020F0502020204030204"/>
                <a:cs typeface="Calibri" panose="020F0502020204030204"/>
              </a:rPr>
              <a:t>This is the stage where tainted money eventually merges, quietly, into the legitimate economic and financial systems as ‘clean’ money. The tainted money assumes a legitimate look at this stage.	</a:t>
            </a:r>
            <a:endParaRPr lang="en-US" altLang="en-US" sz="2400">
              <a:latin typeface="Calibri" panose="020F0502020204030204"/>
              <a:cs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Legal Acts Enacted</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90000"/>
              </a:lnSpc>
              <a:spcBef>
                <a:spcPts val="100"/>
              </a:spcBef>
              <a:buFont typeface="Arial MT"/>
              <a:buNone/>
              <a:tabLst>
                <a:tab pos="299720" algn="l"/>
              </a:tabLst>
            </a:pPr>
            <a:r>
              <a:rPr lang="en-US" altLang="en-US" sz="2400">
                <a:latin typeface="Calibri" panose="020F0502020204030204"/>
                <a:cs typeface="Calibri" panose="020F0502020204030204"/>
              </a:rPr>
              <a:t>Government of India along with Reserve Bank of India are the central agencies monitoring and issuing guidelines, instructions to counter money laundering activities.</a:t>
            </a:r>
            <a:endParaRPr lang="en-US" altLang="en-US" sz="2400">
              <a:latin typeface="Calibri" panose="020F0502020204030204"/>
              <a:cs typeface="Calibri" panose="020F0502020204030204"/>
            </a:endParaRPr>
          </a:p>
          <a:p>
            <a:pPr marL="469265" marR="5080" lvl="1" indent="457200" algn="l">
              <a:lnSpc>
                <a:spcPct val="90000"/>
              </a:lnSpc>
              <a:spcBef>
                <a:spcPts val="100"/>
              </a:spcBef>
              <a:buFont typeface="Arial MT"/>
              <a:buNone/>
              <a:tabLst>
                <a:tab pos="299720" algn="l"/>
              </a:tabLst>
            </a:pPr>
            <a:endParaRPr lang="en-US" altLang="en-US" sz="2400">
              <a:latin typeface="Calibri" panose="020F0502020204030204"/>
              <a:cs typeface="Calibri" panose="020F0502020204030204"/>
            </a:endParaRPr>
          </a:p>
          <a:p>
            <a:pPr marL="469265" marR="5080" lvl="1" indent="0" algn="l">
              <a:lnSpc>
                <a:spcPct val="9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PMLA:</a:t>
            </a:r>
            <a:endParaRPr lang="en-US" altLang="en-US" sz="2400">
              <a:latin typeface="Calibri" panose="020F0502020204030204"/>
              <a:cs typeface="Calibri" panose="020F0502020204030204"/>
            </a:endParaRPr>
          </a:p>
          <a:p>
            <a:pPr marL="469265" marR="5080" lvl="1" indent="0" algn="l">
              <a:lnSpc>
                <a:spcPct val="9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The prevention of Money laundering Act, 2002 (PMLA) enacted to combat money laundering and financing of terrorism.</a:t>
            </a:r>
            <a:endParaRPr lang="en-US" altLang="en-US" sz="2400">
              <a:latin typeface="Calibri" panose="020F0502020204030204"/>
              <a:cs typeface="Calibri" panose="020F0502020204030204"/>
            </a:endParaRPr>
          </a:p>
          <a:p>
            <a:pPr marL="1269365" marR="5080" lvl="2"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Enacted on 17th Jan, 2003</a:t>
            </a:r>
            <a:endParaRPr lang="en-US" altLang="en-US" sz="2400">
              <a:latin typeface="Calibri" panose="020F0502020204030204"/>
              <a:cs typeface="Calibri" panose="020F0502020204030204"/>
            </a:endParaRPr>
          </a:p>
          <a:p>
            <a:pPr marL="1269365" marR="5080" lvl="2"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Brought into force from 1st July, 2005</a:t>
            </a:r>
            <a:endParaRPr lang="en-US" altLang="en-US" sz="2400">
              <a:latin typeface="Calibri" panose="020F0502020204030204"/>
              <a:cs typeface="Calibri" panose="020F0502020204030204"/>
            </a:endParaRPr>
          </a:p>
          <a:p>
            <a:pPr marL="469265" marR="5080" lvl="1" indent="0" algn="l">
              <a:lnSpc>
                <a:spcPct val="9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Administered by</a:t>
            </a:r>
            <a:r>
              <a:rPr lang="en-US" altLang="en-US" sz="2400">
                <a:latin typeface="Calibri" panose="020F0502020204030204"/>
                <a:cs typeface="Calibri" panose="020F0502020204030204"/>
              </a:rPr>
              <a:t>:</a:t>
            </a:r>
            <a:endParaRPr lang="en-US" altLang="en-US" sz="2400">
              <a:latin typeface="Calibri" panose="020F0502020204030204"/>
              <a:cs typeface="Calibri" panose="020F0502020204030204"/>
            </a:endParaRPr>
          </a:p>
          <a:p>
            <a:pPr marL="1269365" marR="5080" lvl="2"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Financial intelligence unit (FIU) for verification of identity of client, maintenance of records and reporting</a:t>
            </a:r>
            <a:endParaRPr lang="en-US" altLang="en-US" sz="2400">
              <a:latin typeface="Calibri" panose="020F0502020204030204"/>
              <a:cs typeface="Calibri" panose="020F0502020204030204"/>
            </a:endParaRPr>
          </a:p>
          <a:p>
            <a:pPr marL="1269365" marR="5080" lvl="2"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Enforcement Directorate (ED) for investigation of and prosecution for money laundering offenses.</a:t>
            </a:r>
            <a:endParaRPr lang="en-US" altLang="en-US" sz="2400">
              <a:latin typeface="Calibri" panose="020F0502020204030204"/>
              <a:cs typeface="Calibri" panose="020F0502020204030204"/>
            </a:endParaRPr>
          </a:p>
          <a:p>
            <a:pPr marL="1269365" marR="5080" lvl="2"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Finance Action Task Force Inter-governmental body having 36 Member countries.	</a:t>
            </a:r>
            <a:endParaRPr lang="en-US" altLang="en-US" sz="2400">
              <a:latin typeface="Calibri" panose="020F0502020204030204"/>
              <a:cs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Legal Acts Enacted</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812165" marR="5080" lvl="1" indent="-342900" algn="l">
              <a:lnSpc>
                <a:spcPct val="9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b="1">
                <a:latin typeface="Calibri" panose="020F0502020204030204"/>
                <a:cs typeface="Calibri" panose="020F0502020204030204"/>
              </a:rPr>
              <a:t>Financial action Task Force (FATF)</a:t>
            </a:r>
            <a:br>
              <a:rPr lang="en-US" altLang="en-US" sz="2400" b="1">
                <a:latin typeface="Calibri" panose="020F0502020204030204"/>
                <a:cs typeface="Calibri" panose="020F0502020204030204"/>
              </a:rPr>
            </a:b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FATF has classified countries into High, Medium &amp; Low Risk based on deficiencies in AML/CFT guidelines. </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A few examples of High Risk countries: - Iran, North Korea, Indonesia, Myanmar, Algeria, Pakistan, Iraq, Afghanistan, Argentina etc.</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Medium Risk countries – India, United Kingdom, Japan, Germany, France.</a:t>
            </a: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9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Low Risk countries – Norway, Finland, Sweden, New Zealand, Denmark</a:t>
            </a:r>
            <a:endParaRPr lang="en-US" altLang="en-US" sz="2400">
              <a:latin typeface="Calibri" panose="020F0502020204030204"/>
              <a:cs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636905"/>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Cash/Transactions in Money Laundering</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Nobody knows the ownership of cash. Source of cash not known – Anonymity; cash changed hands is not known; changing form of cash (gold, etc.). Counterfeit currency notes are in circulation.</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Transactions in accounts of customer and non-customers are another case for money laundering.</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Large and multiple transactions and frequency of such transactions between accounts and multiple accounts are other forms of money laundering.</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To counter such nefarious actions, Banks have to maintain records, furnish information, and verify identity of customers and report of financial intelligence unit – India (FIU-IND) besides their own Head Office through a specially appointed top management official designated as “Principal Officer”</a:t>
            </a:r>
            <a:endParaRPr lang="en-US" altLang="en-US" sz="2400">
              <a:latin typeface="Calibri" panose="020F0502020204030204"/>
              <a:cs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This term (usually abbreviated to MLRO) is used to describe the nominated officer appointed under Regulation 20(2)(d) of the 2007 Regulations and as referred to in Section 331 Proceeds of Crime Act 2002(POCA).</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Why have an MLRO?</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Regulation 20(2)(d)(i) requires that all businesses within the regulated sector must have a nominated officer to receive Disclosures under Part 7 of POCA and the Terrorism Act, and to make disclosures to the Serious Organised Crime Agency (SOCA)</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Regulation 20(3) provides that there is no requirement to have a nominated officer in the regulated sector if you are an individual who provides regulated services but do not employ any people or act in association with anyone else.</a:t>
            </a:r>
            <a:endParaRPr lang="en-US" altLang="en-US" sz="2400">
              <a:latin typeface="Calibri" panose="020F0502020204030204"/>
              <a:cs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Who should be an MLRO?</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7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The role of the MLRO carries significant responsibility and should be undertaken by an appropriately experienced individual.</a:t>
            </a:r>
            <a:endParaRPr lang="en-US" altLang="en-US" sz="2400">
              <a:latin typeface="Calibri" panose="020F0502020204030204"/>
              <a:cs typeface="Calibri" panose="020F0502020204030204"/>
            </a:endParaRPr>
          </a:p>
          <a:p>
            <a:pPr marL="469265" marR="5080" lvl="1" indent="457200" algn="l">
              <a:lnSpc>
                <a:spcPct val="7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7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An MLRO should be of sufficient seniority to make decisions on reporting which can impact a business’s relations with its clients and its exposure to criminal, civil, regulatory and disciplinary sanctions. They should also be in a position of sufficient responsibility to enable them to have access to all of the business’s client files and business information to enable them to make the required decisions on the basis of all information held by the business.</a:t>
            </a:r>
            <a:endParaRPr lang="en-US" altLang="en-US" sz="2400">
              <a:latin typeface="Calibri" panose="020F0502020204030204"/>
              <a:cs typeface="Calibri" panose="020F0502020204030204"/>
            </a:endParaRPr>
          </a:p>
          <a:p>
            <a:pPr marL="469265" marR="5080" lvl="1" indent="457200" algn="l">
              <a:lnSpc>
                <a:spcPct val="7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7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Businesses authorised by the Financial Conduct Authority (FCA) (one of the successors to the Financial Services Authority) will need to obtain the FCA’s approval to the appointment of the MLRO as this is a controlled function under section 59 of the Financial Services and Markets Act 2000.</a:t>
            </a:r>
            <a:endParaRPr lang="en-US" altLang="en-US" sz="2400">
              <a:latin typeface="Calibri" panose="020F0502020204030204"/>
              <a:cs typeface="Calibri" panose="020F05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Role of the MLRO?</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7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An MLRO is responsible for ensuring that, when appropriate, the information or othe matter leading to knowledge or suspicion, or reasonable grounds for knowledge or suspicion of money laundering is properly disclosed to the relevant authority. The decision to report, or not  to report, must not be subject to the consent of anyone else. The MLRO will also liaise with SOCA or law enforcement on the issue of whether to proceed with a transaction or what information may be disclosed to clients or third parties.</a:t>
            </a:r>
            <a:endParaRPr lang="en-US" altLang="en-US" sz="2400">
              <a:latin typeface="Calibri" panose="020F0502020204030204"/>
              <a:cs typeface="Calibri" panose="020F0502020204030204"/>
            </a:endParaRPr>
          </a:p>
          <a:p>
            <a:pPr marL="469265" marR="5080" lvl="1" indent="457200" algn="l">
              <a:lnSpc>
                <a:spcPct val="7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7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The size and nature of some businesses may lead to the MLRO delegating certain duties regarding the business’s anti-money laundering/counter terrorist financing obligations. Delegation does not relieve the MLRO of responsibility. In some large businesses, one or more permanent deputies of suitable seniority may be appointed. The reporting channels should be well known to all relevant employees.</a:t>
            </a:r>
            <a:endParaRPr lang="en-US" altLang="en-US" sz="2400">
              <a:latin typeface="Calibri" panose="020F0502020204030204"/>
              <a:cs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All businesses will need to consider arrangements for temporary cover when the nominated officer is absent.</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MLRO’s may also take responsibility for:</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1269365" marR="5080" lvl="2"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Training within the business</a:t>
            </a:r>
            <a:endParaRPr lang="en-US" altLang="en-US" sz="2400">
              <a:latin typeface="Calibri" panose="020F0502020204030204"/>
              <a:cs typeface="Calibri" panose="020F0502020204030204"/>
            </a:endParaRPr>
          </a:p>
          <a:p>
            <a:pPr marL="1269365" marR="5080" lvl="2"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Advising on how to proceed with work once an internal report and/or SAR has been made in order to guard against risks of tipping off or prejudicing an investigation</a:t>
            </a:r>
            <a:endParaRPr lang="en-US" altLang="en-US" sz="2400">
              <a:latin typeface="Calibri" panose="020F0502020204030204"/>
              <a:cs typeface="Calibri" panose="020F0502020204030204"/>
            </a:endParaRPr>
          </a:p>
          <a:p>
            <a:pPr marL="1269365" marR="5080" lvl="2"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design and implementation of internal anti-money laundering systems and procedures</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If this role is not undertaken by the MLRO, these responsibilities should be taken on by another sufficiently senior and skilled person within the business. This person should work closely with the MLRO.</a:t>
            </a:r>
            <a:endParaRPr lang="en-US" altLang="en-US" sz="2400">
              <a:latin typeface="Calibri" panose="020F0502020204030204"/>
              <a:cs typeface="Calibri" panose="020F050202020403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Money Laundering Reporting Officer MLRO Every practice should have a ‘nominated  officer” officer or a Money Laundering Reporting Officer (MLRO) as provided for by Part 7 of the Proceeds of Crime Act 2002 or Part 3 of the Terrorism Act 2000.</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Regulation 20 of the 2007 Regulations require this person to be appointed, to have procedures where staff make internal suspicious activity disclosures to the MLRO and a defined policy for the MLRO to consider any such internal reports to determine if a SAR should be made. A breach of regulation 20 can result in an offence (regulation 45).</a:t>
            </a: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a:latin typeface="Calibri" panose="020F0502020204030204"/>
                <a:cs typeface="Calibri" panose="020F0502020204030204"/>
              </a:rPr>
              <a:t>The presence of an appointed MLRO ensures that the direction of AML/CTF policy is centralised and that submissions to NCA or the relevant Financial Intelligence Unit (FIU) are consistent.</a:t>
            </a:r>
            <a:endParaRPr lang="en-US" altLang="en-US" sz="2400">
              <a:latin typeface="Calibri" panose="020F0502020204030204"/>
              <a:cs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Internal systems and policies:</a:t>
            </a:r>
            <a:endParaRPr lang="en-US" altLang="en-US" sz="2400" b="1">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MLRO should have a degree of seniority and authority within the business to drive policy decisions and actions. He/she should have undergone sufficient level of training and hold suitable qualifications and experience. Arrangements should be in place for when the MLRO is absent.</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In conjunction with the senior management if applicable, the MLRO should oversee the implementation and adherence to risk based policies and processes on: a) customer due diligence and ongoing monitoring, b) reporting processes, c) keeping of records, d) internal controls, e) practice AML/CTF risk  assessment, f) training of staff, g) communication of  ML/TF policy and issues within the business.</a:t>
            </a:r>
            <a:endParaRPr lang="en-US" altLang="en-US" sz="2400">
              <a:latin typeface="Calibri" panose="020F0502020204030204"/>
              <a:cs typeface="Calibri" panose="020F0502020204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MLRO’s duties include establishing an internal AML/CTF policy which will set out on record how all risks considered in the practice AML/CTF risk assessment, surrounding clients, services, locations served and delivery channels, are managed. (See CCAB Guidance, para.</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MLRO should ensure that the practice AML policies are recorded and monitored for effectiveness. The risk assessment of the business should be conducted by the MLRO and they have responsibility for monitoring internal compliance and effectiveness of controls.</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MLRO should work with management to ensure that the training provided to staff is suitable for the practice on a risksensitive basis.</a:t>
            </a:r>
            <a:endParaRPr lang="en-US" altLang="en-US" sz="2400">
              <a:latin typeface="Calibri" panose="020F0502020204030204"/>
              <a:cs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Evaluation of internal reports</a:t>
            </a:r>
            <a:endParaRPr lang="en-US" altLang="en-US" sz="2400" b="1">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Sections 327-329 of POCA 2002 outline the MLRO’s responsibilities surrounding disclosures where there are suspicions or knowledge of specific offences around ML/TF.</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A decision by the MLRO not to report externally must be documented and have sufficient reason and detail outlined describing how the decision was made. The details of this should be filed separately from the actual client file to ensure the client is not tipped-off accidentally.</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If the practice has already carried out an act for a client without realising that the act could amount to a money laundering offence, the MLRO should immediately make an authorised disclosure under POCA.</a:t>
            </a:r>
            <a:endParaRPr lang="en-US" altLang="en-US" sz="2400">
              <a:latin typeface="Calibri" panose="020F0502020204030204"/>
              <a:cs typeface="Calibri" panose="020F0502020204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Evaluation of internal reports</a:t>
            </a:r>
            <a:endParaRPr lang="en-US" altLang="en-US" sz="2400" b="1">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MLRO should ensure that once a SAR is submitted with a request for consent  that the practice does not do the act in question until the notice period has elapsed (i.e. 7 working days from day after SAR is made).</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If consent to act is refused by the NCA or relevant FIU, the MLRO must wait until the ‘moratorium period’ has elapsed which is a period of 31 days starting with the day on which the person receives notice that consent to the doing of the act is refused.</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Where consent is received or refused the NCA or relevant FIU will communicate this to the MLRO and it is the duty of the MLRO to ensure that the staff or officers act accordingly.</a:t>
            </a:r>
            <a:endParaRPr lang="en-US" altLang="en-US" sz="2400">
              <a:latin typeface="Calibri" panose="020F0502020204030204"/>
              <a:cs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Case Scenario:</a:t>
            </a:r>
            <a:endParaRPr lang="en-US" altLang="en-US" sz="2400" b="1">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b="1">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r>
              <a:rPr lang="en-US" altLang="en-US" sz="2400" b="1">
                <a:latin typeface="Calibri" panose="020F0502020204030204"/>
                <a:cs typeface="Calibri" panose="020F0502020204030204"/>
              </a:rPr>
              <a:t>The Sahara Group’s case calls for a thorough probe to reveal all its money laundering  dimensions.</a:t>
            </a:r>
            <a:endParaRPr lang="en-US" altLang="en-US" sz="2400" b="1">
              <a:latin typeface="Calibri" panose="020F0502020204030204"/>
              <a:cs typeface="Calibri" panose="020F0502020204030204"/>
            </a:endParaRPr>
          </a:p>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It has been about five years since the Supreme Court ordered the Sahara Group, led by Subrata Roy, to refund money that it borrowed investors without sufficient regulatory clearance.</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Securities and Exchange Board of India, was tasked by the apex court to oversee the actual transfer of money from the Sahara Group to investors.</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total amount, including interest on the initial principal, that need to be refunded to investor has bulged to about Rs 40,000 crore.</a:t>
            </a:r>
            <a:endParaRPr lang="en-US" altLang="en-US" sz="2400">
              <a:latin typeface="Calibri" panose="020F0502020204030204"/>
              <a:cs typeface="Calibri" panose="020F0502020204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65" y="102235"/>
            <a:ext cx="6901180" cy="1012190"/>
          </a:xfrm>
          <a:prstGeom prst="rect">
            <a:avLst/>
          </a:prstGeom>
        </p:spPr>
        <p:txBody>
          <a:bodyPr vert="horz" wrap="square" lIns="0" tIns="13335" rIns="0" bIns="0" rtlCol="0">
            <a:noAutofit/>
          </a:bodyPr>
          <a:lstStyle/>
          <a:p>
            <a:pPr marL="12700" algn="ctr">
              <a:lnSpc>
                <a:spcPct val="100000"/>
              </a:lnSpc>
              <a:spcBef>
                <a:spcPts val="105"/>
              </a:spcBef>
            </a:pPr>
            <a:r>
              <a:rPr lang="en-US" altLang="en-US" sz="3200" spc="-10" dirty="0"/>
              <a:t>Money laundering reporting officers (MLRO)</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Of this, SEBI has received an aggregate amount, including interest earned on deposits, of about Rs 14,487 crore from the Sahara Group.</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As per the SEBI’s latest annual report, on March 31, 2017 only about Rs 85.02 crore,</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including interest of about Rs 38.05 crore, of this amount has actually been returned to investors.</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Group failed to satisfy the apex court’s request to provide evidence of the source of funds used to make the claimed return payments.</a:t>
            </a: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endParaRPr lang="en-US" altLang="en-US" sz="2400">
              <a:latin typeface="Calibri" panose="020F0502020204030204"/>
              <a:cs typeface="Calibri" panose="020F0502020204030204"/>
            </a:endParaRPr>
          </a:p>
          <a:p>
            <a:pPr marL="812165" marR="5080" lvl="1" indent="-342900" algn="l">
              <a:lnSpc>
                <a:spcPct val="80000"/>
              </a:lnSpc>
              <a:spcBef>
                <a:spcPts val="100"/>
              </a:spcBef>
              <a:buFont typeface="Arial" panose="020B0604020202020204" pitchFamily="34" charset="0"/>
              <a:buChar char="•"/>
              <a:tabLst>
                <a:tab pos="299720" algn="l"/>
              </a:tabLst>
            </a:pPr>
            <a:r>
              <a:rPr lang="en-US" altLang="en-US" sz="2400">
                <a:latin typeface="Calibri" panose="020F0502020204030204"/>
                <a:cs typeface="Calibri" panose="020F0502020204030204"/>
              </a:rPr>
              <a:t>The Enforcement Director began proceeding in 2014 against the Sahara Group under the prevention of money laundering act.</a:t>
            </a:r>
            <a:endParaRPr lang="en-US" altLang="en-US" sz="2400">
              <a:latin typeface="Calibri" panose="020F0502020204030204"/>
              <a:cs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4975" y="519430"/>
            <a:ext cx="2699385" cy="594995"/>
          </a:xfrm>
          <a:prstGeom prst="rect">
            <a:avLst/>
          </a:prstGeom>
        </p:spPr>
        <p:txBody>
          <a:bodyPr vert="horz" wrap="square" lIns="0" tIns="13335" rIns="0" bIns="0" rtlCol="0">
            <a:noAutofit/>
          </a:bodyPr>
          <a:lstStyle/>
          <a:p>
            <a:pPr marL="12700" algn="ctr">
              <a:lnSpc>
                <a:spcPct val="100000"/>
              </a:lnSpc>
              <a:spcBef>
                <a:spcPts val="105"/>
              </a:spcBef>
            </a:pPr>
            <a:r>
              <a:rPr sz="3200" dirty="0">
                <a:sym typeface="+mn-ea"/>
              </a:rPr>
              <a:t>Q</a:t>
            </a:r>
            <a:r>
              <a:rPr sz="3200" spc="-45" dirty="0">
                <a:sym typeface="+mn-ea"/>
              </a:rPr>
              <a:t> </a:t>
            </a:r>
            <a:r>
              <a:rPr sz="3200" dirty="0">
                <a:sym typeface="+mn-ea"/>
              </a:rPr>
              <a:t>&amp;</a:t>
            </a:r>
            <a:r>
              <a:rPr sz="3200" spc="-40" dirty="0">
                <a:sym typeface="+mn-ea"/>
              </a:rPr>
              <a:t> </a:t>
            </a:r>
            <a:r>
              <a:rPr sz="3200" dirty="0">
                <a:sym typeface="+mn-ea"/>
              </a:rPr>
              <a:t>A</a:t>
            </a:r>
            <a:endParaRPr lang="en-US" altLang="en-US" sz="3200" spc="-10" dirty="0"/>
          </a:p>
        </p:txBody>
      </p:sp>
      <p:sp>
        <p:nvSpPr>
          <p:cNvPr id="3" name="object 3"/>
          <p:cNvSpPr/>
          <p:nvPr/>
        </p:nvSpPr>
        <p:spPr>
          <a:xfrm>
            <a:off x="7242175" y="15240"/>
            <a:ext cx="1902460" cy="619125"/>
          </a:xfrm>
          <a:custGeom>
            <a:avLst/>
            <a:gdLst/>
            <a:ahLst/>
            <a:cxnLst/>
            <a:rect l="l" t="t" r="r" b="b"/>
            <a:pathLst>
              <a:path w="1902459" h="975360">
                <a:moveTo>
                  <a:pt x="1901952" y="0"/>
                </a:moveTo>
                <a:lnTo>
                  <a:pt x="0" y="0"/>
                </a:lnTo>
                <a:lnTo>
                  <a:pt x="0" y="975359"/>
                </a:lnTo>
                <a:lnTo>
                  <a:pt x="1901952" y="975359"/>
                </a:lnTo>
                <a:lnTo>
                  <a:pt x="1901952" y="0"/>
                </a:lnTo>
                <a:close/>
              </a:path>
            </a:pathLst>
          </a:custGeom>
          <a:solidFill>
            <a:srgbClr val="DCE6F1">
              <a:alpha val="50195"/>
            </a:srgbClr>
          </a:solidFill>
        </p:spPr>
        <p:txBody>
          <a:bodyPr wrap="square" lIns="0" tIns="0" rIns="0" bIns="0" rtlCol="0"/>
          <a:lstStyle/>
          <a:p/>
        </p:txBody>
      </p:sp>
      <p:sp>
        <p:nvSpPr>
          <p:cNvPr id="4" name="object 4"/>
          <p:cNvSpPr txBox="1"/>
          <p:nvPr/>
        </p:nvSpPr>
        <p:spPr>
          <a:xfrm>
            <a:off x="7578979" y="168909"/>
            <a:ext cx="1229995" cy="320040"/>
          </a:xfrm>
          <a:prstGeom prst="rect">
            <a:avLst/>
          </a:prstGeom>
        </p:spPr>
        <p:txBody>
          <a:bodyPr vert="horz" wrap="square" lIns="0" tIns="12700" rIns="0" bIns="0" rtlCol="0">
            <a:spAutoFit/>
          </a:bodyPr>
          <a:lstStyle/>
          <a:p>
            <a:pPr marL="187960" marR="5080" indent="-175260" algn="ctr">
              <a:lnSpc>
                <a:spcPct val="100000"/>
              </a:lnSpc>
              <a:spcBef>
                <a:spcPts val="100"/>
              </a:spcBef>
            </a:pPr>
            <a:r>
              <a:rPr lang="en-US" sz="2000" b="1" dirty="0">
                <a:solidFill>
                  <a:srgbClr val="244060"/>
                </a:solidFill>
                <a:latin typeface="Calibri" panose="020F0502020204030204"/>
                <a:cs typeface="Calibri" panose="020F0502020204030204"/>
              </a:rPr>
              <a:t>BFSI</a:t>
            </a:r>
            <a:endParaRPr lang="en-US" sz="2000">
              <a:latin typeface="Calibri" panose="020F0502020204030204"/>
              <a:cs typeface="Calibri" panose="020F0502020204030204"/>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fld>
            <a:endParaRPr dirty="0"/>
          </a:p>
        </p:txBody>
      </p:sp>
      <p:sp>
        <p:nvSpPr>
          <p:cNvPr id="5" name="object 5"/>
          <p:cNvSpPr txBox="1"/>
          <p:nvPr/>
        </p:nvSpPr>
        <p:spPr>
          <a:xfrm>
            <a:off x="370840" y="1153795"/>
            <a:ext cx="8438515" cy="5447665"/>
          </a:xfrm>
          <a:prstGeom prst="rect">
            <a:avLst/>
          </a:prstGeom>
        </p:spPr>
        <p:txBody>
          <a:bodyPr vert="horz" wrap="square" lIns="0" tIns="12700" rIns="0" bIns="0" rtlCol="0">
            <a:noAutofit/>
          </a:bodyPr>
          <a:lstStyle/>
          <a:p>
            <a:pPr marL="469265" marR="5080" lvl="1" indent="457200" algn="l">
              <a:lnSpc>
                <a:spcPct val="80000"/>
              </a:lnSpc>
              <a:spcBef>
                <a:spcPts val="100"/>
              </a:spcBef>
              <a:buFont typeface="Arial" panose="020B0604020202020204" pitchFamily="34" charset="0"/>
              <a:buNone/>
              <a:tabLst>
                <a:tab pos="299720" algn="l"/>
              </a:tabLst>
            </a:pPr>
            <a:endParaRPr lang="en-US" altLang="en-US" sz="2400">
              <a:latin typeface="Calibri" panose="020F0502020204030204"/>
              <a:cs typeface="Calibri" panose="020F0502020204030204"/>
            </a:endParaRPr>
          </a:p>
        </p:txBody>
      </p:sp>
      <p:pic>
        <p:nvPicPr>
          <p:cNvPr id="7" name="object 3"/>
          <p:cNvPicPr/>
          <p:nvPr/>
        </p:nvPicPr>
        <p:blipFill>
          <a:blip r:embed="rId1" cstate="print"/>
          <a:stretch>
            <a:fillRect/>
          </a:stretch>
        </p:blipFill>
        <p:spPr>
          <a:xfrm>
            <a:off x="3136264" y="1219072"/>
            <a:ext cx="2377440" cy="2971800"/>
          </a:xfrm>
          <a:prstGeom prst="rect">
            <a:avLst/>
          </a:prstGeom>
        </p:spPr>
      </p:pic>
      <p:sp>
        <p:nvSpPr>
          <p:cNvPr id="8" name="object 4"/>
          <p:cNvSpPr txBox="1"/>
          <p:nvPr/>
        </p:nvSpPr>
        <p:spPr>
          <a:xfrm>
            <a:off x="887983" y="4293234"/>
            <a:ext cx="7369175" cy="1865630"/>
          </a:xfrm>
          <a:prstGeom prst="rect">
            <a:avLst/>
          </a:prstGeom>
        </p:spPr>
        <p:txBody>
          <a:bodyPr vert="horz" wrap="square" lIns="0" tIns="9525" rIns="0" bIns="0" rtlCol="0">
            <a:spAutoFit/>
          </a:bodyPr>
          <a:p>
            <a:pPr marL="888365" marR="5080" indent="-876300" algn="ctr">
              <a:lnSpc>
                <a:spcPct val="100000"/>
              </a:lnSpc>
              <a:spcBef>
                <a:spcPts val="75"/>
              </a:spcBef>
            </a:pPr>
            <a:r>
              <a:rPr lang="en-US" sz="4000" b="1" spc="5" dirty="0">
                <a:solidFill>
                  <a:srgbClr val="244060"/>
                </a:solidFill>
                <a:latin typeface="Palatino Linotype" panose="02040502050505030304"/>
                <a:cs typeface="Palatino Linotype" panose="02040502050505030304"/>
              </a:rPr>
              <a:t>    Sudhan Venu</a:t>
            </a:r>
            <a:endParaRPr lang="en-US" sz="4000" b="1" spc="5" dirty="0">
              <a:solidFill>
                <a:srgbClr val="244060"/>
              </a:solidFill>
              <a:latin typeface="Palatino Linotype" panose="02040502050505030304"/>
              <a:cs typeface="Palatino Linotype" panose="02040502050505030304"/>
            </a:endParaRPr>
          </a:p>
          <a:p>
            <a:pPr marL="888365" marR="5080" indent="-876300" algn="ctr">
              <a:lnSpc>
                <a:spcPct val="100000"/>
              </a:lnSpc>
              <a:spcBef>
                <a:spcPts val="75"/>
              </a:spcBef>
            </a:pPr>
            <a:r>
              <a:rPr lang="en-US" sz="4000" b="1" dirty="0">
                <a:solidFill>
                  <a:srgbClr val="244060"/>
                </a:solidFill>
                <a:latin typeface="Palatino Linotype" panose="02040502050505030304"/>
                <a:cs typeface="Palatino Linotype" panose="02040502050505030304"/>
              </a:rPr>
              <a:t>9176332725</a:t>
            </a:r>
            <a:r>
              <a:rPr sz="4000" b="1" dirty="0">
                <a:solidFill>
                  <a:srgbClr val="244060"/>
                </a:solidFill>
                <a:latin typeface="Palatino Linotype" panose="02040502050505030304"/>
                <a:cs typeface="Palatino Linotype" panose="02040502050505030304"/>
              </a:rPr>
              <a:t> </a:t>
            </a:r>
            <a:r>
              <a:rPr sz="4000" b="1" spc="5" dirty="0">
                <a:solidFill>
                  <a:srgbClr val="244060"/>
                </a:solidFill>
                <a:latin typeface="Palatino Linotype" panose="02040502050505030304"/>
                <a:cs typeface="Palatino Linotype" panose="02040502050505030304"/>
              </a:rPr>
              <a:t> </a:t>
            </a:r>
            <a:r>
              <a:rPr lang="en-US" sz="4000" b="1" u="sng" spc="5" dirty="0">
                <a:solidFill>
                  <a:srgbClr val="244060"/>
                </a:solidFill>
                <a:latin typeface="Palatino Linotype" panose="02040502050505030304"/>
                <a:cs typeface="Palatino Linotype" panose="02040502050505030304"/>
              </a:rPr>
              <a:t>sudhanvenu</a:t>
            </a:r>
            <a:r>
              <a:rPr sz="4000" b="1" u="sng" spc="5" dirty="0">
                <a:solidFill>
                  <a:srgbClr val="244060"/>
                </a:solidFill>
                <a:latin typeface="Palatino Linotype" panose="02040502050505030304"/>
                <a:cs typeface="Palatino Linotype" panose="02040502050505030304"/>
                <a:hlinkClick r:id="rId2"/>
              </a:rPr>
              <a:t>@gmail.com</a:t>
            </a:r>
            <a:endParaRPr sz="4000" u="sng">
              <a:latin typeface="Palatino Linotype" panose="02040502050505030304"/>
              <a:cs typeface="Palatino Linotype" panose="0204050205050503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4406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24798</Words>
  <Application>WPS Presentation</Application>
  <PresentationFormat>On-screen Show (4:3)</PresentationFormat>
  <Paragraphs>644</Paragraphs>
  <Slides>47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47</vt:i4>
      </vt:variant>
    </vt:vector>
  </HeadingPairs>
  <TitlesOfParts>
    <vt:vector size="62" baseType="lpstr">
      <vt:lpstr>Arial</vt:lpstr>
      <vt:lpstr>SimSun</vt:lpstr>
      <vt:lpstr>Wingdings</vt:lpstr>
      <vt:lpstr>Calibri</vt:lpstr>
      <vt:lpstr>Arial</vt:lpstr>
      <vt:lpstr>Courier New</vt:lpstr>
      <vt:lpstr>Arial MT</vt:lpstr>
      <vt:lpstr>Microsoft YaHei</vt:lpstr>
      <vt:lpstr>Arial Unicode MS</vt:lpstr>
      <vt:lpstr>Palatino Linotype</vt:lpstr>
      <vt:lpstr>Calibri</vt:lpstr>
      <vt:lpstr>Arial-BoldMT</vt:lpstr>
      <vt:lpstr>Wingdings</vt:lpstr>
      <vt:lpstr>Liberation Mono</vt:lpstr>
      <vt:lpstr>Office Theme</vt:lpstr>
      <vt:lpstr>Application Security</vt:lpstr>
      <vt:lpstr>Unit - 1</vt:lpstr>
      <vt:lpstr>Client Server Application</vt:lpstr>
      <vt:lpstr>Banking Overview</vt:lpstr>
      <vt:lpstr>Conventional Bank Branch - Set up - Traditional</vt:lpstr>
      <vt:lpstr>Computerisation &amp; Indian Banks</vt:lpstr>
      <vt:lpstr>TBA Architecture Computerisation &amp; Indian Banks - Options</vt:lpstr>
      <vt:lpstr>TBA Architecture Computerisation &amp; Indian Banks - Options</vt:lpstr>
      <vt:lpstr>Physical Design CBS – Overview</vt:lpstr>
      <vt:lpstr>CBS Architecture Variations</vt:lpstr>
      <vt:lpstr>CBS Architecture Variations</vt:lpstr>
      <vt:lpstr>CBS Architecture</vt:lpstr>
      <vt:lpstr>CBS Architecture</vt:lpstr>
      <vt:lpstr>CBS Architecture</vt:lpstr>
      <vt:lpstr>CBS Architecture</vt:lpstr>
      <vt:lpstr>Unit - IV</vt:lpstr>
      <vt:lpstr>Banking Overview</vt:lpstr>
      <vt:lpstr>What is Money Laundering</vt:lpstr>
      <vt:lpstr>Techniques of Money Laundering</vt:lpstr>
      <vt:lpstr>Causes of Money Laundering</vt:lpstr>
      <vt:lpstr>Harmful effects of Money Laundering</vt:lpstr>
      <vt:lpstr>Harmful effects of Money Laundering</vt:lpstr>
      <vt:lpstr>Regulation of Money Laundering in India</vt:lpstr>
      <vt:lpstr>Regulation of Money Laundering in India</vt:lpstr>
      <vt:lpstr>Regulation of Money Laundering in India</vt:lpstr>
      <vt:lpstr>Global steps to counter money laundering problem</vt:lpstr>
      <vt:lpstr>Global steps to counter money laundering problem</vt:lpstr>
      <vt:lpstr>Laws related to money laundering</vt:lpstr>
      <vt:lpstr>Laws related to money laundering</vt:lpstr>
      <vt:lpstr>Laws related to money laundering</vt:lpstr>
      <vt:lpstr>Laws related to money laundering</vt:lpstr>
      <vt:lpstr>Stages of Money layndering in Brief</vt:lpstr>
      <vt:lpstr>Stages of Money layndering in Brief</vt:lpstr>
      <vt:lpstr>Legal Acts Enacted</vt:lpstr>
      <vt:lpstr>Legal Acts Enacted</vt:lpstr>
      <vt:lpstr>Cash/Transactions in Money Laundering</vt:lpstr>
      <vt:lpstr>Money laundering reporting officers (MLRO)</vt:lpstr>
      <vt:lpstr>Money laundering reporting officers (MLRO)</vt:lpstr>
      <vt:lpstr>Money laundering reporting officers (MLRO)</vt:lpstr>
      <vt:lpstr>Money laundering reporting officers (MLRO)</vt:lpstr>
      <vt:lpstr>Money laundering reporting officers (MLRO)</vt:lpstr>
      <vt:lpstr>Money laundering reporting officers (MLRO)</vt:lpstr>
      <vt:lpstr>Money laundering reporting officers (MLRO)</vt:lpstr>
      <vt:lpstr>Money laundering reporting officers (MLRO)</vt:lpstr>
      <vt:lpstr>Money laundering reporting officers (MLRO)</vt:lpstr>
      <vt:lpstr>Money laundering reporting officers (MLRO)</vt:lpstr>
      <vt:lpstr>Money laundering reporting officers (MLRO)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Security</dc:title>
  <dc:creator>RAMESH</dc:creator>
  <cp:lastModifiedBy>Sudhan Venu</cp:lastModifiedBy>
  <cp:revision>64</cp:revision>
  <dcterms:created xsi:type="dcterms:W3CDTF">2024-08-10T05:10:00Z</dcterms:created>
  <dcterms:modified xsi:type="dcterms:W3CDTF">2025-09-20T06:37:49Z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2022-07-23T16:30:00Z</vt:filetime>
  </property>
  <property fmtid="{D5CDD505-2E9C-101B-9397-08002B2CF9AE}" pid="3" name="Creator">
    <vt:lpwstr>Microsoft® PowerPoint® for Microsoft 365</vt:lpwstr>
  </property>
  <property fmtid="{D5CDD505-2E9C-101B-9397-08002B2CF9AE}" pid="4" name="LastSaved">
    <vt:filetime>2024-08-10T16:30:00Z</vt:filetime>
  </property>
  <property fmtid="{D5CDD505-2E9C-101B-9397-08002B2CF9AE}" pid="5" name="ICV">
    <vt:lpwstr>87A2ECF0D6444EF2938C2DAE4C719D25_12</vt:lpwstr>
  </property>
  <property fmtid="{D5CDD505-2E9C-101B-9397-08002B2CF9AE}" pid="6" name="KSOProductBuildVer">
    <vt:lpwstr>1033-12.2.0.22549</vt:lpwstr>
  </property>
</Properties>
</file>