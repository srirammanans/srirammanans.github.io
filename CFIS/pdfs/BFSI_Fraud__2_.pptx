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6"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1: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8daa042af0_4_6:notes"/>
          <p:cNvSpPr txBox="1">
            <a:spLocks noGrp="1"/>
          </p:cNvSpPr>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g8daa042af0_4_6:notes"/>
          <p:cNvSpPr>
            <a:spLocks noGrp="1" noRot="1" noChangeAspect="1"/>
          </p:cNvSpPr>
          <p:nvPr>
            <p:ph type="sldImg" idx="2"/>
          </p:nvPr>
        </p:nvSpPr>
        <p:spPr>
          <a:xfrm>
            <a:off x="444500" y="1243013"/>
            <a:ext cx="5969100" cy="33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8daa042af0_4_0:notes"/>
          <p:cNvSpPr txBox="1">
            <a:spLocks noGrp="1"/>
          </p:cNvSpPr>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8daa042af0_4_0:notes"/>
          <p:cNvSpPr>
            <a:spLocks noGrp="1" noRot="1" noChangeAspect="1"/>
          </p:cNvSpPr>
          <p:nvPr>
            <p:ph type="sldImg" idx="2"/>
          </p:nvPr>
        </p:nvSpPr>
        <p:spPr>
          <a:xfrm>
            <a:off x="444500" y="1243013"/>
            <a:ext cx="5969100" cy="33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4" name="Google Shape;24;p3"/>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5" name="Google Shape;25;p3"/>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6" name="Google Shape;26;p3"/>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7" name="Google Shape;27;p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2" name="Google Shape;42;p6"/>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3" name="Google Shape;43;p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a:spLocks noGrp="1"/>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0" name="Google Shape;50;p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6" name="Google Shape;56;p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2" name="Google Shape;62;p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Reserve_Bank_of_India_Act,_193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en.wikipedia.org/wiki/Indian_rupee" TargetMode="External"/><Relationship Id="rId4" Type="http://schemas.openxmlformats.org/officeDocument/2006/relationships/hyperlink" Target="https://en.wikipedia.org/wiki/Banking_Regulation_Act,_1949"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Indian_rupe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70" name="Google Shape;70;p10"/>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114300" lvl="0" indent="0" algn="ctr" rtl="0">
              <a:lnSpc>
                <a:spcPct val="100000"/>
              </a:lnSpc>
              <a:spcBef>
                <a:spcPts val="360"/>
              </a:spcBef>
              <a:spcAft>
                <a:spcPts val="0"/>
              </a:spcAft>
              <a:buSzPts val="1800"/>
              <a:buNone/>
            </a:pPr>
            <a:r>
              <a:rPr lang="en-IN" sz="4000" b="1" dirty="0"/>
              <a:t>SESSION ON </a:t>
            </a:r>
            <a:endParaRPr dirty="0"/>
          </a:p>
          <a:p>
            <a:pPr marL="114300" lvl="0" indent="0" algn="ctr" rtl="0">
              <a:lnSpc>
                <a:spcPct val="100000"/>
              </a:lnSpc>
              <a:spcBef>
                <a:spcPts val="360"/>
              </a:spcBef>
              <a:spcAft>
                <a:spcPts val="0"/>
              </a:spcAft>
              <a:buSzPts val="1800"/>
              <a:buNone/>
            </a:pPr>
            <a:r>
              <a:rPr lang="en-IN" sz="4000" b="1" dirty="0"/>
              <a:t>BFSI FRAUDS &amp; COUNTERMEASURES</a:t>
            </a:r>
            <a:endParaRPr dirty="0"/>
          </a:p>
          <a:p>
            <a:pPr marL="114300" lvl="0" indent="0" algn="l" rtl="0">
              <a:lnSpc>
                <a:spcPct val="100000"/>
              </a:lnSpc>
              <a:spcBef>
                <a:spcPts val="360"/>
              </a:spcBef>
              <a:spcAft>
                <a:spcPts val="0"/>
              </a:spcAft>
              <a:buSzPts val="1800"/>
              <a:buNone/>
            </a:pPr>
            <a:endParaRPr dirty="0"/>
          </a:p>
          <a:p>
            <a:pPr marL="114300" lvl="0" indent="0" algn="l" rtl="0">
              <a:lnSpc>
                <a:spcPct val="100000"/>
              </a:lnSpc>
              <a:spcBef>
                <a:spcPts val="360"/>
              </a:spcBef>
              <a:spcAft>
                <a:spcPts val="0"/>
              </a:spcAft>
              <a:buSzPts val="1800"/>
              <a:buNone/>
            </a:pPr>
            <a:endParaRPr dirty="0"/>
          </a:p>
        </p:txBody>
      </p:sp>
      <p:sp>
        <p:nvSpPr>
          <p:cNvPr id="71" name="Google Shape;71;p1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BANKING</a:t>
            </a:r>
            <a:endParaRPr sz="1800"/>
          </a:p>
        </p:txBody>
      </p:sp>
      <p:sp>
        <p:nvSpPr>
          <p:cNvPr id="77" name="Google Shape;77;p11"/>
          <p:cNvSpPr txBox="1">
            <a:spLocks noGrp="1"/>
          </p:cNvSpPr>
          <p:nvPr>
            <p:ph type="body" idx="1"/>
          </p:nvPr>
        </p:nvSpPr>
        <p:spPr>
          <a:xfrm>
            <a:off x="457200" y="849075"/>
            <a:ext cx="8229600" cy="408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None/>
            </a:pPr>
            <a:r>
              <a:rPr lang="en-IN"/>
              <a:t>Definition</a:t>
            </a:r>
            <a:endParaRPr/>
          </a:p>
          <a:p>
            <a:pPr marL="457200" lvl="0" indent="-342900" algn="l" rtl="0">
              <a:lnSpc>
                <a:spcPct val="100000"/>
              </a:lnSpc>
              <a:spcBef>
                <a:spcPts val="360"/>
              </a:spcBef>
              <a:spcAft>
                <a:spcPts val="0"/>
              </a:spcAft>
              <a:buSzPts val="1800"/>
              <a:buChar char="•"/>
            </a:pPr>
            <a:r>
              <a:rPr lang="en-IN" sz="1200"/>
              <a:t>Banking is a system of trading money</a:t>
            </a:r>
            <a:endParaRPr sz="1200"/>
          </a:p>
          <a:p>
            <a:pPr marL="457200" lvl="0" indent="-342900" algn="l" rtl="0">
              <a:lnSpc>
                <a:spcPct val="100000"/>
              </a:lnSpc>
              <a:spcBef>
                <a:spcPts val="360"/>
              </a:spcBef>
              <a:spcAft>
                <a:spcPts val="0"/>
              </a:spcAft>
              <a:buSzPts val="1800"/>
              <a:buChar char="•"/>
            </a:pPr>
            <a:r>
              <a:rPr lang="en-IN" sz="1200"/>
              <a:t>Accepting Deposits from the ‘Saving Public’ and lends to the ‘Needy People’</a:t>
            </a:r>
            <a:endParaRPr/>
          </a:p>
          <a:p>
            <a:pPr marL="457200" lvl="0" indent="-342900" algn="l" rtl="0">
              <a:spcBef>
                <a:spcPts val="360"/>
              </a:spcBef>
              <a:spcAft>
                <a:spcPts val="0"/>
              </a:spcAft>
              <a:buSzPts val="1800"/>
              <a:buChar char="•"/>
            </a:pPr>
            <a:r>
              <a:rPr lang="en-IN" sz="1200"/>
              <a:t>Section 5 (b) of Banking Regulation Act (BR Act) explains Banking as accepting deposits and lending for making profit  </a:t>
            </a:r>
            <a:endParaRPr/>
          </a:p>
          <a:p>
            <a:pPr marL="457200" lvl="0" indent="-342900" algn="l" rtl="0">
              <a:spcBef>
                <a:spcPts val="360"/>
              </a:spcBef>
              <a:spcAft>
                <a:spcPts val="0"/>
              </a:spcAft>
              <a:buSzPts val="1800"/>
              <a:buChar char="•"/>
            </a:pPr>
            <a:r>
              <a:rPr lang="en-IN" sz="1200"/>
              <a:t>Structure is explained in Fig.1.1 (Page 9 of the Book-let)</a:t>
            </a:r>
            <a:endParaRPr sz="1200"/>
          </a:p>
          <a:p>
            <a:pPr marL="0" lvl="0" indent="0" algn="l" rtl="0">
              <a:spcBef>
                <a:spcPts val="360"/>
              </a:spcBef>
              <a:spcAft>
                <a:spcPts val="0"/>
              </a:spcAft>
              <a:buNone/>
            </a:pPr>
            <a:endParaRPr sz="1200"/>
          </a:p>
          <a:p>
            <a:pPr marL="0" lvl="0" indent="0" algn="l" rtl="0">
              <a:spcBef>
                <a:spcPts val="360"/>
              </a:spcBef>
              <a:spcAft>
                <a:spcPts val="0"/>
              </a:spcAft>
              <a:buNone/>
            </a:pPr>
            <a:r>
              <a:rPr lang="en-IN" sz="1200"/>
              <a:t>INDIAN BANKING SYSTEM - BROAD CLASSIFICATION </a:t>
            </a:r>
            <a:endParaRPr/>
          </a:p>
          <a:p>
            <a:pPr marL="457200" lvl="0" indent="-342900" algn="l" rtl="0">
              <a:spcBef>
                <a:spcPts val="360"/>
              </a:spcBef>
              <a:spcAft>
                <a:spcPts val="0"/>
              </a:spcAft>
              <a:buSzPts val="1800"/>
              <a:buChar char="•"/>
            </a:pPr>
            <a:r>
              <a:rPr lang="en-IN" sz="1200"/>
              <a:t>Reserve Bank of India</a:t>
            </a:r>
            <a:endParaRPr sz="1200"/>
          </a:p>
          <a:p>
            <a:pPr marL="457200" lvl="0" indent="-342900" algn="l" rtl="0">
              <a:spcBef>
                <a:spcPts val="360"/>
              </a:spcBef>
              <a:spcAft>
                <a:spcPts val="0"/>
              </a:spcAft>
              <a:buSzPts val="1800"/>
              <a:buChar char="•"/>
            </a:pPr>
            <a:r>
              <a:rPr lang="en-IN" sz="1200"/>
              <a:t>Public Sector Banks</a:t>
            </a:r>
            <a:endParaRPr sz="1200"/>
          </a:p>
          <a:p>
            <a:pPr marL="457200" lvl="0" indent="-342900" algn="l" rtl="0">
              <a:spcBef>
                <a:spcPts val="360"/>
              </a:spcBef>
              <a:spcAft>
                <a:spcPts val="0"/>
              </a:spcAft>
              <a:buSzPts val="1800"/>
              <a:buChar char="•"/>
            </a:pPr>
            <a:r>
              <a:rPr lang="en-IN" sz="1200"/>
              <a:t>Private Sector Banks</a:t>
            </a:r>
            <a:endParaRPr sz="1200"/>
          </a:p>
          <a:p>
            <a:pPr marL="457200" lvl="0" indent="-342900" algn="l" rtl="0">
              <a:spcBef>
                <a:spcPts val="360"/>
              </a:spcBef>
              <a:spcAft>
                <a:spcPts val="0"/>
              </a:spcAft>
              <a:buSzPts val="1800"/>
              <a:buChar char="•"/>
            </a:pPr>
            <a:r>
              <a:rPr lang="en-IN" sz="1200"/>
              <a:t>Co-operative Banks</a:t>
            </a:r>
            <a:endParaRPr sz="1200"/>
          </a:p>
          <a:p>
            <a:pPr marL="457200" lvl="0" indent="-342900" algn="l" rtl="0">
              <a:spcBef>
                <a:spcPts val="360"/>
              </a:spcBef>
              <a:spcAft>
                <a:spcPts val="0"/>
              </a:spcAft>
              <a:buSzPts val="1800"/>
              <a:buChar char="•"/>
            </a:pPr>
            <a:r>
              <a:rPr lang="en-IN" sz="1200"/>
              <a:t>Development Banks</a:t>
            </a:r>
            <a:endParaRPr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78" name="Google Shape;78;p1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457200" y="205979"/>
            <a:ext cx="8229600" cy="6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RESERVE BANK OF INDIA</a:t>
            </a:r>
            <a:endParaRPr sz="1800"/>
          </a:p>
        </p:txBody>
      </p:sp>
      <p:sp>
        <p:nvSpPr>
          <p:cNvPr id="84" name="Google Shape;84;p12"/>
          <p:cNvSpPr txBox="1">
            <a:spLocks noGrp="1"/>
          </p:cNvSpPr>
          <p:nvPr>
            <p:ph type="body" idx="1"/>
          </p:nvPr>
        </p:nvSpPr>
        <p:spPr>
          <a:xfrm>
            <a:off x="457200" y="849075"/>
            <a:ext cx="8229600" cy="4081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Char char="•"/>
            </a:pPr>
            <a:r>
              <a:rPr lang="en-IN" sz="1200"/>
              <a:t>Established on 01 04 1935 in Kolkatta with a paid up capital of Rs.5 cr. based on the recommendation of the ‘Hilton Young Committee’.  Subsequently moved to Mumbai in 1937 and presently having 22 Regional Offices all over India.</a:t>
            </a:r>
            <a:endParaRPr sz="1200"/>
          </a:p>
          <a:p>
            <a:pPr marL="0" lvl="0" indent="0" algn="l" rtl="0">
              <a:lnSpc>
                <a:spcPct val="100000"/>
              </a:lnSpc>
              <a:spcBef>
                <a:spcPts val="360"/>
              </a:spcBef>
              <a:spcAft>
                <a:spcPts val="0"/>
              </a:spcAft>
              <a:buNone/>
            </a:pPr>
            <a:r>
              <a:rPr lang="en-IN" sz="1200" b="1"/>
              <a:t>OBJECTIVES</a:t>
            </a:r>
            <a:endParaRPr sz="1200" b="1"/>
          </a:p>
          <a:p>
            <a:pPr marL="457200" lvl="0" indent="-342900" algn="l" rtl="0">
              <a:spcBef>
                <a:spcPts val="360"/>
              </a:spcBef>
              <a:spcAft>
                <a:spcPts val="0"/>
              </a:spcAft>
              <a:buSzPts val="1800"/>
              <a:buChar char="•"/>
            </a:pPr>
            <a:r>
              <a:rPr lang="en-IN" sz="1200"/>
              <a:t>Regulate Monetary &amp; Credit Systems;   2. Maintains external and external value of Currency 3. Systematic and Balanced Development of Banking; 4. Regulating Industrial and Agricultural finance; 5. Proper Management of Public Debt; 6.Establishing monetary relation with rest of work countries; 7. Maintenance of Cash reserve of Commercial Banks; 8. Establish Money Market in our Country; 9. Monitor in achieving the required balance between Demand and Supply of Currency and thus check velocity; &amp; 10. Maintaining price stablility and ensuring adequate flow of credit to productive sector.  </a:t>
            </a:r>
            <a:endParaRPr/>
          </a:p>
          <a:p>
            <a:pPr marL="0" lvl="0" indent="0" algn="l" rtl="0">
              <a:spcBef>
                <a:spcPts val="360"/>
              </a:spcBef>
              <a:spcAft>
                <a:spcPts val="0"/>
              </a:spcAft>
              <a:buNone/>
            </a:pPr>
            <a:r>
              <a:rPr lang="en-IN" sz="1200" b="1"/>
              <a:t>OBJECTIVES</a:t>
            </a:r>
            <a:endParaRPr sz="1200"/>
          </a:p>
          <a:p>
            <a:pPr marL="457200" lvl="0" indent="-342900" algn="l" rtl="0">
              <a:spcBef>
                <a:spcPts val="360"/>
              </a:spcBef>
              <a:spcAft>
                <a:spcPts val="0"/>
              </a:spcAft>
              <a:buSzPts val="1800"/>
              <a:buChar char="•"/>
            </a:pPr>
            <a:r>
              <a:rPr lang="en-IN" sz="1200"/>
              <a:t>Governor - Deputy Governor …… Support Staff          (Refer Page 11 and 12 of the Book-let)</a:t>
            </a:r>
            <a:endParaRPr sz="1200"/>
          </a:p>
          <a:p>
            <a:pPr marL="0" lvl="0" indent="0" algn="l" rtl="0">
              <a:spcBef>
                <a:spcPts val="360"/>
              </a:spcBef>
              <a:spcAft>
                <a:spcPts val="0"/>
              </a:spcAft>
              <a:buNone/>
            </a:pPr>
            <a:r>
              <a:rPr lang="en-IN" sz="1200" b="1"/>
              <a:t>FUNECTIONS</a:t>
            </a:r>
            <a:endParaRPr sz="1200" b="1"/>
          </a:p>
          <a:p>
            <a:pPr marL="457200" lvl="0" indent="-342900" algn="l" rtl="0">
              <a:spcBef>
                <a:spcPts val="360"/>
              </a:spcBef>
              <a:spcAft>
                <a:spcPts val="0"/>
              </a:spcAft>
              <a:buSzPts val="1800"/>
              <a:buChar char="•"/>
            </a:pPr>
            <a:r>
              <a:rPr lang="en-IN" sz="1200"/>
              <a:t>1. Formulate, implement and Monitor the Monetary Policy; 2. Manages Exchange Control (Foreign Exchange); 3. Issuer of Curency; 4. Banker to Govt.; 5. Banker to Bank; 6. Lender of the Last Resort; &amp; 7. Loans and Advances (Page 13)</a:t>
            </a:r>
            <a:endParaRPr sz="1200"/>
          </a:p>
          <a:p>
            <a:pPr marL="0" lvl="0" indent="0" algn="l" rtl="0">
              <a:spcBef>
                <a:spcPts val="360"/>
              </a:spcBef>
              <a:spcAft>
                <a:spcPts val="0"/>
              </a:spcAft>
              <a:buNone/>
            </a:pPr>
            <a:r>
              <a:rPr lang="en-IN" sz="1200" b="1"/>
              <a:t>INSTRUMENTS TO CREDIT CONTROL: </a:t>
            </a:r>
            <a:r>
              <a:rPr lang="en-IN" sz="1200"/>
              <a:t> - Quantitative and Qualitative Controls (Refer Figure 1.4 in Page No.14)</a:t>
            </a:r>
            <a:endParaRPr sz="1200"/>
          </a:p>
          <a:p>
            <a:pPr marL="0" lvl="0" indent="0" algn="l" rtl="0">
              <a:spcBef>
                <a:spcPts val="360"/>
              </a:spcBef>
              <a:spcAft>
                <a:spcPts val="0"/>
              </a:spcAft>
              <a:buNone/>
            </a:pPr>
            <a:r>
              <a:rPr lang="en-IN" sz="1200" b="1"/>
              <a:t>SUBSIDARIES OF RBI: 1. Fully owned; 2. NHB; 3.DICGC of India; 4. Note Mudran; 5. Major Stakes; 6. NABARD</a:t>
            </a:r>
            <a:endParaRPr sz="1200" b="1"/>
          </a:p>
          <a:p>
            <a:pPr marL="457200" lvl="0" indent="-304800" algn="l" rtl="0">
              <a:spcBef>
                <a:spcPts val="360"/>
              </a:spcBef>
              <a:spcAft>
                <a:spcPts val="0"/>
              </a:spcAft>
              <a:buSzPts val="1200"/>
              <a:buChar char="-"/>
            </a:pPr>
            <a:r>
              <a:rPr lang="en-IN" sz="1200" b="1"/>
              <a:t>Recently RBI had divested stake in State Bank of India to Government of India.</a:t>
            </a:r>
            <a:endParaRPr sz="1200" b="1"/>
          </a:p>
          <a:p>
            <a:pPr marL="114300" lvl="0" indent="0" algn="l" rtl="0">
              <a:lnSpc>
                <a:spcPct val="100000"/>
              </a:lnSpc>
              <a:spcBef>
                <a:spcPts val="360"/>
              </a:spcBef>
              <a:spcAft>
                <a:spcPts val="0"/>
              </a:spcAft>
              <a:buSzPts val="1800"/>
              <a:buNone/>
            </a:pPr>
            <a:endParaRPr/>
          </a:p>
        </p:txBody>
      </p:sp>
      <p:sp>
        <p:nvSpPr>
          <p:cNvPr id="85" name="Google Shape;85;p1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NATIONALISED BANKS</a:t>
            </a:r>
            <a:endParaRPr sz="1800"/>
          </a:p>
        </p:txBody>
      </p:sp>
      <p:sp>
        <p:nvSpPr>
          <p:cNvPr id="91" name="Google Shape;91;p13"/>
          <p:cNvSpPr txBox="1">
            <a:spLocks noGrp="1"/>
          </p:cNvSpPr>
          <p:nvPr>
            <p:ph type="body" idx="1"/>
          </p:nvPr>
        </p:nvSpPr>
        <p:spPr>
          <a:xfrm>
            <a:off x="457200" y="783775"/>
            <a:ext cx="8229600" cy="40812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Present Position of Nationalised Banks</a:t>
            </a:r>
            <a:endParaRPr/>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State Bank of India</a:t>
            </a:r>
            <a:endParaRPr/>
          </a:p>
          <a:p>
            <a:pPr marL="457200" lvl="0" indent="-342900" algn="l" rtl="0">
              <a:lnSpc>
                <a:spcPct val="100000"/>
              </a:lnSpc>
              <a:spcBef>
                <a:spcPts val="360"/>
              </a:spcBef>
              <a:spcAft>
                <a:spcPts val="0"/>
              </a:spcAft>
              <a:buSzPts val="1800"/>
              <a:buChar char="•"/>
            </a:pPr>
            <a:r>
              <a:rPr lang="en-IN" sz="1200"/>
              <a:t>Bank of Baroda – Vijaya Bank – Dena Bank already merged.</a:t>
            </a:r>
            <a:endParaRPr/>
          </a:p>
          <a:p>
            <a:pPr marL="114300" lvl="0" indent="0" algn="l" rtl="0">
              <a:lnSpc>
                <a:spcPct val="100000"/>
              </a:lnSpc>
              <a:spcBef>
                <a:spcPts val="360"/>
              </a:spcBef>
              <a:spcAft>
                <a:spcPts val="0"/>
              </a:spcAft>
              <a:buSzPts val="1800"/>
              <a:buNone/>
            </a:pPr>
            <a:r>
              <a:rPr lang="en-IN" sz="1200" b="1">
                <a:solidFill>
                  <a:srgbClr val="00B0F0"/>
                </a:solidFill>
              </a:rPr>
              <a:t>Finance Minister Nirmala Sitharaman announced </a:t>
            </a:r>
            <a:r>
              <a:rPr lang="en-IN" sz="1200" b="1" u="sng">
                <a:solidFill>
                  <a:srgbClr val="00B0F0"/>
                </a:solidFill>
              </a:rPr>
              <a:t>four new set of mergers</a:t>
            </a:r>
            <a:r>
              <a:rPr lang="en-IN" sz="1200" b="1">
                <a:solidFill>
                  <a:srgbClr val="00B0F0"/>
                </a:solidFill>
              </a:rPr>
              <a:t> on 12</a:t>
            </a:r>
            <a:r>
              <a:rPr lang="en-IN" sz="1200" b="1" baseline="30000">
                <a:solidFill>
                  <a:srgbClr val="00B0F0"/>
                </a:solidFill>
              </a:rPr>
              <a:t>th</a:t>
            </a:r>
            <a:r>
              <a:rPr lang="en-IN" sz="1200" b="1">
                <a:solidFill>
                  <a:srgbClr val="00B0F0"/>
                </a:solidFill>
              </a:rPr>
              <a:t> October 2019:</a:t>
            </a:r>
            <a:endParaRPr sz="1200" b="1">
              <a:solidFill>
                <a:srgbClr val="00B0F0"/>
              </a:solidFill>
            </a:endParaRPr>
          </a:p>
          <a:p>
            <a:pPr marL="114300" lvl="0" indent="0" algn="l" rtl="0">
              <a:lnSpc>
                <a:spcPct val="100000"/>
              </a:lnSpc>
              <a:spcBef>
                <a:spcPts val="360"/>
              </a:spcBef>
              <a:spcAft>
                <a:spcPts val="0"/>
              </a:spcAft>
              <a:buSzPts val="1800"/>
              <a:buNone/>
            </a:pPr>
            <a:endParaRPr sz="1200" b="1">
              <a:solidFill>
                <a:srgbClr val="00B0F0"/>
              </a:solidFill>
            </a:endParaRPr>
          </a:p>
          <a:p>
            <a:pPr marL="114300" lvl="0" indent="0" algn="l" rtl="0">
              <a:lnSpc>
                <a:spcPct val="100000"/>
              </a:lnSpc>
              <a:spcBef>
                <a:spcPts val="360"/>
              </a:spcBef>
              <a:spcAft>
                <a:spcPts val="0"/>
              </a:spcAft>
              <a:buSzPts val="1800"/>
              <a:buNone/>
            </a:pPr>
            <a:r>
              <a:rPr lang="en-IN" sz="1200" b="1">
                <a:solidFill>
                  <a:srgbClr val="00B0F0"/>
                </a:solidFill>
              </a:rPr>
              <a:t>Presently,</a:t>
            </a:r>
            <a:endParaRPr sz="1200" b="1">
              <a:solidFill>
                <a:srgbClr val="00B0F0"/>
              </a:solidFill>
            </a:endParaRPr>
          </a:p>
          <a:p>
            <a:pPr marL="457200" lvl="0" indent="-342900" algn="l" rtl="0">
              <a:spcBef>
                <a:spcPts val="360"/>
              </a:spcBef>
              <a:spcAft>
                <a:spcPts val="0"/>
              </a:spcAft>
              <a:buSzPts val="1800"/>
              <a:buChar char="•"/>
            </a:pPr>
            <a:r>
              <a:rPr lang="en-IN" sz="1200"/>
              <a:t>Punjab National Bank, Oriental Bank of Commerce and United Bank of India forms the nation's second-largest lender;  </a:t>
            </a:r>
            <a:endParaRPr/>
          </a:p>
          <a:p>
            <a:pPr marL="457200" lvl="0" indent="-342900" algn="l" rtl="0">
              <a:spcBef>
                <a:spcPts val="360"/>
              </a:spcBef>
              <a:spcAft>
                <a:spcPts val="0"/>
              </a:spcAft>
              <a:buSzPts val="1800"/>
              <a:buChar char="•"/>
            </a:pPr>
            <a:r>
              <a:rPr lang="en-IN" sz="1200"/>
              <a:t>Syndicate Bank merged with Canara Bank; </a:t>
            </a:r>
            <a:endParaRPr/>
          </a:p>
          <a:p>
            <a:pPr marL="457200" lvl="0" indent="-342900" algn="l" rtl="0">
              <a:spcBef>
                <a:spcPts val="360"/>
              </a:spcBef>
              <a:spcAft>
                <a:spcPts val="0"/>
              </a:spcAft>
              <a:buSzPts val="1800"/>
              <a:buChar char="•"/>
            </a:pPr>
            <a:r>
              <a:rPr lang="en-IN" sz="1200"/>
              <a:t>Andhra Bank and Corporation Bank merged with Union Bank of India; </a:t>
            </a:r>
            <a:endParaRPr/>
          </a:p>
          <a:p>
            <a:pPr marL="457200" lvl="0" indent="-342900" algn="l" rtl="0">
              <a:spcBef>
                <a:spcPts val="360"/>
              </a:spcBef>
              <a:spcAft>
                <a:spcPts val="0"/>
              </a:spcAft>
              <a:buSzPts val="1800"/>
              <a:buChar char="•"/>
            </a:pPr>
            <a:r>
              <a:rPr lang="en-IN" sz="1200"/>
              <a:t>Allahabad Bank merged with Indian  Bank; and </a:t>
            </a:r>
            <a:endParaRPr/>
          </a:p>
          <a:p>
            <a:pPr marL="457200" lvl="0" indent="-342900" algn="l" rtl="0">
              <a:spcBef>
                <a:spcPts val="360"/>
              </a:spcBef>
              <a:spcAft>
                <a:spcPts val="0"/>
              </a:spcAft>
              <a:buSzPts val="1800"/>
              <a:buChar char="•"/>
            </a:pPr>
            <a:r>
              <a:rPr lang="en-IN" sz="1200" b="1">
                <a:solidFill>
                  <a:srgbClr val="7030A0"/>
                </a:solidFill>
              </a:rPr>
              <a:t>Post mega merger, here are the six PSU banks that will remain independent: Bank of India, Central Bank of India, Indian Overseas Bank, Uco Bank, Bank of Maharashtra and Punjab and Sind Bank, which have strong regional focus, will continue as separate entities.</a:t>
            </a:r>
            <a:endParaRPr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92" name="Google Shape;92;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REGIONAL RURAL BANKS (RRBs) &amp; SMALL FINANCE BANKS</a:t>
            </a:r>
            <a:endParaRPr sz="1800"/>
          </a:p>
        </p:txBody>
      </p:sp>
      <p:sp>
        <p:nvSpPr>
          <p:cNvPr id="98" name="Google Shape;98;p14"/>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Present Position of Regional Rural Banks</a:t>
            </a:r>
            <a:endParaRPr sz="1200"/>
          </a:p>
          <a:p>
            <a:pPr marL="457200" lvl="0" indent="-342900" algn="l" rtl="0">
              <a:lnSpc>
                <a:spcPct val="100000"/>
              </a:lnSpc>
              <a:spcBef>
                <a:spcPts val="360"/>
              </a:spcBef>
              <a:spcAft>
                <a:spcPts val="0"/>
              </a:spcAft>
              <a:buSzPts val="1800"/>
              <a:buChar char="•"/>
            </a:pPr>
            <a:r>
              <a:rPr lang="en-IN" sz="1200"/>
              <a:t>Share Capital Pattern 50% Central Govt. 15% Respective State Govt. and 35% Sponsoring Bank.  </a:t>
            </a:r>
            <a:endParaRPr/>
          </a:p>
          <a:p>
            <a:pPr marL="457200" lvl="0" indent="-342900" algn="l" rtl="0">
              <a:lnSpc>
                <a:spcPct val="100000"/>
              </a:lnSpc>
              <a:spcBef>
                <a:spcPts val="360"/>
              </a:spcBef>
              <a:spcAft>
                <a:spcPts val="0"/>
              </a:spcAft>
              <a:buSzPts val="1800"/>
              <a:buChar char="•"/>
            </a:pPr>
            <a:r>
              <a:rPr lang="en-IN" sz="1200"/>
              <a:t>Presently there are 56 and intended to bring it to 38 - 21 RRBs were amalgamated upto this year.</a:t>
            </a:r>
            <a:endParaRPr/>
          </a:p>
          <a:p>
            <a:pPr marL="114300" lvl="0" indent="0" algn="l" rtl="0">
              <a:lnSpc>
                <a:spcPct val="100000"/>
              </a:lnSpc>
              <a:spcBef>
                <a:spcPts val="360"/>
              </a:spcBef>
              <a:spcAft>
                <a:spcPts val="0"/>
              </a:spcAft>
              <a:buSzPts val="1800"/>
              <a:buNone/>
            </a:pPr>
            <a:r>
              <a:rPr lang="en-IN" sz="1200" b="1"/>
              <a:t>SMALL FINANCE BANKS</a:t>
            </a:r>
            <a:endParaRPr sz="1200" b="1"/>
          </a:p>
          <a:p>
            <a:pPr marL="457200" lvl="0" indent="-342900" algn="l" rtl="0">
              <a:lnSpc>
                <a:spcPct val="100000"/>
              </a:lnSpc>
              <a:spcBef>
                <a:spcPts val="360"/>
              </a:spcBef>
              <a:spcAft>
                <a:spcPts val="0"/>
              </a:spcAft>
              <a:buClr>
                <a:schemeClr val="dk1"/>
              </a:buClr>
              <a:buSzPts val="1800"/>
              <a:buChar char="•"/>
            </a:pPr>
            <a:r>
              <a:rPr lang="en-IN" sz="1200" u="sng"/>
              <a:t>RBI Guidelines</a:t>
            </a:r>
            <a:endParaRPr sz="1200" u="sng"/>
          </a:p>
          <a:p>
            <a:pPr marL="457200" lvl="0" indent="-342900" algn="l" rtl="0">
              <a:lnSpc>
                <a:spcPct val="100000"/>
              </a:lnSpc>
              <a:spcBef>
                <a:spcPts val="360"/>
              </a:spcBef>
              <a:spcAft>
                <a:spcPts val="0"/>
              </a:spcAft>
              <a:buSzPts val="1800"/>
              <a:buChar char="•"/>
            </a:pPr>
            <a:r>
              <a:rPr lang="en-IN" sz="1200">
                <a:solidFill>
                  <a:schemeClr val="dk1"/>
                </a:solidFill>
              </a:rPr>
              <a:t>Existing Non-Banking Financial Companies (NBFC), Micro Finance Institution</a:t>
            </a:r>
            <a:r>
              <a:rPr lang="en-IN" sz="1200"/>
              <a:t>s (MFI) and Local Area Banks (LAB) can apply to become small finance banks.</a:t>
            </a:r>
            <a:endParaRPr/>
          </a:p>
          <a:p>
            <a:pPr marL="457200" lvl="0" indent="-342900" algn="l" rtl="0">
              <a:lnSpc>
                <a:spcPct val="100000"/>
              </a:lnSpc>
              <a:spcBef>
                <a:spcPts val="360"/>
              </a:spcBef>
              <a:spcAft>
                <a:spcPts val="0"/>
              </a:spcAft>
              <a:buSzPts val="1800"/>
              <a:buChar char="•"/>
            </a:pPr>
            <a:r>
              <a:rPr lang="en-IN" sz="1200"/>
              <a:t>They can be promoted either by Individuals, Corporate, Trusts or Societies – Established as Public Limited Cos. </a:t>
            </a:r>
            <a:endParaRPr sz="1200"/>
          </a:p>
          <a:p>
            <a:pPr marL="457200" lvl="0" indent="-342900" algn="l" rtl="0">
              <a:lnSpc>
                <a:spcPct val="100000"/>
              </a:lnSpc>
              <a:spcBef>
                <a:spcPts val="360"/>
              </a:spcBef>
              <a:spcAft>
                <a:spcPts val="0"/>
              </a:spcAft>
              <a:buSzPts val="1800"/>
              <a:buChar char="•"/>
            </a:pPr>
            <a:r>
              <a:rPr lang="en-IN" sz="1200"/>
              <a:t>They are governed by the provisions of </a:t>
            </a:r>
            <a:r>
              <a:rPr lang="en-IN" sz="1200" u="sng">
                <a:solidFill>
                  <a:schemeClr val="hlink"/>
                </a:solidFill>
                <a:hlinkClick r:id="rId3"/>
              </a:rPr>
              <a:t>Reserve Bank of India Act, 1934</a:t>
            </a:r>
            <a:r>
              <a:rPr lang="en-IN" sz="1200"/>
              <a:t>, </a:t>
            </a:r>
            <a:r>
              <a:rPr lang="en-IN" sz="1200" u="sng">
                <a:solidFill>
                  <a:schemeClr val="hlink"/>
                </a:solidFill>
                <a:hlinkClick r:id="rId4"/>
              </a:rPr>
              <a:t>Banking Regulation Act, 1949</a:t>
            </a:r>
            <a:r>
              <a:rPr lang="en-IN" sz="1200"/>
              <a:t> and other relevant statutes.</a:t>
            </a:r>
            <a:endParaRPr/>
          </a:p>
          <a:p>
            <a:pPr marL="457200" lvl="0" indent="-342900" algn="l" rtl="0">
              <a:lnSpc>
                <a:spcPct val="100000"/>
              </a:lnSpc>
              <a:spcBef>
                <a:spcPts val="360"/>
              </a:spcBef>
              <a:spcAft>
                <a:spcPts val="0"/>
              </a:spcAft>
              <a:buSzPts val="1800"/>
              <a:buChar char="•"/>
            </a:pPr>
            <a:r>
              <a:rPr lang="en-IN" sz="1200"/>
              <a:t>The banks will not be restricted to any region. They were set up with the twin objectives of providing an institutional mechanism for promoting rural and semi urban savings and for providing credit for viable economic activities in the local areas.</a:t>
            </a:r>
            <a:endParaRPr/>
          </a:p>
          <a:p>
            <a:pPr marL="457200" lvl="0" indent="-342900" algn="l" rtl="0">
              <a:lnSpc>
                <a:spcPct val="100000"/>
              </a:lnSpc>
              <a:spcBef>
                <a:spcPts val="360"/>
              </a:spcBef>
              <a:spcAft>
                <a:spcPts val="0"/>
              </a:spcAft>
              <a:buSzPts val="1800"/>
              <a:buChar char="•"/>
            </a:pPr>
            <a:r>
              <a:rPr lang="en-IN" sz="1200"/>
              <a:t>75% of its net credits should be in Priority Sector lending and 50% of the loans in its portfolio must in </a:t>
            </a:r>
            <a:r>
              <a:rPr lang="en-IN" sz="1200" u="sng">
                <a:solidFill>
                  <a:schemeClr val="hlink"/>
                </a:solidFill>
                <a:hlinkClick r:id="rId5"/>
              </a:rPr>
              <a:t>₹</a:t>
            </a:r>
            <a:r>
              <a:rPr lang="en-IN" sz="1200"/>
              <a:t>25 lakh (US$38,000) range. The firms must have a capital of at least </a:t>
            </a:r>
            <a:r>
              <a:rPr lang="en-IN" sz="1200" u="sng">
                <a:solidFill>
                  <a:schemeClr val="hlink"/>
                </a:solidFill>
                <a:hlinkClick r:id="rId5"/>
              </a:rPr>
              <a:t>₹</a:t>
            </a:r>
            <a:r>
              <a:rPr lang="en-IN" sz="1200"/>
              <a:t>100 crore (US$15 million).</a:t>
            </a:r>
            <a:endParaRPr/>
          </a:p>
          <a:p>
            <a:pPr marL="114300" lvl="0" indent="0" algn="l" rtl="0">
              <a:lnSpc>
                <a:spcPct val="100000"/>
              </a:lnSpc>
              <a:spcBef>
                <a:spcPts val="360"/>
              </a:spcBef>
              <a:spcAft>
                <a:spcPts val="0"/>
              </a:spcAft>
              <a:buSzPts val="1800"/>
              <a:buNone/>
            </a:pPr>
            <a:endParaRPr/>
          </a:p>
        </p:txBody>
      </p:sp>
      <p:sp>
        <p:nvSpPr>
          <p:cNvPr id="99" name="Google Shape;99;p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SMALL FINANCE BANK</a:t>
            </a:r>
            <a:endParaRPr sz="1800"/>
          </a:p>
        </p:txBody>
      </p:sp>
      <p:sp>
        <p:nvSpPr>
          <p:cNvPr id="105" name="Google Shape;105;p15"/>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Char char="•"/>
            </a:pPr>
            <a:r>
              <a:rPr lang="en-IN" sz="1200"/>
              <a:t>The Promoters should have 10 years' experience in banking and finance. The promoters stake in the paid-up Equity Capital will be at least 40% initially but must be brought down to 26% in 12 years. Joint ventures are not permitted. Foreign share holding will be allowed in these banks as per the rules for Foreign Direct Investment (FDI) in private banks in India.</a:t>
            </a:r>
            <a:endParaRPr/>
          </a:p>
          <a:p>
            <a:pPr marL="457200" lvl="0" indent="-342900" algn="l" rtl="0">
              <a:lnSpc>
                <a:spcPct val="100000"/>
              </a:lnSpc>
              <a:spcBef>
                <a:spcPts val="360"/>
              </a:spcBef>
              <a:spcAft>
                <a:spcPts val="0"/>
              </a:spcAft>
              <a:buClr>
                <a:schemeClr val="dk1"/>
              </a:buClr>
              <a:buSzPts val="1800"/>
              <a:buChar char="•"/>
            </a:pPr>
            <a:r>
              <a:rPr lang="en-IN" sz="1200"/>
              <a:t>At Net Worth of </a:t>
            </a:r>
            <a:r>
              <a:rPr lang="en-IN" sz="1200" u="sng">
                <a:solidFill>
                  <a:schemeClr val="hlink"/>
                </a:solidFill>
                <a:hlinkClick r:id="rId3"/>
              </a:rPr>
              <a:t>₹</a:t>
            </a:r>
            <a:r>
              <a:rPr lang="en-IN" sz="1200"/>
              <a:t>500 crore (US$77 million), Listing will be mandatory within three years. Small finance banks having net worth of below </a:t>
            </a:r>
            <a:r>
              <a:rPr lang="en-IN" sz="1200" u="sng">
                <a:solidFill>
                  <a:schemeClr val="hlink"/>
                </a:solidFill>
                <a:hlinkClick r:id="rId3"/>
              </a:rPr>
              <a:t>₹</a:t>
            </a:r>
            <a:r>
              <a:rPr lang="en-IN" sz="1200"/>
              <a:t>500 crore (US$77 million) could also get their shares listed voluntarily.</a:t>
            </a:r>
            <a:endParaRPr/>
          </a:p>
          <a:p>
            <a:pPr marL="114300" lvl="0" indent="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r>
              <a:rPr lang="en-IN" sz="1200" b="1"/>
              <a:t>Presently functioning Small Finance Banks</a:t>
            </a:r>
            <a:endParaRPr/>
          </a:p>
          <a:p>
            <a:pPr marL="114300" lvl="0" indent="0" algn="l" rtl="0">
              <a:lnSpc>
                <a:spcPct val="100000"/>
              </a:lnSpc>
              <a:spcBef>
                <a:spcPts val="360"/>
              </a:spcBef>
              <a:spcAft>
                <a:spcPts val="0"/>
              </a:spcAft>
              <a:buSzPts val="1800"/>
              <a:buNone/>
            </a:pPr>
            <a:endParaRPr sz="1200" b="1"/>
          </a:p>
          <a:p>
            <a:pPr marL="457200" lvl="0" indent="-342900" algn="l" rtl="0">
              <a:lnSpc>
                <a:spcPct val="100000"/>
              </a:lnSpc>
              <a:spcBef>
                <a:spcPts val="360"/>
              </a:spcBef>
              <a:spcAft>
                <a:spcPts val="0"/>
              </a:spcAft>
              <a:buSzPts val="1800"/>
              <a:buChar char="•"/>
            </a:pPr>
            <a:r>
              <a:rPr lang="en-IN" sz="1200"/>
              <a:t>Jana Small Finance Bank</a:t>
            </a:r>
            <a:endParaRPr/>
          </a:p>
          <a:p>
            <a:pPr marL="457200" lvl="0" indent="-342900" algn="l" rtl="0">
              <a:lnSpc>
                <a:spcPct val="100000"/>
              </a:lnSpc>
              <a:spcBef>
                <a:spcPts val="360"/>
              </a:spcBef>
              <a:spcAft>
                <a:spcPts val="0"/>
              </a:spcAft>
              <a:buSzPts val="1800"/>
              <a:buChar char="•"/>
            </a:pPr>
            <a:r>
              <a:rPr lang="en-IN" sz="1200"/>
              <a:t>Suryoday Small Finance Bank</a:t>
            </a:r>
            <a:endParaRPr/>
          </a:p>
          <a:p>
            <a:pPr marL="457200" lvl="0" indent="-342900" algn="l" rtl="0">
              <a:lnSpc>
                <a:spcPct val="100000"/>
              </a:lnSpc>
              <a:spcBef>
                <a:spcPts val="360"/>
              </a:spcBef>
              <a:spcAft>
                <a:spcPts val="0"/>
              </a:spcAft>
              <a:buSzPts val="1800"/>
              <a:buChar char="•"/>
            </a:pPr>
            <a:r>
              <a:rPr lang="en-IN" sz="1200"/>
              <a:t>Equitas Small Finance Bank</a:t>
            </a:r>
            <a:endParaRPr/>
          </a:p>
          <a:p>
            <a:pPr marL="457200" lvl="0" indent="-342900" algn="l" rtl="0">
              <a:lnSpc>
                <a:spcPct val="100000"/>
              </a:lnSpc>
              <a:spcBef>
                <a:spcPts val="360"/>
              </a:spcBef>
              <a:spcAft>
                <a:spcPts val="0"/>
              </a:spcAft>
              <a:buSzPts val="1800"/>
              <a:buChar char="•"/>
            </a:pPr>
            <a:r>
              <a:rPr lang="en-IN" sz="1200"/>
              <a:t>Esaf Small Finance Bank</a:t>
            </a:r>
            <a:endParaRPr/>
          </a:p>
          <a:p>
            <a:pPr marL="457200" lvl="0" indent="-342900" algn="l" rtl="0">
              <a:lnSpc>
                <a:spcPct val="100000"/>
              </a:lnSpc>
              <a:spcBef>
                <a:spcPts val="360"/>
              </a:spcBef>
              <a:spcAft>
                <a:spcPts val="0"/>
              </a:spcAft>
              <a:buSzPts val="1800"/>
              <a:buChar char="•"/>
            </a:pPr>
            <a:r>
              <a:rPr lang="en-IN" sz="1200"/>
              <a:t>Fincare Small Finance Bank</a:t>
            </a:r>
            <a:endParaRPr/>
          </a:p>
          <a:p>
            <a:pPr marL="457200" lvl="0" indent="-228600" algn="l" rtl="0">
              <a:lnSpc>
                <a:spcPct val="100000"/>
              </a:lnSpc>
              <a:spcBef>
                <a:spcPts val="360"/>
              </a:spcBef>
              <a:spcAft>
                <a:spcPts val="0"/>
              </a:spcAft>
              <a:buClr>
                <a:schemeClr val="dk1"/>
              </a:buClr>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106" name="Google Shape;106;p1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PAYMENT BANKS</a:t>
            </a:r>
            <a:endParaRPr sz="1800"/>
          </a:p>
        </p:txBody>
      </p:sp>
      <p:sp>
        <p:nvSpPr>
          <p:cNvPr id="112" name="Google Shape;112;p16"/>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PAYMENT BANKS</a:t>
            </a:r>
            <a:endParaRPr sz="1200" b="1"/>
          </a:p>
          <a:p>
            <a:pPr marL="457200" lvl="0" indent="-342900" algn="l" rtl="0">
              <a:lnSpc>
                <a:spcPct val="100000"/>
              </a:lnSpc>
              <a:spcBef>
                <a:spcPts val="360"/>
              </a:spcBef>
              <a:spcAft>
                <a:spcPts val="0"/>
              </a:spcAft>
              <a:buClr>
                <a:schemeClr val="dk1"/>
              </a:buClr>
              <a:buSzPts val="1800"/>
              <a:buChar char="•"/>
            </a:pPr>
            <a:r>
              <a:rPr lang="en-IN" sz="1200"/>
              <a:t>These include transaction support, cash management, and cross-selling of other financial products, such as insurance and mutual funds. To be sure, Payment Banks begin with a distinct regulatory handicap. Unlike traditional lenders, Payment Banks cannot keep public deposits of more than Rs 1 lakh with them.  </a:t>
            </a:r>
            <a:endParaRPr/>
          </a:p>
          <a:p>
            <a:pPr marL="457200" lvl="0" indent="-342900" algn="l" rtl="0">
              <a:lnSpc>
                <a:spcPct val="100000"/>
              </a:lnSpc>
              <a:spcBef>
                <a:spcPts val="360"/>
              </a:spcBef>
              <a:spcAft>
                <a:spcPts val="0"/>
              </a:spcAft>
              <a:buClr>
                <a:schemeClr val="dk1"/>
              </a:buClr>
              <a:buSzPts val="1800"/>
              <a:buChar char="•"/>
            </a:pPr>
            <a:r>
              <a:rPr lang="en-IN" sz="1200"/>
              <a:t>Accept only CASA Deposits – ATM Card </a:t>
            </a:r>
            <a:endParaRPr/>
          </a:p>
          <a:p>
            <a:pPr marL="457200" lvl="0" indent="-342900" algn="l" rtl="0">
              <a:lnSpc>
                <a:spcPct val="100000"/>
              </a:lnSpc>
              <a:spcBef>
                <a:spcPts val="360"/>
              </a:spcBef>
              <a:spcAft>
                <a:spcPts val="0"/>
              </a:spcAft>
              <a:buClr>
                <a:schemeClr val="dk1"/>
              </a:buClr>
              <a:buSzPts val="1800"/>
              <a:buChar char="•"/>
            </a:pPr>
            <a:r>
              <a:rPr lang="en-IN" sz="1200"/>
              <a:t>No Credit/Loan Facility/Credit Card</a:t>
            </a:r>
            <a:endParaRPr/>
          </a:p>
          <a:p>
            <a:pPr marL="457200" lvl="0" indent="-342900" algn="l" rtl="0">
              <a:lnSpc>
                <a:spcPct val="100000"/>
              </a:lnSpc>
              <a:spcBef>
                <a:spcPts val="360"/>
              </a:spcBef>
              <a:spcAft>
                <a:spcPts val="0"/>
              </a:spcAft>
              <a:buClr>
                <a:schemeClr val="dk1"/>
              </a:buClr>
              <a:buSzPts val="1800"/>
              <a:buChar char="•"/>
            </a:pPr>
            <a:r>
              <a:rPr lang="en-IN" sz="1200"/>
              <a:t>Restriction with regard to its investments</a:t>
            </a:r>
            <a:endParaRPr/>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r>
              <a:rPr lang="en-IN" sz="1200"/>
              <a:t>The following is the list of active Payments Banks:</a:t>
            </a:r>
            <a:endParaRPr sz="1200"/>
          </a:p>
          <a:p>
            <a:pPr marL="457200" lvl="0" indent="-342900" algn="l" rtl="0">
              <a:lnSpc>
                <a:spcPct val="100000"/>
              </a:lnSpc>
              <a:spcBef>
                <a:spcPts val="360"/>
              </a:spcBef>
              <a:spcAft>
                <a:spcPts val="0"/>
              </a:spcAft>
              <a:buClr>
                <a:schemeClr val="dk1"/>
              </a:buClr>
              <a:buSzPts val="1800"/>
              <a:buChar char="•"/>
            </a:pPr>
            <a:r>
              <a:rPr lang="en-IN" sz="1200"/>
              <a:t>Airtel Payments Bank</a:t>
            </a:r>
            <a:endParaRPr/>
          </a:p>
          <a:p>
            <a:pPr marL="457200" lvl="0" indent="-342900" algn="l" rtl="0">
              <a:lnSpc>
                <a:spcPct val="100000"/>
              </a:lnSpc>
              <a:spcBef>
                <a:spcPts val="360"/>
              </a:spcBef>
              <a:spcAft>
                <a:spcPts val="0"/>
              </a:spcAft>
              <a:buClr>
                <a:schemeClr val="dk1"/>
              </a:buClr>
              <a:buSzPts val="1800"/>
              <a:buChar char="•"/>
            </a:pPr>
            <a:r>
              <a:rPr lang="en-IN" sz="1200"/>
              <a:t>India Post Payments Bank</a:t>
            </a:r>
            <a:endParaRPr/>
          </a:p>
          <a:p>
            <a:pPr marL="457200" lvl="0" indent="-342900" algn="l" rtl="0">
              <a:lnSpc>
                <a:spcPct val="100000"/>
              </a:lnSpc>
              <a:spcBef>
                <a:spcPts val="360"/>
              </a:spcBef>
              <a:spcAft>
                <a:spcPts val="0"/>
              </a:spcAft>
              <a:buClr>
                <a:schemeClr val="dk1"/>
              </a:buClr>
              <a:buSzPts val="1800"/>
              <a:buChar char="•"/>
            </a:pPr>
            <a:r>
              <a:rPr lang="en-IN" sz="1200"/>
              <a:t>Fino Payments Bank, Jio Payments Bank</a:t>
            </a:r>
            <a:endParaRPr/>
          </a:p>
          <a:p>
            <a:pPr marL="457200" lvl="0" indent="-342900" algn="l" rtl="0">
              <a:lnSpc>
                <a:spcPct val="100000"/>
              </a:lnSpc>
              <a:spcBef>
                <a:spcPts val="360"/>
              </a:spcBef>
              <a:spcAft>
                <a:spcPts val="0"/>
              </a:spcAft>
              <a:buClr>
                <a:schemeClr val="dk1"/>
              </a:buClr>
              <a:buSzPts val="1800"/>
              <a:buChar char="•"/>
            </a:pPr>
            <a:r>
              <a:rPr lang="en-IN" sz="1200"/>
              <a:t>Paytm Payments Bank, NSDL Payments Bank</a:t>
            </a:r>
            <a:endParaRPr sz="1200" b="1"/>
          </a:p>
          <a:p>
            <a:pPr marL="114300" lvl="0" indent="0" algn="l" rtl="0">
              <a:lnSpc>
                <a:spcPct val="100000"/>
              </a:lnSpc>
              <a:spcBef>
                <a:spcPts val="360"/>
              </a:spcBef>
              <a:spcAft>
                <a:spcPts val="0"/>
              </a:spcAft>
              <a:buSzPts val="1800"/>
              <a:buNone/>
            </a:pPr>
            <a:endParaRPr/>
          </a:p>
        </p:txBody>
      </p:sp>
      <p:sp>
        <p:nvSpPr>
          <p:cNvPr id="113" name="Google Shape;113;p1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Evolution of Bank - CORE BANKING - CBS</a:t>
            </a:r>
            <a:endParaRPr sz="1800"/>
          </a:p>
        </p:txBody>
      </p:sp>
      <p:sp>
        <p:nvSpPr>
          <p:cNvPr id="119" name="Google Shape;119;p17"/>
          <p:cNvSpPr txBox="1">
            <a:spLocks noGrp="1"/>
          </p:cNvSpPr>
          <p:nvPr>
            <p:ph type="body" idx="1"/>
          </p:nvPr>
        </p:nvSpPr>
        <p:spPr>
          <a:xfrm>
            <a:off x="457200" y="783775"/>
            <a:ext cx="8229600" cy="38775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INTRODUCTION AND USES</a:t>
            </a:r>
            <a:endParaRPr/>
          </a:p>
          <a:p>
            <a:pPr marL="114300" lvl="0" indent="0" algn="l" rtl="0">
              <a:lnSpc>
                <a:spcPct val="100000"/>
              </a:lnSpc>
              <a:spcBef>
                <a:spcPts val="360"/>
              </a:spcBef>
              <a:spcAft>
                <a:spcPts val="0"/>
              </a:spcAft>
              <a:buSzPts val="1800"/>
              <a:buNone/>
            </a:pPr>
            <a:endParaRPr sz="1200" b="1"/>
          </a:p>
          <a:p>
            <a:pPr marL="457200" lvl="0" indent="-342900" algn="l" rtl="0">
              <a:lnSpc>
                <a:spcPct val="100000"/>
              </a:lnSpc>
              <a:spcBef>
                <a:spcPts val="360"/>
              </a:spcBef>
              <a:spcAft>
                <a:spcPts val="0"/>
              </a:spcAft>
              <a:buSzPts val="1800"/>
              <a:buChar char="•"/>
            </a:pPr>
            <a:r>
              <a:rPr lang="en-IN" sz="1200" b="1"/>
              <a:t>Barter System – Tokens with usage of skins of animals – metals – coins – paper currency</a:t>
            </a:r>
            <a:endParaRPr/>
          </a:p>
          <a:p>
            <a:pPr marL="457200" lvl="0" indent="-342900" algn="l" rtl="0">
              <a:lnSpc>
                <a:spcPct val="100000"/>
              </a:lnSpc>
              <a:spcBef>
                <a:spcPts val="360"/>
              </a:spcBef>
              <a:spcAft>
                <a:spcPts val="0"/>
              </a:spcAft>
              <a:buSzPts val="1800"/>
              <a:buChar char="•"/>
            </a:pPr>
            <a:r>
              <a:rPr lang="en-IN" sz="1200"/>
              <a:t>Keeping the transactions mentally – recording in book of accounts</a:t>
            </a:r>
            <a:endParaRPr/>
          </a:p>
          <a:p>
            <a:pPr marL="457200" lvl="0" indent="-342900" algn="l" rtl="0">
              <a:lnSpc>
                <a:spcPct val="100000"/>
              </a:lnSpc>
              <a:spcBef>
                <a:spcPts val="360"/>
              </a:spcBef>
              <a:spcAft>
                <a:spcPts val="0"/>
              </a:spcAft>
              <a:buSzPts val="1800"/>
              <a:buChar char="•"/>
            </a:pPr>
            <a:r>
              <a:rPr lang="en-IN" sz="1200" b="1"/>
              <a:t>Branch Banking in manual environment</a:t>
            </a:r>
            <a:endParaRPr/>
          </a:p>
          <a:p>
            <a:pPr marL="457200" lvl="0" indent="-342900" algn="l" rtl="0">
              <a:lnSpc>
                <a:spcPct val="100000"/>
              </a:lnSpc>
              <a:spcBef>
                <a:spcPts val="360"/>
              </a:spcBef>
              <a:spcAft>
                <a:spcPts val="0"/>
              </a:spcAft>
              <a:buSzPts val="1800"/>
              <a:buChar char="•"/>
            </a:pPr>
            <a:r>
              <a:rPr lang="en-IN" sz="1200"/>
              <a:t>Standalone module at Branch level computerisation – ALPMS (Advance Ledger Posting Machines)</a:t>
            </a:r>
            <a:endParaRPr/>
          </a:p>
          <a:p>
            <a:pPr marL="457200" lvl="0" indent="-342900" algn="l" rtl="0">
              <a:lnSpc>
                <a:spcPct val="100000"/>
              </a:lnSpc>
              <a:spcBef>
                <a:spcPts val="360"/>
              </a:spcBef>
              <a:spcAft>
                <a:spcPts val="0"/>
              </a:spcAft>
              <a:buSzPts val="1800"/>
              <a:buChar char="•"/>
            </a:pPr>
            <a:r>
              <a:rPr lang="en-IN" sz="1200" b="1"/>
              <a:t>Brains – TBC (Total Branch Computerisation) - CORE BANKING</a:t>
            </a:r>
            <a:r>
              <a:rPr lang="en-IN" sz="1200"/>
              <a:t> </a:t>
            </a:r>
            <a:endParaRPr sz="1200"/>
          </a:p>
          <a:p>
            <a:pPr marL="457200" lvl="0" indent="-342900" algn="l" rtl="0">
              <a:lnSpc>
                <a:spcPct val="100000"/>
              </a:lnSpc>
              <a:spcBef>
                <a:spcPts val="360"/>
              </a:spcBef>
              <a:spcAft>
                <a:spcPts val="0"/>
              </a:spcAft>
              <a:buSzPts val="1800"/>
              <a:buChar char="•"/>
            </a:pPr>
            <a:r>
              <a:rPr lang="en-IN" sz="1200"/>
              <a:t>Posting of Transactions – Recording of Transactions – Storage</a:t>
            </a:r>
            <a:endParaRPr/>
          </a:p>
          <a:p>
            <a:pPr marL="457200" lvl="0" indent="-342900" algn="l" rtl="0">
              <a:lnSpc>
                <a:spcPct val="100000"/>
              </a:lnSpc>
              <a:spcBef>
                <a:spcPts val="360"/>
              </a:spcBef>
              <a:spcAft>
                <a:spcPts val="0"/>
              </a:spcAft>
              <a:buSzPts val="1800"/>
              <a:buChar char="•"/>
            </a:pPr>
            <a:r>
              <a:rPr lang="en-IN" sz="1200"/>
              <a:t>All types of regular both age-old </a:t>
            </a:r>
            <a:r>
              <a:rPr lang="en-IN" sz="1200" b="1"/>
              <a:t>Banking Business </a:t>
            </a:r>
            <a:r>
              <a:rPr lang="en-IN" sz="1200"/>
              <a:t>and </a:t>
            </a:r>
            <a:r>
              <a:rPr lang="en-IN" sz="1200" b="1"/>
              <a:t>Modern Banking Business</a:t>
            </a:r>
            <a:endParaRPr/>
          </a:p>
          <a:p>
            <a:pPr marL="457200" lvl="0" indent="-342900" algn="l" rtl="0">
              <a:lnSpc>
                <a:spcPct val="100000"/>
              </a:lnSpc>
              <a:spcBef>
                <a:spcPts val="360"/>
              </a:spcBef>
              <a:spcAft>
                <a:spcPts val="0"/>
              </a:spcAft>
              <a:buSzPts val="1800"/>
              <a:buChar char="•"/>
            </a:pPr>
            <a:r>
              <a:rPr lang="en-IN" sz="1200" b="1"/>
              <a:t>Brick and Mortar Model to Anywhere Banking </a:t>
            </a:r>
            <a:endParaRPr/>
          </a:p>
          <a:p>
            <a:pPr marL="457200" lvl="0" indent="-342900" algn="l" rtl="0">
              <a:lnSpc>
                <a:spcPct val="100000"/>
              </a:lnSpc>
              <a:spcBef>
                <a:spcPts val="360"/>
              </a:spcBef>
              <a:spcAft>
                <a:spcPts val="0"/>
              </a:spcAft>
              <a:buSzPts val="1800"/>
              <a:buChar char="•"/>
            </a:pPr>
            <a:r>
              <a:rPr lang="en-IN" sz="1200"/>
              <a:t>At Branches, ATM (Automated Teller Machine), Net Banking, Mobile Banking, POS, Debit Cards, Credit Cards, E-Wallets etc. – Alternate Delievery Channels without visiting Bank Branches</a:t>
            </a:r>
            <a:endParaRPr/>
          </a:p>
          <a:p>
            <a:pPr marL="457200" lvl="0" indent="-342900" algn="l" rtl="0">
              <a:lnSpc>
                <a:spcPct val="100000"/>
              </a:lnSpc>
              <a:spcBef>
                <a:spcPts val="360"/>
              </a:spcBef>
              <a:spcAft>
                <a:spcPts val="0"/>
              </a:spcAft>
              <a:buSzPts val="1800"/>
              <a:buChar char="•"/>
            </a:pPr>
            <a:r>
              <a:rPr lang="en-IN" sz="1200" b="1"/>
              <a:t>Easy, Neat, Accurate, Understandable </a:t>
            </a:r>
            <a:endParaRPr/>
          </a:p>
          <a:p>
            <a:pPr marL="457200" lvl="0" indent="-342900" algn="l" rtl="0">
              <a:lnSpc>
                <a:spcPct val="100000"/>
              </a:lnSpc>
              <a:spcBef>
                <a:spcPts val="360"/>
              </a:spcBef>
              <a:spcAft>
                <a:spcPts val="0"/>
              </a:spcAft>
              <a:buSzPts val="1800"/>
              <a:buChar char="•"/>
            </a:pPr>
            <a:r>
              <a:rPr lang="en-IN" sz="1200" b="1"/>
              <a:t>Anywhere Anytime operations at the convinence</a:t>
            </a:r>
            <a:endParaRPr sz="1200" b="1"/>
          </a:p>
          <a:p>
            <a:pPr marL="457200" lvl="0" indent="-342900" algn="l" rtl="0">
              <a:lnSpc>
                <a:spcPct val="100000"/>
              </a:lnSpc>
              <a:spcBef>
                <a:spcPts val="360"/>
              </a:spcBef>
              <a:spcAft>
                <a:spcPts val="0"/>
              </a:spcAft>
              <a:buSzPts val="1800"/>
              <a:buChar char="•"/>
            </a:pPr>
            <a:r>
              <a:rPr lang="en-IN" sz="1200" b="1"/>
              <a:t>According to the requirements of the end users – Statement of Account – Reconciliation etc.</a:t>
            </a:r>
            <a:endParaRPr/>
          </a:p>
          <a:p>
            <a:pPr marL="457200" lvl="0" indent="-342900" algn="l" rtl="0">
              <a:lnSpc>
                <a:spcPct val="100000"/>
              </a:lnSpc>
              <a:spcBef>
                <a:spcPts val="360"/>
              </a:spcBef>
              <a:spcAft>
                <a:spcPts val="0"/>
              </a:spcAft>
              <a:buSzPts val="1800"/>
              <a:buChar char="•"/>
            </a:pPr>
            <a:r>
              <a:rPr lang="en-IN" sz="1200" b="1"/>
              <a:t>Controlling systems – Issuance of Cheque Books – Payment of Cheques – Collection and Clearing Operations</a:t>
            </a:r>
            <a:endParaRPr/>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120" name="Google Shape;120;p1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CORE BANKING - CBS</a:t>
            </a:r>
            <a:endParaRPr sz="1800"/>
          </a:p>
        </p:txBody>
      </p:sp>
      <p:sp>
        <p:nvSpPr>
          <p:cNvPr id="126" name="Google Shape;126;p18"/>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a:p>
          <a:p>
            <a:pPr marL="457200" lvl="0" indent="-342900" algn="l" rtl="0">
              <a:lnSpc>
                <a:spcPct val="100000"/>
              </a:lnSpc>
              <a:spcBef>
                <a:spcPts val="360"/>
              </a:spcBef>
              <a:spcAft>
                <a:spcPts val="0"/>
              </a:spcAft>
              <a:buSzPts val="1800"/>
              <a:buChar char="•"/>
            </a:pPr>
            <a:r>
              <a:rPr lang="en-IN" sz="1200" b="1"/>
              <a:t>CORE BANKING</a:t>
            </a:r>
            <a:r>
              <a:rPr lang="en-IN" sz="1200"/>
              <a:t> is a banking service provided by a group of networked bank branches where customers may access their bank account and perform basic transactions from any of the branch office of that Bank. </a:t>
            </a:r>
            <a:endParaRPr/>
          </a:p>
          <a:p>
            <a:pPr marL="457200" lvl="0" indent="-342900" algn="l" rtl="0">
              <a:lnSpc>
                <a:spcPct val="100000"/>
              </a:lnSpc>
              <a:spcBef>
                <a:spcPts val="360"/>
              </a:spcBef>
              <a:spcAft>
                <a:spcPts val="0"/>
              </a:spcAft>
              <a:buSzPts val="1800"/>
              <a:buChar char="•"/>
            </a:pPr>
            <a:r>
              <a:rPr lang="en-IN" sz="1200"/>
              <a:t>The core banking services rely heavily on computer and network technology to allow a bank to centralise its record keeping and allow access from any location. The development of banking has allowed Core Banking Solution software to be developed.  Each bank chooses their software solution from different vendors depending upon their needs through procurement process. </a:t>
            </a:r>
            <a:endParaRPr/>
          </a:p>
          <a:p>
            <a:pPr marL="457200" lvl="0" indent="-342900" algn="l" rtl="0">
              <a:lnSpc>
                <a:spcPct val="100000"/>
              </a:lnSpc>
              <a:spcBef>
                <a:spcPts val="360"/>
              </a:spcBef>
              <a:spcAft>
                <a:spcPts val="0"/>
              </a:spcAft>
              <a:buSzPts val="1800"/>
              <a:buChar char="•"/>
            </a:pPr>
            <a:r>
              <a:rPr lang="en-IN" sz="1200"/>
              <a:t>Core Banking became possible with the advent of computer and telecommunications (network) technology that allowed information to be shared between bank branches quickly, effectively and efficiently.  So also with any of the end-users</a:t>
            </a:r>
            <a:endParaRPr sz="1200"/>
          </a:p>
          <a:p>
            <a:pPr marL="457200" lvl="0" indent="-342900" algn="l" rtl="0">
              <a:lnSpc>
                <a:spcPct val="100000"/>
              </a:lnSpc>
              <a:spcBef>
                <a:spcPts val="360"/>
              </a:spcBef>
              <a:spcAft>
                <a:spcPts val="0"/>
              </a:spcAft>
              <a:buSzPts val="1800"/>
              <a:buChar char="•"/>
            </a:pPr>
            <a:r>
              <a:rPr lang="en-IN" sz="1200"/>
              <a:t>Garner defines Core Banking System as a back end system that processes daily banking transactions and posts updates to accounts and other financial records.</a:t>
            </a:r>
            <a:endParaRPr/>
          </a:p>
          <a:p>
            <a:pPr marL="457200" lvl="0" indent="-342900" algn="l" rtl="0">
              <a:lnSpc>
                <a:spcPct val="100000"/>
              </a:lnSpc>
              <a:spcBef>
                <a:spcPts val="360"/>
              </a:spcBef>
              <a:spcAft>
                <a:spcPts val="0"/>
              </a:spcAft>
              <a:buSzPts val="1800"/>
              <a:buChar char="•"/>
            </a:pPr>
            <a:r>
              <a:rPr lang="en-IN" sz="1200"/>
              <a:t>All Types of Banking Transactions are </a:t>
            </a:r>
            <a:r>
              <a:rPr lang="en-IN" sz="1200" b="1"/>
              <a:t>processed, recorded, stored, retrieved etc. </a:t>
            </a:r>
            <a:endParaRPr/>
          </a:p>
          <a:p>
            <a:pPr marL="457200" lvl="0" indent="-342900" algn="l" rtl="0">
              <a:lnSpc>
                <a:spcPct val="100000"/>
              </a:lnSpc>
              <a:spcBef>
                <a:spcPts val="360"/>
              </a:spcBef>
              <a:spcAft>
                <a:spcPts val="0"/>
              </a:spcAft>
              <a:buSzPts val="1800"/>
              <a:buChar char="•"/>
            </a:pPr>
            <a:r>
              <a:rPr lang="en-IN" sz="1200" b="1"/>
              <a:t>Hardware, Software and Networking</a:t>
            </a:r>
            <a:r>
              <a:rPr lang="en-IN" sz="1200"/>
              <a:t> are the three important factors for Core Banking.</a:t>
            </a:r>
            <a:endParaRPr/>
          </a:p>
          <a:p>
            <a:pPr marL="457200" lvl="0" indent="-342900" algn="l" rtl="0">
              <a:lnSpc>
                <a:spcPct val="100000"/>
              </a:lnSpc>
              <a:spcBef>
                <a:spcPts val="360"/>
              </a:spcBef>
              <a:spcAft>
                <a:spcPts val="0"/>
              </a:spcAft>
              <a:buSzPts val="1800"/>
              <a:buChar char="•"/>
            </a:pPr>
            <a:r>
              <a:rPr lang="en-IN" sz="1200"/>
              <a:t>Front-end – Back-end – Data Centre – DR Site – Near on site </a:t>
            </a:r>
            <a:endParaRPr/>
          </a:p>
          <a:p>
            <a:pPr marL="457200" lvl="0" indent="-342900" algn="l" rtl="0">
              <a:lnSpc>
                <a:spcPct val="100000"/>
              </a:lnSpc>
              <a:spcBef>
                <a:spcPts val="360"/>
              </a:spcBef>
              <a:spcAft>
                <a:spcPts val="0"/>
              </a:spcAft>
              <a:buSzPts val="1800"/>
              <a:buChar char="•"/>
            </a:pPr>
            <a:r>
              <a:rPr lang="en-IN" sz="1200"/>
              <a:t>Mock Disaster Recovery Drill – shifting recording of transactions from one site to another for checking purpose so as to make use of the same when the very much needed for shifting during the time of calamity</a:t>
            </a:r>
            <a:endParaRPr sz="1200"/>
          </a:p>
          <a:p>
            <a:pPr marL="114300" lvl="0" indent="0" algn="l" rtl="0">
              <a:lnSpc>
                <a:spcPct val="100000"/>
              </a:lnSpc>
              <a:spcBef>
                <a:spcPts val="360"/>
              </a:spcBef>
              <a:spcAft>
                <a:spcPts val="0"/>
              </a:spcAft>
              <a:buSzPts val="1800"/>
              <a:buNone/>
            </a:pPr>
            <a:endParaRPr/>
          </a:p>
        </p:txBody>
      </p:sp>
      <p:sp>
        <p:nvSpPr>
          <p:cNvPr id="127" name="Google Shape;127;p1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BR ACT 1949 with specific reference to 5 ©</a:t>
            </a:r>
            <a:endParaRPr sz="1800"/>
          </a:p>
        </p:txBody>
      </p:sp>
      <p:sp>
        <p:nvSpPr>
          <p:cNvPr id="133" name="Google Shape;133;p19"/>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r>
              <a:rPr lang="en-IN" sz="1200" b="1"/>
              <a:t>Banking Regulations Act 1949 with specific reference to 5 (c) Definition of Banking</a:t>
            </a:r>
            <a:endParaRPr/>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a:t>“Accepting for the purpose of lending or investment of deposits of money from the public, repayable on demand or otherwise and withdrawal of cheques, draft, order or otherwise (Section 5c). The objective of this is to ensure sound banking through regulation covering the opening of branches and maintenance of liquid asset.  It also provides for safety in the interest of deposits and also prevents misuse of powers by managers of banks.</a:t>
            </a:r>
            <a:endParaRPr/>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a:t>Section 5(c) of the act defines banking as “a company which transacts the business of banking in India”.</a:t>
            </a:r>
            <a:endParaRPr/>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a:t>It means that any company which is engaged in the manufacture of goods or carries any trade and which accepts the deposits of money  from public merely for the purpose of financing its business as such manufacturer or trader shall not be deemed to transact the business of banking within the meaning of this clause.</a:t>
            </a:r>
            <a:endParaRPr/>
          </a:p>
          <a:p>
            <a:pPr marL="114300" lvl="0" indent="0" algn="l" rtl="0">
              <a:lnSpc>
                <a:spcPct val="100000"/>
              </a:lnSpc>
              <a:spcBef>
                <a:spcPts val="360"/>
              </a:spcBef>
              <a:spcAft>
                <a:spcPts val="0"/>
              </a:spcAft>
              <a:buSzPts val="1800"/>
              <a:buNone/>
            </a:pPr>
            <a:endParaRPr/>
          </a:p>
        </p:txBody>
      </p:sp>
      <p:sp>
        <p:nvSpPr>
          <p:cNvPr id="134" name="Google Shape;134;p1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FORMS OF BANKING BUSINESS</a:t>
            </a:r>
            <a:endParaRPr sz="1800"/>
          </a:p>
        </p:txBody>
      </p:sp>
      <p:sp>
        <p:nvSpPr>
          <p:cNvPr id="140" name="Google Shape;140;p20"/>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Forms of Banking Business</a:t>
            </a:r>
            <a:endParaRPr/>
          </a:p>
          <a:p>
            <a:pPr marL="114300" lvl="0" indent="0" algn="l" rtl="0">
              <a:lnSpc>
                <a:spcPct val="100000"/>
              </a:lnSpc>
              <a:spcBef>
                <a:spcPts val="360"/>
              </a:spcBef>
              <a:spcAft>
                <a:spcPts val="0"/>
              </a:spcAft>
              <a:buSzPts val="1800"/>
              <a:buNone/>
            </a:pPr>
            <a:r>
              <a:rPr lang="en-IN" sz="1200" u="sng"/>
              <a:t>The following are the other forms of banking business. Innovative services apart from the regular services are offered by Banks</a:t>
            </a:r>
            <a:r>
              <a:rPr lang="en-IN" sz="1200"/>
              <a:t>:</a:t>
            </a:r>
            <a:endParaRPr/>
          </a:p>
          <a:p>
            <a:pPr marL="114300" lvl="0" indent="0" algn="l" rtl="0">
              <a:lnSpc>
                <a:spcPct val="100000"/>
              </a:lnSpc>
              <a:spcBef>
                <a:spcPts val="360"/>
              </a:spcBef>
              <a:spcAft>
                <a:spcPts val="0"/>
              </a:spcAft>
              <a:buSzPts val="1800"/>
              <a:buNone/>
            </a:pPr>
            <a:r>
              <a:rPr lang="en-IN" sz="1200"/>
              <a:t>1) </a:t>
            </a:r>
            <a:r>
              <a:rPr lang="en-IN" sz="1200" b="1"/>
              <a:t>ATM Services:</a:t>
            </a:r>
            <a:r>
              <a:rPr lang="en-IN" sz="1200"/>
              <a:t> It is enabled through an electronic telecommunication device. It helps enable the clients of banks to perform financial transactions to have anytime money.</a:t>
            </a:r>
            <a:endParaRPr/>
          </a:p>
          <a:p>
            <a:pPr marL="114300" lvl="0" indent="0" algn="l" rtl="0">
              <a:lnSpc>
                <a:spcPct val="100000"/>
              </a:lnSpc>
              <a:spcBef>
                <a:spcPts val="360"/>
              </a:spcBef>
              <a:spcAft>
                <a:spcPts val="0"/>
              </a:spcAft>
              <a:buSzPts val="1800"/>
              <a:buNone/>
            </a:pPr>
            <a:r>
              <a:rPr lang="en-IN" sz="1200"/>
              <a:t>2) </a:t>
            </a:r>
            <a:r>
              <a:rPr lang="en-IN" sz="1200" b="1"/>
              <a:t>Debit Card and Credit Card facility:</a:t>
            </a:r>
            <a:r>
              <a:rPr lang="en-IN" sz="1200"/>
              <a:t> It can be used in ATM, Point of Sale terminals, electronic commerce sites online debit card; offline debit card; prepaid debit card; electronic pulse card, cards for mail, telephone and internet use only debit card. The types of credit cards are secured credit cards, prepaid cards, balance transfer credit cards, low interest credit cards.</a:t>
            </a:r>
            <a:endParaRPr/>
          </a:p>
          <a:p>
            <a:pPr marL="114300" lvl="0" indent="0" algn="l" rtl="0">
              <a:lnSpc>
                <a:spcPct val="100000"/>
              </a:lnSpc>
              <a:spcBef>
                <a:spcPts val="360"/>
              </a:spcBef>
              <a:spcAft>
                <a:spcPts val="0"/>
              </a:spcAft>
              <a:buSzPts val="1800"/>
              <a:buNone/>
            </a:pPr>
            <a:r>
              <a:rPr lang="en-IN" sz="1200"/>
              <a:t>3) </a:t>
            </a:r>
            <a:r>
              <a:rPr lang="en-IN" sz="1200" b="1"/>
              <a:t>Telebanking:</a:t>
            </a:r>
            <a:r>
              <a:rPr lang="en-IN" sz="1200"/>
              <a:t> Telephone baking is a service being provided by a bank which enables customers to perform their financial transactions through phone. They need not visit the bank or ATM.</a:t>
            </a:r>
            <a:endParaRPr/>
          </a:p>
          <a:p>
            <a:pPr marL="114300" lvl="0" indent="0" algn="l" rtl="0">
              <a:lnSpc>
                <a:spcPct val="100000"/>
              </a:lnSpc>
              <a:spcBef>
                <a:spcPts val="360"/>
              </a:spcBef>
              <a:spcAft>
                <a:spcPts val="0"/>
              </a:spcAft>
              <a:buSzPts val="1800"/>
              <a:buNone/>
            </a:pPr>
            <a:r>
              <a:rPr lang="en-IN" sz="1200"/>
              <a:t>4) </a:t>
            </a:r>
            <a:r>
              <a:rPr lang="en-IN" sz="1200" b="1"/>
              <a:t>Internet Banking:</a:t>
            </a:r>
            <a:r>
              <a:rPr lang="en-IN" sz="1200"/>
              <a:t> Online banking/Internet Banking/Electronic Banking has been introduced by the banks as a facility of transacting banking for its customers. It allows the customers to transact their banking transactions through website in a secured manner. It helps to check the balances, effective transfer of money, to do online shopping, pay bills online and so on.</a:t>
            </a:r>
            <a:endParaRPr/>
          </a:p>
          <a:p>
            <a:pPr marL="114300" lvl="0" indent="0" algn="l" rtl="0">
              <a:lnSpc>
                <a:spcPct val="100000"/>
              </a:lnSpc>
              <a:spcBef>
                <a:spcPts val="360"/>
              </a:spcBef>
              <a:spcAft>
                <a:spcPts val="0"/>
              </a:spcAft>
              <a:buSzPts val="1800"/>
              <a:buNone/>
            </a:pPr>
            <a:r>
              <a:rPr lang="en-IN" sz="1200"/>
              <a:t>5) </a:t>
            </a:r>
            <a:r>
              <a:rPr lang="en-IN" sz="1200" b="1"/>
              <a:t>Assurance:</a:t>
            </a:r>
            <a:r>
              <a:rPr lang="en-IN" sz="1200"/>
              <a:t> It helps the delivery of insurance products through banking channels.</a:t>
            </a:r>
            <a:endParaRPr/>
          </a:p>
          <a:p>
            <a:pPr marL="114300" lvl="0" indent="0" algn="l" rtl="0">
              <a:lnSpc>
                <a:spcPct val="100000"/>
              </a:lnSpc>
              <a:spcBef>
                <a:spcPts val="360"/>
              </a:spcBef>
              <a:spcAft>
                <a:spcPts val="0"/>
              </a:spcAft>
              <a:buSzPts val="1800"/>
              <a:buNone/>
            </a:pPr>
            <a:r>
              <a:rPr lang="en-IN" sz="1200"/>
              <a:t>6) </a:t>
            </a:r>
            <a:r>
              <a:rPr lang="en-IN" sz="1200" b="1"/>
              <a:t>RTGS:</a:t>
            </a:r>
            <a:r>
              <a:rPr lang="en-IN" sz="1200"/>
              <a:t> Real time gross settlement system is a fund transfer of money takes palace from one bank to another bank. It is however a large volume of transaction.</a:t>
            </a:r>
            <a:endParaRPr/>
          </a:p>
          <a:p>
            <a:pPr marL="114300" lvl="0" indent="0" algn="l" rtl="0">
              <a:lnSpc>
                <a:spcPct val="100000"/>
              </a:lnSpc>
              <a:spcBef>
                <a:spcPts val="360"/>
              </a:spcBef>
              <a:spcAft>
                <a:spcPts val="0"/>
              </a:spcAft>
              <a:buSzPts val="1800"/>
              <a:buNone/>
            </a:pPr>
            <a:r>
              <a:rPr lang="en-IN" sz="1200"/>
              <a:t>7) </a:t>
            </a:r>
            <a:r>
              <a:rPr lang="en-IN" sz="1200" b="1"/>
              <a:t>NEFT:</a:t>
            </a:r>
            <a:r>
              <a:rPr lang="en-IN" sz="1200"/>
              <a:t> National Electronic Funds Transfer Facilitates transfer of  to other bank accounts into other bank branches across the country. It is a simple, secure, safe, faster way to transfer funds.</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endParaRPr/>
          </a:p>
        </p:txBody>
      </p:sp>
      <p:sp>
        <p:nvSpPr>
          <p:cNvPr id="141" name="Google Shape;141;p2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FORMS OF BANKING BUSINESS</a:t>
            </a:r>
            <a:endParaRPr sz="1800"/>
          </a:p>
        </p:txBody>
      </p:sp>
      <p:sp>
        <p:nvSpPr>
          <p:cNvPr id="147" name="Google Shape;147;p21"/>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Forms of Banking Business</a:t>
            </a:r>
            <a:endParaRPr/>
          </a:p>
          <a:p>
            <a:pPr marL="114300" lvl="0" indent="0" algn="l" rtl="0">
              <a:lnSpc>
                <a:spcPct val="100000"/>
              </a:lnSpc>
              <a:spcBef>
                <a:spcPts val="360"/>
              </a:spcBef>
              <a:spcAft>
                <a:spcPts val="0"/>
              </a:spcAft>
              <a:buSzPts val="1800"/>
              <a:buNone/>
            </a:pPr>
            <a:r>
              <a:rPr lang="en-IN" sz="1200" u="sng"/>
              <a:t>The following are the other forms of banking business. Innovative services apart from the regular services are offered by Banks</a:t>
            </a:r>
            <a:r>
              <a:rPr lang="en-IN" sz="1200"/>
              <a:t>:</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8) </a:t>
            </a:r>
            <a:r>
              <a:rPr lang="en-IN" sz="1200" b="1"/>
              <a:t>Point of Sale  (POS):</a:t>
            </a:r>
            <a:r>
              <a:rPr lang="en-IN" sz="1200"/>
              <a:t> It is the time and place where a retail transaction completes. it is the point at which a customer makes a payment to the merchant in exchange of goods or after the provision of service. For this electronic device point of sale terminals kept at the merchant outlets help as tool in accepting debit/credit cards as the case may be.</a:t>
            </a:r>
            <a:endParaRPr/>
          </a:p>
          <a:p>
            <a:pPr marL="114300" lvl="0" indent="0" algn="l" rtl="0">
              <a:lnSpc>
                <a:spcPct val="100000"/>
              </a:lnSpc>
              <a:spcBef>
                <a:spcPts val="360"/>
              </a:spcBef>
              <a:spcAft>
                <a:spcPts val="0"/>
              </a:spcAft>
              <a:buSzPts val="1800"/>
              <a:buNone/>
            </a:pPr>
            <a:r>
              <a:rPr lang="en-IN" sz="1200"/>
              <a:t>9) </a:t>
            </a:r>
            <a:r>
              <a:rPr lang="en-IN" sz="1200" b="1"/>
              <a:t>Mobile Banking:</a:t>
            </a:r>
            <a:r>
              <a:rPr lang="en-IN" sz="1200"/>
              <a:t> smart phones or other cellular devices are being used to perform online banking tasks. It helps to monitor account balances, transfer of funds between accounts, payment of bills and also helps in locating the ATM in use.</a:t>
            </a:r>
            <a:endParaRPr/>
          </a:p>
          <a:p>
            <a:pPr marL="114300" lvl="0" indent="0" algn="l" rtl="0">
              <a:lnSpc>
                <a:spcPct val="100000"/>
              </a:lnSpc>
              <a:spcBef>
                <a:spcPts val="360"/>
              </a:spcBef>
              <a:spcAft>
                <a:spcPts val="0"/>
              </a:spcAft>
              <a:buSzPts val="1800"/>
              <a:buNone/>
            </a:pPr>
            <a:r>
              <a:rPr lang="en-IN" sz="1200"/>
              <a:t>10) </a:t>
            </a:r>
            <a:r>
              <a:rPr lang="en-IN" sz="1200" b="1"/>
              <a:t>Smart cards:</a:t>
            </a:r>
            <a:r>
              <a:rPr lang="en-IN" sz="1200"/>
              <a:t> It is a microchip enabled card which is used for purchases without the need of keying the pin. It is a very powerful card which carries the functions of debit/credit cards and ATM card.</a:t>
            </a:r>
            <a:endParaRPr/>
          </a:p>
          <a:p>
            <a:pPr marL="114300" lvl="0" indent="0" algn="l" rtl="0">
              <a:lnSpc>
                <a:spcPct val="100000"/>
              </a:lnSpc>
              <a:spcBef>
                <a:spcPts val="360"/>
              </a:spcBef>
              <a:spcAft>
                <a:spcPts val="0"/>
              </a:spcAft>
              <a:buSzPts val="1800"/>
              <a:buNone/>
            </a:pPr>
            <a:r>
              <a:rPr lang="en-IN" sz="1200"/>
              <a:t>11)</a:t>
            </a:r>
            <a:r>
              <a:rPr lang="en-IN" sz="1200" b="1"/>
              <a:t> Ancillary Services: </a:t>
            </a:r>
            <a:r>
              <a:rPr lang="en-IN" sz="1200"/>
              <a:t>Safe Deposit Lockers, Safe Custody of Articles, Forex Services, Investment and Advisory Services, Cross Selling of Products (</a:t>
            </a:r>
            <a:r>
              <a:rPr lang="en-IN" sz="1200" u="sng"/>
              <a:t>Refer Page 22 of the Book-let 1.11.2</a:t>
            </a:r>
            <a:r>
              <a:rPr lang="en-IN" sz="1200"/>
              <a:t>).</a:t>
            </a:r>
            <a:endParaRPr sz="1200" b="1"/>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endParaRPr/>
          </a:p>
        </p:txBody>
      </p:sp>
      <p:sp>
        <p:nvSpPr>
          <p:cNvPr id="148" name="Google Shape;148;p2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2176</Words>
  <Application>Microsoft Office PowerPoint</Application>
  <PresentationFormat>On-screen Show (16:9)</PresentationFormat>
  <Paragraphs>144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M.Sc. - Cyber Forensics &amp; Information Security </vt:lpstr>
      <vt:lpstr>BANKING</vt:lpstr>
      <vt:lpstr>RESERVE BANK OF INDIA</vt:lpstr>
      <vt:lpstr>NATIONALISED BANKS</vt:lpstr>
      <vt:lpstr>REGIONAL RURAL BANKS (RRBs) &amp; SMALL FINANCE BANKS</vt:lpstr>
      <vt:lpstr>SMALL FINANCE BANK</vt:lpstr>
      <vt:lpstr>PAYMENT BANKS</vt:lpstr>
      <vt:lpstr>Evolution of Bank - CORE BANKING - CBS</vt:lpstr>
      <vt:lpstr>CORE BANKING - CBS</vt:lpstr>
      <vt:lpstr>BR ACT 1949 with specific reference to 5 ©</vt:lpstr>
      <vt:lpstr>FORMS OF BANKING BUSINESS</vt:lpstr>
      <vt:lpstr>FORMS OF BANKING BUSINESS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Sudhan Venu</cp:lastModifiedBy>
  <cp:revision>1</cp:revision>
  <dcterms:modified xsi:type="dcterms:W3CDTF">2025-09-13T04:26:32Z</dcterms:modified>
</cp:coreProperties>
</file>