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69" r:id="rId7"/>
    <p:sldId id="25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68" r:id="rId21"/>
  </p:sldIdLst>
  <p:sldSz cx="9144000" cy="5143500" type="screen16x9"/>
  <p:notesSz cx="6858000" cy="99472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2" d="100"/>
          <a:sy n="82" d="100"/>
        </p:scale>
        <p:origin x="82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337" cy="49872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5120" y="0"/>
            <a:ext cx="2971336" cy="498721"/>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9448555"/>
            <a:ext cx="2971337" cy="498721"/>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5"/>
        <p:cNvGrpSpPr/>
        <p:nvPr/>
      </p:nvGrpSpPr>
      <p:grpSpPr>
        <a:xfrm>
          <a:off x="0" y="0"/>
          <a:ext cx="0" cy="0"/>
          <a:chOff x="0" y="0"/>
          <a:chExt cx="0" cy="0"/>
        </a:xfrm>
      </p:grpSpPr>
      <p:sp>
        <p:nvSpPr>
          <p:cNvPr id="66" name="Google Shape;66;p1: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7" name="Google Shape;67;p1: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2"/>
        <p:cNvGrpSpPr/>
        <p:nvPr/>
      </p:nvGrpSpPr>
      <p:grpSpPr>
        <a:xfrm>
          <a:off x="0" y="0"/>
          <a:ext cx="0" cy="0"/>
          <a:chOff x="0" y="0"/>
          <a:chExt cx="0" cy="0"/>
        </a:xfrm>
      </p:grpSpPr>
      <p:sp>
        <p:nvSpPr>
          <p:cNvPr id="73" name="Google Shape;73;p2: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4" name="Google Shape;74;p2: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1" name="Google Shape;81;p3: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1" name="Google Shape;81;p3: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g8c3515c07a_0_6:notes"/>
          <p:cNvSpPr txBox="1">
            <a:spLocks noGrp="1"/>
          </p:cNvSpPr>
          <p:nvPr>
            <p:ph type="body" idx="1"/>
          </p:nvPr>
        </p:nvSpPr>
        <p:spPr>
          <a:xfrm>
            <a:off x="685337" y="4787041"/>
            <a:ext cx="5487300" cy="3916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2" name="Google Shape;152;g8c3515c07a_0_6: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8" name="Google Shape;18;p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4400"/>
              <a:buFont typeface="Calibri" panose="020F0502020204030204"/>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24" name="Google Shape;24;p3"/>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25" name="Google Shape;25;p3"/>
          <p:cNvSpPr txBox="1">
            <a:spLocks noGrp="1"/>
          </p:cNvSpPr>
          <p:nvPr>
            <p:ph type="body" idx="3"/>
          </p:nvPr>
        </p:nvSpPr>
        <p:spPr>
          <a:xfrm>
            <a:off x="4645026" y="1151335"/>
            <a:ext cx="4041775"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26" name="Google Shape;26;p3"/>
          <p:cNvSpPr txBox="1">
            <a:spLocks noGrp="1"/>
          </p:cNvSpPr>
          <p:nvPr>
            <p:ph type="body" idx="4"/>
          </p:nvPr>
        </p:nvSpPr>
        <p:spPr>
          <a:xfrm>
            <a:off x="4645026" y="1631156"/>
            <a:ext cx="4041775"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27" name="Google Shape;27;p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35"/>
        <p:cNvGrpSpPr/>
        <p:nvPr/>
      </p:nvGrpSpPr>
      <p:grpSpPr>
        <a:xfrm>
          <a:off x="0" y="0"/>
          <a:ext cx="0" cy="0"/>
          <a:chOff x="0" y="0"/>
          <a:chExt cx="0" cy="0"/>
        </a:xfrm>
      </p:grpSpPr>
      <p:sp>
        <p:nvSpPr>
          <p:cNvPr id="36" name="Google Shape;36;p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42" name="Google Shape;42;p6"/>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43" name="Google Shape;43;p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a:spLocks noGrp="1"/>
          </p:cNvSpPr>
          <p:nvPr>
            <p:ph type="pic" idx="2"/>
          </p:nvPr>
        </p:nvSpPr>
        <p:spPr>
          <a:xfrm>
            <a:off x="1792288" y="459581"/>
            <a:ext cx="5486400" cy="3086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640"/>
              </a:spcBef>
              <a:spcAft>
                <a:spcPts val="0"/>
              </a:spcAft>
              <a:buClr>
                <a:schemeClr val="dk1"/>
              </a:buClr>
              <a:buSzPts val="3200"/>
              <a:buFont typeface="Arial" panose="020B0604020202020204"/>
              <a:buNone/>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560"/>
              </a:spcBef>
              <a:spcAft>
                <a:spcPts val="0"/>
              </a:spcAft>
              <a:buClr>
                <a:schemeClr val="dk1"/>
              </a:buClr>
              <a:buSzPts val="2800"/>
              <a:buFont typeface="Arial" panose="020B0604020202020204"/>
              <a:buNone/>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48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9" name="Google Shape;49;p7"/>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50" name="Google Shape;50;p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56" name="Google Shape;56;p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rot="5400000">
            <a:off x="6012656" y="771525"/>
            <a:ext cx="3290888"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a:spLocks noGrp="1"/>
          </p:cNvSpPr>
          <p:nvPr>
            <p:ph type="body" idx="1"/>
          </p:nvPr>
        </p:nvSpPr>
        <p:spPr>
          <a:xfrm rot="5400000">
            <a:off x="1821656" y="-1209675"/>
            <a:ext cx="3290888"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62" name="Google Shape;62;p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2000" b="1"/>
              <a:t>M.Sc. - Cyber Forensics &amp; Information Security</a:t>
            </a:r>
            <a:br>
              <a:rPr lang="en-IN" sz="1800"/>
            </a:br>
            <a:endParaRPr sz="1800"/>
          </a:p>
        </p:txBody>
      </p:sp>
      <p:sp>
        <p:nvSpPr>
          <p:cNvPr id="70" name="Google Shape;70;p10"/>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SzPts val="1800"/>
              <a:buNone/>
            </a:pPr>
            <a:endParaRPr sz="1200" b="1" dirty="0"/>
          </a:p>
          <a:p>
            <a:pPr marL="457200" lvl="0" indent="-228600" algn="l" rtl="0">
              <a:lnSpc>
                <a:spcPct val="100000"/>
              </a:lnSpc>
              <a:spcBef>
                <a:spcPts val="360"/>
              </a:spcBef>
              <a:spcAft>
                <a:spcPts val="0"/>
              </a:spcAft>
              <a:buSzPts val="1800"/>
              <a:buNone/>
            </a:pPr>
            <a:endParaRPr sz="1200" b="1" dirty="0"/>
          </a:p>
          <a:p>
            <a:pPr marL="457200" lvl="0" indent="-228600" algn="l" rtl="0">
              <a:lnSpc>
                <a:spcPct val="100000"/>
              </a:lnSpc>
              <a:spcBef>
                <a:spcPts val="360"/>
              </a:spcBef>
              <a:spcAft>
                <a:spcPts val="0"/>
              </a:spcAft>
              <a:buSzPts val="1800"/>
              <a:buNone/>
            </a:pPr>
            <a:endParaRPr sz="1200" b="1" dirty="0"/>
          </a:p>
          <a:p>
            <a:pPr marL="457200" lvl="0" indent="-228600" algn="l" rtl="0">
              <a:lnSpc>
                <a:spcPct val="100000"/>
              </a:lnSpc>
              <a:spcBef>
                <a:spcPts val="360"/>
              </a:spcBef>
              <a:spcAft>
                <a:spcPts val="0"/>
              </a:spcAft>
              <a:buSzPts val="1800"/>
              <a:buNone/>
            </a:pPr>
            <a:endParaRPr sz="1200" b="1" dirty="0"/>
          </a:p>
          <a:p>
            <a:pPr marL="114300" lvl="0" indent="0" algn="ctr" rtl="0">
              <a:lnSpc>
                <a:spcPct val="100000"/>
              </a:lnSpc>
              <a:spcBef>
                <a:spcPts val="360"/>
              </a:spcBef>
              <a:spcAft>
                <a:spcPts val="0"/>
              </a:spcAft>
              <a:buSzPts val="1800"/>
              <a:buNone/>
            </a:pPr>
            <a:r>
              <a:rPr lang="en-IN" sz="4000" b="1" dirty="0"/>
              <a:t>SESSION ON </a:t>
            </a:r>
            <a:endParaRPr dirty="0"/>
          </a:p>
          <a:p>
            <a:pPr marL="114300" lvl="0" indent="0" algn="ctr" rtl="0">
              <a:lnSpc>
                <a:spcPct val="100000"/>
              </a:lnSpc>
              <a:spcBef>
                <a:spcPts val="360"/>
              </a:spcBef>
              <a:spcAft>
                <a:spcPts val="0"/>
              </a:spcAft>
              <a:buSzPts val="1800"/>
              <a:buNone/>
            </a:pPr>
            <a:r>
              <a:rPr lang="en-IN" sz="4000" b="1" dirty="0"/>
              <a:t>BFSI FRAUDS &amp; COUNTERMEASURES</a:t>
            </a:r>
            <a:endParaRPr dirty="0"/>
          </a:p>
          <a:p>
            <a:pPr marL="114300" lvl="0" indent="0" algn="l" rtl="0">
              <a:lnSpc>
                <a:spcPct val="100000"/>
              </a:lnSpc>
              <a:spcBef>
                <a:spcPts val="360"/>
              </a:spcBef>
              <a:spcAft>
                <a:spcPts val="0"/>
              </a:spcAft>
              <a:buSzPts val="1800"/>
              <a:buNone/>
            </a:pPr>
            <a:endParaRPr dirty="0"/>
          </a:p>
          <a:p>
            <a:pPr marL="114300" lvl="0" indent="0" algn="l" rtl="0">
              <a:lnSpc>
                <a:spcPct val="100000"/>
              </a:lnSpc>
              <a:spcBef>
                <a:spcPts val="360"/>
              </a:spcBef>
              <a:spcAft>
                <a:spcPts val="0"/>
              </a:spcAft>
              <a:buSzPts val="1800"/>
              <a:buNone/>
            </a:pPr>
            <a:endParaRPr dirty="0"/>
          </a:p>
        </p:txBody>
      </p:sp>
      <p:sp>
        <p:nvSpPr>
          <p:cNvPr id="71" name="Google Shape;71;p1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3200" b="1"/>
              <a:t>Banking Regulations and Basel Accord</a:t>
            </a:r>
            <a:endParaRPr lang="en-US" altLang="en-US" sz="3200" b="1"/>
          </a:p>
        </p:txBody>
      </p:sp>
      <p:sp>
        <p:nvSpPr>
          <p:cNvPr id="77" name="Google Shape;77;p11"/>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endParaRPr lang="en-IN" sz="1400" b="1" dirty="0"/>
          </a:p>
          <a:p>
            <a:pPr marL="114300" lvl="0" indent="0" algn="l" rtl="0">
              <a:lnSpc>
                <a:spcPct val="100000"/>
              </a:lnSpc>
              <a:spcBef>
                <a:spcPts val="360"/>
              </a:spcBef>
              <a:spcAft>
                <a:spcPts val="0"/>
              </a:spcAft>
              <a:buSzPts val="1800"/>
              <a:buNone/>
            </a:pPr>
            <a:r>
              <a:rPr lang="en-IN" b="1" dirty="0"/>
              <a:t>Overview</a:t>
            </a:r>
            <a:endParaRPr lang="en-IN" sz="1400" b="1" dirty="0"/>
          </a:p>
          <a:p>
            <a:pPr marL="114300" lvl="0" indent="0" algn="l" rtl="0">
              <a:lnSpc>
                <a:spcPct val="20000"/>
              </a:lnSpc>
              <a:spcBef>
                <a:spcPts val="360"/>
              </a:spcBef>
              <a:spcAft>
                <a:spcPts val="0"/>
              </a:spcAft>
              <a:buSzPts val="1800"/>
              <a:buNone/>
            </a:pPr>
            <a:endParaRPr dirty="0"/>
          </a:p>
          <a:p>
            <a:pPr marL="457200" lvl="0" indent="-342900" algn="l" rtl="0">
              <a:lnSpc>
                <a:spcPct val="100000"/>
              </a:lnSpc>
              <a:spcBef>
                <a:spcPts val="360"/>
              </a:spcBef>
              <a:spcAft>
                <a:spcPts val="0"/>
              </a:spcAft>
              <a:buSzPts val="1800"/>
              <a:buChar char="•"/>
            </a:pPr>
            <a:r>
              <a:rPr lang="en-US" altLang="en-US" sz="2400" b="1" dirty="0"/>
              <a:t>Need for Basel Regulations</a:t>
            </a:r>
            <a:r>
              <a:rPr lang="en-IN" sz="2400" b="1" dirty="0"/>
              <a:t>MIS for Banks</a:t>
            </a:r>
            <a:endParaRPr lang="en-IN" sz="2400" b="1" dirty="0"/>
          </a:p>
          <a:p>
            <a:pPr marL="457200" lvl="0" indent="-342900" algn="l" rtl="0">
              <a:lnSpc>
                <a:spcPct val="100000"/>
              </a:lnSpc>
              <a:spcBef>
                <a:spcPts val="360"/>
              </a:spcBef>
              <a:spcAft>
                <a:spcPts val="0"/>
              </a:spcAft>
              <a:buSzPts val="1800"/>
              <a:buChar char="•"/>
            </a:pPr>
            <a:r>
              <a:rPr lang="en-US" altLang="en-US" sz="2400" b="1" dirty="0"/>
              <a:t>Three pillars</a:t>
            </a:r>
            <a:endParaRPr lang="en-US" altLang="en-US" sz="2400" b="1" dirty="0"/>
          </a:p>
          <a:p>
            <a:pPr marL="457200" lvl="0" indent="-342900" algn="l" rtl="0">
              <a:lnSpc>
                <a:spcPct val="100000"/>
              </a:lnSpc>
              <a:spcBef>
                <a:spcPts val="360"/>
              </a:spcBef>
              <a:spcAft>
                <a:spcPts val="0"/>
              </a:spcAft>
              <a:buSzPts val="1800"/>
              <a:buChar char="•"/>
            </a:pPr>
            <a:r>
              <a:rPr lang="en-US" altLang="en-US" sz="2400" b="1" dirty="0"/>
              <a:t>Types of risks</a:t>
            </a:r>
            <a:endParaRPr lang="en-US" altLang="en-US" sz="2400" b="1" dirty="0"/>
          </a:p>
          <a:p>
            <a:pPr marL="457200" lvl="0" indent="-342900" algn="l" rtl="0">
              <a:lnSpc>
                <a:spcPct val="100000"/>
              </a:lnSpc>
              <a:spcBef>
                <a:spcPts val="360"/>
              </a:spcBef>
              <a:spcAft>
                <a:spcPts val="0"/>
              </a:spcAft>
              <a:buSzPts val="1800"/>
              <a:buChar char="•"/>
            </a:pPr>
            <a:r>
              <a:rPr lang="en-US" altLang="en-US" sz="2400" b="1" dirty="0"/>
              <a:t>Operational Risk overview with focus on IT risk</a:t>
            </a:r>
            <a:endParaRPr lang="en-US" altLang="en-US" sz="2400" b="1" dirty="0"/>
          </a:p>
          <a:p>
            <a:pPr marL="457200" lvl="0" indent="-342900" algn="l" rtl="0">
              <a:lnSpc>
                <a:spcPct val="100000"/>
              </a:lnSpc>
              <a:spcBef>
                <a:spcPts val="360"/>
              </a:spcBef>
              <a:spcAft>
                <a:spcPts val="0"/>
              </a:spcAft>
              <a:buSzPts val="1800"/>
              <a:buChar char="•"/>
            </a:pPr>
            <a:r>
              <a:rPr lang="en-US" altLang="en-US" sz="2400" b="1" dirty="0"/>
              <a:t>Relation of Bank related cyber crimes to Operational risk</a:t>
            </a:r>
            <a:endParaRPr lang="en-US" altLang="en-US" sz="2400" b="1" dirty="0"/>
          </a:p>
          <a:p>
            <a:pPr marL="114300" lvl="0" indent="0" algn="l" rtl="0">
              <a:lnSpc>
                <a:spcPct val="100000"/>
              </a:lnSpc>
              <a:spcBef>
                <a:spcPts val="360"/>
              </a:spcBef>
              <a:spcAft>
                <a:spcPts val="0"/>
              </a:spcAft>
              <a:buSzPts val="1800"/>
              <a:buNone/>
            </a:pPr>
            <a:endParaRPr sz="2400" b="1" dirty="0"/>
          </a:p>
        </p:txBody>
      </p:sp>
      <p:sp>
        <p:nvSpPr>
          <p:cNvPr id="78" name="Google Shape;78;p1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sym typeface="+mn-ea"/>
              </a:rPr>
              <a:t>Basel I</a:t>
            </a:r>
            <a:endParaRPr lang="en-IN" sz="1800"/>
          </a:p>
        </p:txBody>
      </p:sp>
      <p:sp>
        <p:nvSpPr>
          <p:cNvPr id="84" name="Google Shape;84;p12"/>
          <p:cNvSpPr txBox="1">
            <a:spLocks noGrp="1"/>
          </p:cNvSpPr>
          <p:nvPr>
            <p:ph type="body" idx="1"/>
          </p:nvPr>
        </p:nvSpPr>
        <p:spPr>
          <a:xfrm>
            <a:off x="457200" y="783772"/>
            <a:ext cx="8229600" cy="3872204"/>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endParaRPr lang="en-US" altLang="en-US" sz="1200" b="1"/>
          </a:p>
          <a:p>
            <a:pPr marL="114300" lvl="0" indent="0" algn="l" rtl="0">
              <a:lnSpc>
                <a:spcPct val="100000"/>
              </a:lnSpc>
              <a:spcBef>
                <a:spcPts val="360"/>
              </a:spcBef>
              <a:spcAft>
                <a:spcPts val="0"/>
              </a:spcAft>
              <a:buSzPts val="1800"/>
              <a:buNone/>
            </a:pPr>
            <a:r>
              <a:rPr lang="en-US" altLang="en-US" sz="1200" b="1"/>
              <a:t>Basel Committee</a:t>
            </a:r>
            <a:endParaRPr lang="en-US" altLang="en-US" sz="1200" b="1"/>
          </a:p>
          <a:p>
            <a:pPr marL="114300" lvl="0" indent="0" algn="l" rtl="0">
              <a:lnSpc>
                <a:spcPct val="100000"/>
              </a:lnSpc>
              <a:spcBef>
                <a:spcPts val="360"/>
              </a:spcBef>
              <a:spcAft>
                <a:spcPts val="0"/>
              </a:spcAft>
              <a:buSzPts val="1800"/>
              <a:buNone/>
            </a:pPr>
            <a:endParaRPr lang="en-US" altLang="en-US" sz="1200" b="1"/>
          </a:p>
          <a:p>
            <a:pPr marL="571500" lvl="1" indent="457200" algn="l" rtl="0">
              <a:lnSpc>
                <a:spcPct val="100000"/>
              </a:lnSpc>
              <a:spcBef>
                <a:spcPts val="360"/>
              </a:spcBef>
              <a:spcAft>
                <a:spcPts val="0"/>
              </a:spcAft>
              <a:buSzPts val="1800"/>
              <a:buNone/>
            </a:pPr>
            <a:r>
              <a:rPr lang="en-US" altLang="en-US" sz="1300"/>
              <a:t>A committee of central banks of G10 countries was formed to stabilize the international</a:t>
            </a:r>
            <a:endParaRPr lang="en-US" altLang="en-US" sz="1300"/>
          </a:p>
          <a:p>
            <a:pPr marL="114300" lvl="0" indent="457200" algn="l" rtl="0">
              <a:lnSpc>
                <a:spcPct val="100000"/>
              </a:lnSpc>
              <a:spcBef>
                <a:spcPts val="360"/>
              </a:spcBef>
              <a:spcAft>
                <a:spcPts val="0"/>
              </a:spcAft>
              <a:buSzPts val="1800"/>
              <a:buNone/>
            </a:pPr>
            <a:r>
              <a:rPr lang="en-US" altLang="en-US" sz="1300"/>
              <a:t>banking system and regulate them as wel1l. This is called as Basel committee on banking</a:t>
            </a:r>
            <a:endParaRPr lang="en-US" altLang="en-US" sz="1300"/>
          </a:p>
          <a:p>
            <a:pPr marL="114300" lvl="0" indent="457200" algn="l" rtl="0">
              <a:lnSpc>
                <a:spcPct val="100000"/>
              </a:lnSpc>
              <a:spcBef>
                <a:spcPts val="360"/>
              </a:spcBef>
              <a:spcAft>
                <a:spcPts val="0"/>
              </a:spcAft>
              <a:buSzPts val="1800"/>
              <a:buNone/>
            </a:pPr>
            <a:r>
              <a:rPr lang="en-US" altLang="en-US" sz="1300"/>
              <a:t>supervision (BCBS). The Basel committee published a set of minimum capital requirements for</a:t>
            </a:r>
            <a:endParaRPr lang="en-US" altLang="en-US" sz="1300"/>
          </a:p>
          <a:p>
            <a:pPr marL="114300" lvl="0" indent="457200" algn="l" rtl="0">
              <a:lnSpc>
                <a:spcPct val="100000"/>
              </a:lnSpc>
              <a:spcBef>
                <a:spcPts val="360"/>
              </a:spcBef>
              <a:spcAft>
                <a:spcPts val="0"/>
              </a:spcAft>
              <a:buSzPts val="1800"/>
              <a:buNone/>
            </a:pPr>
            <a:r>
              <a:rPr lang="en-US" altLang="en-US" sz="1300"/>
              <a:t>banks and this is called as 1988 Basel accord, which was enforced by law in G10 Nations in</a:t>
            </a:r>
            <a:endParaRPr lang="en-US" altLang="en-US" sz="1300"/>
          </a:p>
          <a:p>
            <a:pPr marL="114300" lvl="0" indent="457200" algn="l" rtl="0">
              <a:lnSpc>
                <a:spcPct val="100000"/>
              </a:lnSpc>
              <a:spcBef>
                <a:spcPts val="360"/>
              </a:spcBef>
              <a:spcAft>
                <a:spcPts val="0"/>
              </a:spcAft>
              <a:buSzPts val="1800"/>
              <a:buNone/>
            </a:pPr>
            <a:r>
              <a:rPr lang="en-US" altLang="en-US" sz="1300"/>
              <a:t>1992.</a:t>
            </a:r>
            <a:endParaRPr lang="en-US" altLang="en-US" sz="1300"/>
          </a:p>
          <a:p>
            <a:pPr marL="571500" lvl="1" indent="457200" algn="l" rtl="0">
              <a:lnSpc>
                <a:spcPct val="100000"/>
              </a:lnSpc>
              <a:spcBef>
                <a:spcPts val="360"/>
              </a:spcBef>
              <a:spcAft>
                <a:spcPts val="0"/>
              </a:spcAft>
              <a:buSzPts val="1800"/>
              <a:buNone/>
            </a:pPr>
            <a:r>
              <a:rPr lang="en-US" altLang="en-US" sz="1300"/>
              <a:t>Basel 1: The main objective of the Basel accord was to reinforce the capital base of the</a:t>
            </a:r>
            <a:endParaRPr lang="en-US" altLang="en-US" sz="1300"/>
          </a:p>
          <a:p>
            <a:pPr marL="114300" lvl="0" indent="457200" algn="l" rtl="0">
              <a:lnSpc>
                <a:spcPct val="100000"/>
              </a:lnSpc>
              <a:spcBef>
                <a:spcPts val="360"/>
              </a:spcBef>
              <a:spcAft>
                <a:spcPts val="0"/>
              </a:spcAft>
              <a:buSzPts val="1800"/>
              <a:buNone/>
            </a:pPr>
            <a:r>
              <a:rPr lang="en-US" altLang="en-US" sz="1300"/>
              <a:t>worlds major banks, which were being eroded due to severe competition among the banks.</a:t>
            </a:r>
            <a:endParaRPr lang="en-US" altLang="en-US" sz="1300"/>
          </a:p>
          <a:p>
            <a:pPr marL="114300" lvl="0" indent="457200" algn="l" rtl="0">
              <a:lnSpc>
                <a:spcPct val="100000"/>
              </a:lnSpc>
              <a:spcBef>
                <a:spcPts val="360"/>
              </a:spcBef>
              <a:spcAft>
                <a:spcPts val="0"/>
              </a:spcAft>
              <a:buSzPts val="1800"/>
              <a:buNone/>
            </a:pPr>
            <a:r>
              <a:rPr lang="en-US" altLang="en-US" sz="1300"/>
              <a:t>This is also recognized as Basel 1.</a:t>
            </a:r>
            <a:endParaRPr lang="en-US" altLang="en-US" sz="1300"/>
          </a:p>
          <a:p>
            <a:pPr marL="114300" lvl="0" indent="457200" algn="l" rtl="0">
              <a:lnSpc>
                <a:spcPct val="100000"/>
              </a:lnSpc>
              <a:spcBef>
                <a:spcPts val="360"/>
              </a:spcBef>
              <a:spcAft>
                <a:spcPts val="0"/>
              </a:spcAft>
              <a:buSzPts val="1800"/>
              <a:buNone/>
            </a:pPr>
            <a:endParaRPr lang="en-US" altLang="en-US" sz="1300"/>
          </a:p>
          <a:p>
            <a:pPr marL="571500" lvl="1" indent="457200" algn="l" rtl="0">
              <a:lnSpc>
                <a:spcPct val="100000"/>
              </a:lnSpc>
              <a:spcBef>
                <a:spcPts val="360"/>
              </a:spcBef>
              <a:spcAft>
                <a:spcPts val="0"/>
              </a:spcAft>
              <a:buSzPts val="1800"/>
              <a:buNone/>
            </a:pPr>
            <a:r>
              <a:rPr lang="en-US" altLang="en-US" sz="1300"/>
              <a:t>As per the 1988 Accord, the Banks were advised to maintain capital equal to a minimum</a:t>
            </a:r>
            <a:endParaRPr lang="en-US" altLang="en-US" sz="1300"/>
          </a:p>
          <a:p>
            <a:pPr marL="114300" lvl="0" indent="457200" algn="l" rtl="0">
              <a:lnSpc>
                <a:spcPct val="100000"/>
              </a:lnSpc>
              <a:spcBef>
                <a:spcPts val="360"/>
              </a:spcBef>
              <a:spcAft>
                <a:spcPts val="0"/>
              </a:spcAft>
              <a:buSzPts val="1800"/>
              <a:buNone/>
            </a:pPr>
            <a:r>
              <a:rPr lang="en-US" altLang="en-US" sz="1300"/>
              <a:t>8% of a basket of assets measured based on this risk.</a:t>
            </a:r>
            <a:endParaRPr lang="en-US" altLang="en-US" sz="1300"/>
          </a:p>
          <a:p>
            <a:pPr marL="114300" lvl="0" indent="457200" algn="l" rtl="0">
              <a:lnSpc>
                <a:spcPct val="100000"/>
              </a:lnSpc>
              <a:spcBef>
                <a:spcPts val="360"/>
              </a:spcBef>
              <a:spcAft>
                <a:spcPts val="0"/>
              </a:spcAft>
              <a:buSzPts val="1800"/>
              <a:buNone/>
            </a:pPr>
            <a:endParaRPr lang="en-US" altLang="en-US" sz="1200"/>
          </a:p>
          <a:p>
            <a:pPr marL="114300" lvl="0" indent="0" algn="l" rtl="0">
              <a:lnSpc>
                <a:spcPct val="100000"/>
              </a:lnSpc>
              <a:spcBef>
                <a:spcPts val="360"/>
              </a:spcBef>
              <a:spcAft>
                <a:spcPts val="0"/>
              </a:spcAft>
              <a:buSzPts val="1800"/>
              <a:buNone/>
            </a:pPr>
          </a:p>
        </p:txBody>
      </p:sp>
      <p:sp>
        <p:nvSpPr>
          <p:cNvPr id="85" name="Google Shape;85;p1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sym typeface="+mn-ea"/>
              </a:rPr>
              <a:t>Basel I</a:t>
            </a:r>
            <a:endParaRPr lang="en-IN" sz="1800"/>
          </a:p>
        </p:txBody>
      </p:sp>
      <p:sp>
        <p:nvSpPr>
          <p:cNvPr id="84" name="Google Shape;84;p12"/>
          <p:cNvSpPr txBox="1">
            <a:spLocks noGrp="1"/>
          </p:cNvSpPr>
          <p:nvPr>
            <p:ph type="body" idx="1"/>
          </p:nvPr>
        </p:nvSpPr>
        <p:spPr>
          <a:xfrm>
            <a:off x="457200" y="783772"/>
            <a:ext cx="8229600" cy="3872204"/>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endParaRPr lang="en-US" altLang="en-US" sz="1200" b="1"/>
          </a:p>
          <a:p>
            <a:pPr marL="114300" lvl="0" indent="0" algn="l" rtl="0">
              <a:lnSpc>
                <a:spcPct val="100000"/>
              </a:lnSpc>
              <a:spcBef>
                <a:spcPts val="360"/>
              </a:spcBef>
              <a:spcAft>
                <a:spcPts val="0"/>
              </a:spcAft>
              <a:buSzPts val="1800"/>
              <a:buNone/>
            </a:pPr>
            <a:r>
              <a:rPr lang="en-US" altLang="en-US" sz="1200" b="1"/>
              <a:t>Basel Committee</a:t>
            </a:r>
            <a:endParaRPr lang="en-US" altLang="en-US" sz="1200" b="1"/>
          </a:p>
          <a:p>
            <a:pPr marL="114300" lvl="0" indent="457200" algn="l" rtl="0">
              <a:lnSpc>
                <a:spcPct val="100000"/>
              </a:lnSpc>
              <a:spcBef>
                <a:spcPts val="360"/>
              </a:spcBef>
              <a:spcAft>
                <a:spcPts val="0"/>
              </a:spcAft>
              <a:buSzPts val="1800"/>
              <a:buNone/>
            </a:pPr>
            <a:endParaRPr lang="en-US" altLang="en-US" sz="1200"/>
          </a:p>
          <a:p>
            <a:pPr marL="114300" lvl="0" indent="457200" algn="l" rtl="0">
              <a:lnSpc>
                <a:spcPct val="100000"/>
              </a:lnSpc>
              <a:spcBef>
                <a:spcPts val="360"/>
              </a:spcBef>
              <a:spcAft>
                <a:spcPts val="0"/>
              </a:spcAft>
              <a:buSzPts val="1800"/>
              <a:buNone/>
            </a:pPr>
            <a:r>
              <a:rPr lang="en-US" altLang="en-US" sz="1300"/>
              <a:t>Banks were advised to maintain two</a:t>
            </a:r>
            <a:endParaRPr lang="en-US" altLang="en-US" sz="1300"/>
          </a:p>
          <a:p>
            <a:pPr marL="114300" lvl="0" indent="457200" algn="l" rtl="0">
              <a:lnSpc>
                <a:spcPct val="100000"/>
              </a:lnSpc>
              <a:spcBef>
                <a:spcPts val="360"/>
              </a:spcBef>
              <a:spcAft>
                <a:spcPts val="0"/>
              </a:spcAft>
              <a:buSzPts val="1800"/>
              <a:buNone/>
            </a:pPr>
            <a:r>
              <a:rPr lang="en-US" altLang="en-US" sz="1300"/>
              <a:t>tiers of capital viz:</a:t>
            </a:r>
            <a:endParaRPr lang="en-US" altLang="en-US" sz="1300"/>
          </a:p>
          <a:p>
            <a:pPr marL="114300" lvl="0" indent="457200" algn="l" rtl="0">
              <a:lnSpc>
                <a:spcPct val="100000"/>
              </a:lnSpc>
              <a:spcBef>
                <a:spcPts val="360"/>
              </a:spcBef>
              <a:spcAft>
                <a:spcPts val="0"/>
              </a:spcAft>
              <a:buSzPts val="1800"/>
              <a:buNone/>
            </a:pPr>
            <a:endParaRPr lang="en-US" altLang="en-US" sz="1300"/>
          </a:p>
          <a:p>
            <a:pPr marL="114300" lvl="0" indent="457200" algn="l" rtl="0">
              <a:lnSpc>
                <a:spcPct val="100000"/>
              </a:lnSpc>
              <a:spcBef>
                <a:spcPts val="360"/>
              </a:spcBef>
              <a:spcAft>
                <a:spcPts val="0"/>
              </a:spcAft>
              <a:buSzPts val="1800"/>
              <a:buNone/>
            </a:pPr>
            <a:r>
              <a:rPr lang="en-US" altLang="en-US" sz="1300"/>
              <a:t>Tier 1 covering additional internal and external resources available to the bank.</a:t>
            </a:r>
            <a:endParaRPr lang="en-US" altLang="en-US" sz="1300"/>
          </a:p>
          <a:p>
            <a:pPr marL="114300" lvl="0" indent="457200" algn="l" rtl="0">
              <a:lnSpc>
                <a:spcPct val="100000"/>
              </a:lnSpc>
              <a:spcBef>
                <a:spcPts val="360"/>
              </a:spcBef>
              <a:spcAft>
                <a:spcPts val="0"/>
              </a:spcAft>
              <a:buSzPts val="1800"/>
              <a:buNone/>
            </a:pPr>
            <a:r>
              <a:rPr lang="en-US" altLang="en-US" sz="1300"/>
              <a:t>The twin objective of Basel were:</a:t>
            </a:r>
            <a:endParaRPr lang="en-US" altLang="en-US" sz="1300"/>
          </a:p>
          <a:p>
            <a:pPr marL="114300" lvl="0" indent="457200" algn="l" rtl="0">
              <a:lnSpc>
                <a:spcPct val="100000"/>
              </a:lnSpc>
              <a:spcBef>
                <a:spcPts val="360"/>
              </a:spcBef>
              <a:spcAft>
                <a:spcPts val="0"/>
              </a:spcAft>
              <a:buSzPts val="1800"/>
              <a:buNone/>
            </a:pPr>
            <a:r>
              <a:rPr lang="en-US" altLang="en-US" sz="1300"/>
              <a:t>1) to ensure an adequate level of capital in the international banking system</a:t>
            </a:r>
            <a:endParaRPr lang="en-US" altLang="en-US" sz="1300"/>
          </a:p>
          <a:p>
            <a:pPr marL="114300" lvl="0" indent="457200" algn="l" rtl="0">
              <a:lnSpc>
                <a:spcPct val="100000"/>
              </a:lnSpc>
              <a:spcBef>
                <a:spcPts val="360"/>
              </a:spcBef>
              <a:spcAft>
                <a:spcPts val="0"/>
              </a:spcAft>
              <a:buSzPts val="1800"/>
              <a:buNone/>
            </a:pPr>
            <a:r>
              <a:rPr lang="en-US" altLang="en-US" sz="1300"/>
              <a:t>2) to create more level of playing field in the competitive environment</a:t>
            </a:r>
            <a:endParaRPr lang="en-US" altLang="en-US" sz="1300"/>
          </a:p>
          <a:p>
            <a:pPr marL="114300" lvl="0" indent="457200" algn="l" rtl="0">
              <a:lnSpc>
                <a:spcPct val="100000"/>
              </a:lnSpc>
              <a:spcBef>
                <a:spcPts val="360"/>
              </a:spcBef>
              <a:spcAft>
                <a:spcPts val="0"/>
              </a:spcAft>
              <a:buSzPts val="1800"/>
              <a:buNone/>
            </a:pPr>
            <a:endParaRPr lang="en-US" altLang="en-US" sz="1300"/>
          </a:p>
          <a:p>
            <a:pPr marL="114300" lvl="0" indent="457200" algn="l" rtl="0">
              <a:lnSpc>
                <a:spcPct val="100000"/>
              </a:lnSpc>
              <a:spcBef>
                <a:spcPts val="360"/>
              </a:spcBef>
              <a:spcAft>
                <a:spcPts val="0"/>
              </a:spcAft>
              <a:buSzPts val="1800"/>
              <a:buNone/>
            </a:pPr>
            <a:r>
              <a:rPr lang="en-US" altLang="en-US" sz="1300"/>
              <a:t>Short comings of Basel 1</a:t>
            </a:r>
            <a:endParaRPr lang="en-US" altLang="en-US" sz="1300"/>
          </a:p>
          <a:p>
            <a:pPr marL="114300" lvl="0" indent="457200" algn="l" rtl="0">
              <a:lnSpc>
                <a:spcPct val="100000"/>
              </a:lnSpc>
              <a:spcBef>
                <a:spcPts val="360"/>
              </a:spcBef>
              <a:spcAft>
                <a:spcPts val="0"/>
              </a:spcAft>
              <a:buSzPts val="1800"/>
              <a:buNone/>
            </a:pPr>
            <a:r>
              <a:rPr lang="en-US" altLang="en-US" sz="1300"/>
              <a:t>1) limited differentiation of credit risk</a:t>
            </a:r>
            <a:endParaRPr lang="en-US" altLang="en-US" sz="1300"/>
          </a:p>
          <a:p>
            <a:pPr marL="114300" lvl="0" indent="457200" algn="l" rtl="0">
              <a:lnSpc>
                <a:spcPct val="100000"/>
              </a:lnSpc>
              <a:spcBef>
                <a:spcPts val="360"/>
              </a:spcBef>
              <a:spcAft>
                <a:spcPts val="0"/>
              </a:spcAft>
              <a:buSzPts val="1800"/>
              <a:buNone/>
            </a:pPr>
            <a:r>
              <a:rPr lang="en-US" altLang="en-US" sz="1300"/>
              <a:t>2) static measure of default risk</a:t>
            </a:r>
            <a:endParaRPr lang="en-US" altLang="en-US" sz="1300"/>
          </a:p>
          <a:p>
            <a:pPr marL="114300" lvl="0" indent="457200" algn="l" rtl="0">
              <a:lnSpc>
                <a:spcPct val="100000"/>
              </a:lnSpc>
              <a:spcBef>
                <a:spcPts val="360"/>
              </a:spcBef>
              <a:spcAft>
                <a:spcPts val="0"/>
              </a:spcAft>
              <a:buSzPts val="1800"/>
              <a:buNone/>
            </a:pPr>
            <a:r>
              <a:rPr lang="en-US" altLang="en-US" sz="1300"/>
              <a:t>3) No recognition of term - structure of credit risk</a:t>
            </a:r>
            <a:endParaRPr lang="en-US" altLang="en-US" sz="1300"/>
          </a:p>
          <a:p>
            <a:pPr marL="457200" lvl="0" indent="-228600" algn="l" rtl="0">
              <a:lnSpc>
                <a:spcPct val="100000"/>
              </a:lnSpc>
              <a:spcBef>
                <a:spcPts val="360"/>
              </a:spcBef>
              <a:spcAft>
                <a:spcPts val="0"/>
              </a:spcAft>
              <a:buClr>
                <a:schemeClr val="dk1"/>
              </a:buClr>
              <a:buSzPts val="1800"/>
              <a:buNone/>
            </a:pPr>
            <a:endParaRPr sz="1200"/>
          </a:p>
          <a:p>
            <a:pPr marL="114300" lvl="0" indent="0" algn="l" rtl="0">
              <a:lnSpc>
                <a:spcPct val="100000"/>
              </a:lnSpc>
              <a:spcBef>
                <a:spcPts val="360"/>
              </a:spcBef>
              <a:spcAft>
                <a:spcPts val="0"/>
              </a:spcAft>
              <a:buSzPts val="1800"/>
              <a:buNone/>
            </a:pPr>
          </a:p>
        </p:txBody>
      </p:sp>
      <p:sp>
        <p:nvSpPr>
          <p:cNvPr id="85" name="Google Shape;85;p1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sym typeface="+mn-ea"/>
              </a:rPr>
              <a:t>Basel II</a:t>
            </a:r>
            <a:endParaRPr lang="en-IN" sz="1800"/>
          </a:p>
        </p:txBody>
      </p:sp>
      <p:sp>
        <p:nvSpPr>
          <p:cNvPr id="91" name="Google Shape;91;p13"/>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altLang="en-US" sz="1200"/>
              <a:t>Basel II</a:t>
            </a:r>
            <a:endParaRPr lang="en-US" altLang="en-US" sz="1200"/>
          </a:p>
          <a:p>
            <a:pPr marL="114300" lvl="0" indent="0" algn="l" rtl="0">
              <a:lnSpc>
                <a:spcPct val="100000"/>
              </a:lnSpc>
              <a:spcBef>
                <a:spcPts val="360"/>
              </a:spcBef>
              <a:spcAft>
                <a:spcPts val="0"/>
              </a:spcAft>
              <a:buSzPts val="1800"/>
              <a:buNone/>
            </a:pPr>
            <a:endParaRPr lang="en-US" altLang="en-US" sz="1200"/>
          </a:p>
          <a:p>
            <a:pPr marL="114300" lvl="0" indent="457200" algn="l" rtl="0">
              <a:lnSpc>
                <a:spcPct val="100000"/>
              </a:lnSpc>
              <a:spcBef>
                <a:spcPts val="360"/>
              </a:spcBef>
              <a:spcAft>
                <a:spcPts val="0"/>
              </a:spcAft>
              <a:buSzPts val="1800"/>
              <a:buNone/>
            </a:pPr>
            <a:r>
              <a:rPr lang="en-US" altLang="en-US" sz="1300" b="1"/>
              <a:t>In January 2001, the Basel committee on banking supervision issued a new proposal for</a:t>
            </a:r>
            <a:endParaRPr lang="en-US" altLang="en-US" sz="1300" b="1"/>
          </a:p>
          <a:p>
            <a:pPr marL="114300" lvl="0" indent="0" algn="l" rtl="0">
              <a:lnSpc>
                <a:spcPct val="100000"/>
              </a:lnSpc>
              <a:spcBef>
                <a:spcPts val="360"/>
              </a:spcBef>
              <a:spcAft>
                <a:spcPts val="0"/>
              </a:spcAft>
              <a:buSzPts val="1800"/>
              <a:buNone/>
            </a:pPr>
            <a:r>
              <a:rPr lang="en-US" altLang="en-US" sz="1300" b="1"/>
              <a:t>a Basel capital Accord to replace the 1988 accord. The new basel capital accord focused on</a:t>
            </a:r>
            <a:endParaRPr lang="en-US" altLang="en-US" sz="1300" b="1"/>
          </a:p>
          <a:p>
            <a:pPr marL="114300" lvl="0" indent="0" algn="l" rtl="0">
              <a:lnSpc>
                <a:spcPct val="100000"/>
              </a:lnSpc>
              <a:spcBef>
                <a:spcPts val="360"/>
              </a:spcBef>
              <a:spcAft>
                <a:spcPts val="0"/>
              </a:spcAft>
              <a:buSzPts val="1800"/>
              <a:buNone/>
            </a:pPr>
            <a:r>
              <a:rPr lang="en-US" altLang="en-US" sz="1300" b="1"/>
              <a:t>three pillars namely:</a:t>
            </a:r>
            <a:endParaRPr lang="en-US" altLang="en-US" sz="1300" b="1"/>
          </a:p>
          <a:p>
            <a:pPr marL="114300" lvl="0" indent="0" algn="l" rtl="0">
              <a:lnSpc>
                <a:spcPct val="100000"/>
              </a:lnSpc>
              <a:spcBef>
                <a:spcPts val="360"/>
              </a:spcBef>
              <a:spcAft>
                <a:spcPts val="0"/>
              </a:spcAft>
              <a:buSzPts val="1800"/>
              <a:buNone/>
            </a:pPr>
            <a:endParaRPr lang="en-US" altLang="en-US" sz="1200" b="1"/>
          </a:p>
          <a:p>
            <a:pPr marL="571500" lvl="1" indent="0" algn="l" rtl="0">
              <a:lnSpc>
                <a:spcPct val="100000"/>
              </a:lnSpc>
              <a:spcBef>
                <a:spcPts val="360"/>
              </a:spcBef>
              <a:spcAft>
                <a:spcPts val="0"/>
              </a:spcAft>
              <a:buSzPts val="1800"/>
              <a:buNone/>
            </a:pPr>
            <a:r>
              <a:rPr lang="en-US" altLang="en-US" sz="2100"/>
              <a:t>1. Pillar I - Minimum Capital Requirement</a:t>
            </a:r>
            <a:endParaRPr lang="en-US" altLang="en-US" sz="2100"/>
          </a:p>
          <a:p>
            <a:pPr marL="571500" lvl="1" indent="0" algn="l" rtl="0">
              <a:lnSpc>
                <a:spcPct val="100000"/>
              </a:lnSpc>
              <a:spcBef>
                <a:spcPts val="360"/>
              </a:spcBef>
              <a:spcAft>
                <a:spcPts val="0"/>
              </a:spcAft>
              <a:buSzPts val="1800"/>
              <a:buNone/>
            </a:pPr>
            <a:r>
              <a:rPr lang="en-US" altLang="en-US" sz="2100"/>
              <a:t>2. Pillar II - Supervisory Review</a:t>
            </a:r>
            <a:endParaRPr lang="en-US" altLang="en-US" sz="2100"/>
          </a:p>
          <a:p>
            <a:pPr marL="571500" lvl="1" indent="0" algn="l" rtl="0">
              <a:lnSpc>
                <a:spcPct val="100000"/>
              </a:lnSpc>
              <a:spcBef>
                <a:spcPts val="360"/>
              </a:spcBef>
              <a:spcAft>
                <a:spcPts val="0"/>
              </a:spcAft>
              <a:buSzPts val="1800"/>
              <a:buNone/>
            </a:pPr>
            <a:r>
              <a:rPr lang="en-US" altLang="en-US" sz="2100"/>
              <a:t>3. Pillar III - Market Discipline</a:t>
            </a:r>
            <a:endParaRPr lang="en-US" altLang="en-US" sz="2100"/>
          </a:p>
          <a:p>
            <a:pPr marL="571500" lvl="1" indent="0" algn="l" rtl="0">
              <a:lnSpc>
                <a:spcPct val="100000"/>
              </a:lnSpc>
              <a:spcBef>
                <a:spcPts val="360"/>
              </a:spcBef>
              <a:spcAft>
                <a:spcPts val="0"/>
              </a:spcAft>
              <a:buSzPts val="1800"/>
              <a:buNone/>
            </a:pPr>
            <a:endParaRPr lang="en-US" altLang="en-US" sz="2100"/>
          </a:p>
          <a:p>
            <a:pPr marL="114300" lvl="0" indent="0" algn="l" rtl="0">
              <a:lnSpc>
                <a:spcPct val="100000"/>
              </a:lnSpc>
              <a:spcBef>
                <a:spcPts val="360"/>
              </a:spcBef>
              <a:spcAft>
                <a:spcPts val="0"/>
              </a:spcAft>
              <a:buSzPts val="1800"/>
              <a:buNone/>
            </a:pPr>
            <a:endParaRPr lang="en-US" altLang="en-US" sz="2400"/>
          </a:p>
          <a:p>
            <a:pPr marL="114300" lvl="0" indent="0" algn="l" rtl="0">
              <a:lnSpc>
                <a:spcPct val="100000"/>
              </a:lnSpc>
              <a:spcBef>
                <a:spcPts val="360"/>
              </a:spcBef>
              <a:spcAft>
                <a:spcPts val="0"/>
              </a:spcAft>
              <a:buSzPts val="1800"/>
              <a:buNone/>
            </a:pPr>
            <a:endParaRPr lang="en-US" altLang="en-US" sz="24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sym typeface="+mn-ea"/>
              </a:rPr>
              <a:t>Basel II</a:t>
            </a:r>
            <a:endParaRPr lang="en-IN"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altLang="en-US" sz="1800"/>
              <a:t>Pillar I - Minimum Capital Requirement</a:t>
            </a:r>
            <a:endParaRPr lang="en-US" altLang="en-US" sz="1800"/>
          </a:p>
          <a:p>
            <a:pPr marL="114300" lvl="0" indent="0" algn="l" rtl="0">
              <a:lnSpc>
                <a:spcPct val="0"/>
              </a:lnSpc>
              <a:spcBef>
                <a:spcPts val="360"/>
              </a:spcBef>
              <a:spcAft>
                <a:spcPts val="0"/>
              </a:spcAft>
              <a:buSzPts val="1800"/>
              <a:buNone/>
            </a:pPr>
            <a:endParaRPr lang="en-US" altLang="en-US" sz="1800"/>
          </a:p>
          <a:p>
            <a:pPr marL="114300" lvl="0" indent="457200" algn="l" rtl="0">
              <a:lnSpc>
                <a:spcPct val="100000"/>
              </a:lnSpc>
              <a:spcBef>
                <a:spcPts val="360"/>
              </a:spcBef>
              <a:spcAft>
                <a:spcPts val="0"/>
              </a:spcAft>
              <a:buSzPts val="1800"/>
              <a:buNone/>
            </a:pPr>
            <a:r>
              <a:rPr lang="en-US" altLang="en-US" sz="1300"/>
              <a:t>The committee on Banking supervision recommended the target standard ratio of capital</a:t>
            </a:r>
            <a:endParaRPr lang="en-US" altLang="en-US" sz="1300"/>
          </a:p>
          <a:p>
            <a:pPr marL="114300" lvl="0" indent="0" algn="l" rtl="0">
              <a:lnSpc>
                <a:spcPct val="100000"/>
              </a:lnSpc>
              <a:spcBef>
                <a:spcPts val="360"/>
              </a:spcBef>
              <a:spcAft>
                <a:spcPts val="0"/>
              </a:spcAft>
              <a:buSzPts val="1800"/>
              <a:buNone/>
            </a:pPr>
            <a:r>
              <a:rPr lang="en-US" altLang="en-US" sz="1300"/>
              <a:t>to Risk weighted assets should be at least 8% (of which the core capital element would be at</a:t>
            </a:r>
            <a:endParaRPr lang="en-US" altLang="en-US" sz="1300"/>
          </a:p>
          <a:p>
            <a:pPr marL="114300" lvl="0" indent="0" algn="l" rtl="0">
              <a:lnSpc>
                <a:spcPct val="100000"/>
              </a:lnSpc>
              <a:spcBef>
                <a:spcPts val="360"/>
              </a:spcBef>
              <a:spcAft>
                <a:spcPts val="0"/>
              </a:spcAft>
              <a:buSzPts val="1800"/>
              <a:buNone/>
            </a:pPr>
            <a:r>
              <a:rPr lang="en-US" altLang="en-US" sz="1300"/>
              <a:t>least 4%) The minimum capital adequacy ratio of 8% was prescribed taking into account the</a:t>
            </a:r>
            <a:endParaRPr lang="en-US" altLang="en-US" sz="1300"/>
          </a:p>
          <a:p>
            <a:pPr marL="114300" lvl="0" indent="0" algn="l" rtl="0">
              <a:lnSpc>
                <a:spcPct val="100000"/>
              </a:lnSpc>
              <a:spcBef>
                <a:spcPts val="360"/>
              </a:spcBef>
              <a:spcAft>
                <a:spcPts val="0"/>
              </a:spcAft>
              <a:buSzPts val="1800"/>
              <a:buNone/>
            </a:pPr>
            <a:r>
              <a:rPr lang="en-US" altLang="en-US" sz="1300"/>
              <a:t>credit risk.</a:t>
            </a:r>
            <a:endParaRPr lang="en-US" altLang="en-US" sz="1300"/>
          </a:p>
          <a:p>
            <a:pPr marL="114300" lvl="0" indent="457200" algn="l" rtl="0">
              <a:lnSpc>
                <a:spcPct val="100000"/>
              </a:lnSpc>
              <a:spcBef>
                <a:spcPts val="360"/>
              </a:spcBef>
              <a:spcAft>
                <a:spcPts val="0"/>
              </a:spcAft>
              <a:buSzPts val="1800"/>
              <a:buNone/>
            </a:pPr>
            <a:r>
              <a:rPr lang="en-US" altLang="en-US" sz="1300"/>
              <a:t>However in India the RBI has prescribed the minimum capital adequacy ration of</a:t>
            </a:r>
            <a:endParaRPr lang="en-US" altLang="en-US" sz="1300"/>
          </a:p>
          <a:p>
            <a:pPr marL="114300" lvl="0" indent="0" algn="l" rtl="0">
              <a:lnSpc>
                <a:spcPct val="100000"/>
              </a:lnSpc>
              <a:spcBef>
                <a:spcPts val="360"/>
              </a:spcBef>
              <a:spcAft>
                <a:spcPts val="0"/>
              </a:spcAft>
              <a:buSzPts val="1800"/>
              <a:buNone/>
            </a:pPr>
            <a:r>
              <a:rPr lang="en-US" altLang="en-US" sz="1300"/>
              <a:t>9% of weighted risks.</a:t>
            </a:r>
            <a:endParaRPr lang="en-US" altLang="en-US" sz="1300"/>
          </a:p>
          <a:p>
            <a:pPr marL="114300" lvl="0" indent="0" algn="l" rtl="0">
              <a:lnSpc>
                <a:spcPct val="100000"/>
              </a:lnSpc>
              <a:spcBef>
                <a:spcPts val="360"/>
              </a:spcBef>
              <a:spcAft>
                <a:spcPts val="0"/>
              </a:spcAft>
              <a:buSzPts val="1800"/>
              <a:buNone/>
            </a:pPr>
            <a:endParaRPr lang="en-US" altLang="en-US" sz="1300"/>
          </a:p>
          <a:p>
            <a:pPr marL="114300" lvl="0" indent="0" algn="l" rtl="0">
              <a:lnSpc>
                <a:spcPct val="100000"/>
              </a:lnSpc>
              <a:spcBef>
                <a:spcPts val="360"/>
              </a:spcBef>
              <a:spcAft>
                <a:spcPts val="0"/>
              </a:spcAft>
              <a:buSzPts val="1800"/>
              <a:buNone/>
            </a:pPr>
            <a:r>
              <a:rPr lang="en-US" altLang="en-US" sz="1800"/>
              <a:t>Pillar II - Supervisory Review</a:t>
            </a:r>
            <a:endParaRPr lang="en-US" altLang="en-US" sz="1800"/>
          </a:p>
          <a:p>
            <a:pPr marL="114300" lvl="0" indent="0" algn="l" rtl="0">
              <a:lnSpc>
                <a:spcPct val="50000"/>
              </a:lnSpc>
              <a:spcBef>
                <a:spcPts val="360"/>
              </a:spcBef>
              <a:spcAft>
                <a:spcPts val="0"/>
              </a:spcAft>
              <a:buSzPts val="1800"/>
              <a:buNone/>
            </a:pPr>
            <a:endParaRPr lang="en-US" altLang="en-US" sz="2400"/>
          </a:p>
          <a:p>
            <a:pPr marL="571500" lvl="1" indent="0" algn="l" rtl="0">
              <a:lnSpc>
                <a:spcPct val="100000"/>
              </a:lnSpc>
              <a:spcBef>
                <a:spcPts val="360"/>
              </a:spcBef>
              <a:spcAft>
                <a:spcPts val="0"/>
              </a:spcAft>
              <a:buSzPts val="1800"/>
              <a:buNone/>
            </a:pPr>
            <a:r>
              <a:rPr lang="en-US" altLang="en-US" sz="1300"/>
              <a:t>The supervisory review should be carried in the following manner</a:t>
            </a:r>
            <a:endParaRPr lang="en-US" altLang="en-US" sz="1300"/>
          </a:p>
          <a:p>
            <a:pPr lvl="1" algn="l" rtl="0">
              <a:lnSpc>
                <a:spcPct val="100000"/>
              </a:lnSpc>
              <a:spcBef>
                <a:spcPts val="360"/>
              </a:spcBef>
              <a:spcAft>
                <a:spcPts val="0"/>
              </a:spcAft>
              <a:buSzPts val="1800"/>
              <a:buFont typeface="Arial" panose="020B0604020202020204" pitchFamily="34" charset="0"/>
              <a:buChar char="•"/>
            </a:pPr>
            <a:r>
              <a:rPr lang="en-US" altLang="en-US" sz="1300"/>
              <a:t>Banks should have a process for assessing their overall capital adequacy</a:t>
            </a:r>
            <a:endParaRPr lang="en-US" altLang="en-US" sz="1300"/>
          </a:p>
          <a:p>
            <a:pPr lvl="1" algn="l" rtl="0">
              <a:lnSpc>
                <a:spcPct val="100000"/>
              </a:lnSpc>
              <a:spcBef>
                <a:spcPts val="360"/>
              </a:spcBef>
              <a:spcAft>
                <a:spcPts val="0"/>
              </a:spcAft>
              <a:buSzPts val="1800"/>
              <a:buFont typeface="Arial" panose="020B0604020202020204" pitchFamily="34" charset="0"/>
              <a:buChar char="•"/>
            </a:pPr>
            <a:r>
              <a:rPr lang="en-US" altLang="en-US" sz="1300"/>
              <a:t>Supervisors should review banks assessments</a:t>
            </a:r>
            <a:endParaRPr lang="en-US" altLang="en-US" sz="1300"/>
          </a:p>
          <a:p>
            <a:pPr lvl="1" algn="l" rtl="0">
              <a:lnSpc>
                <a:spcPct val="100000"/>
              </a:lnSpc>
              <a:spcBef>
                <a:spcPts val="360"/>
              </a:spcBef>
              <a:spcAft>
                <a:spcPts val="0"/>
              </a:spcAft>
              <a:buSzPts val="1800"/>
              <a:buFont typeface="Arial" panose="020B0604020202020204" pitchFamily="34" charset="0"/>
              <a:buChar char="•"/>
            </a:pPr>
            <a:r>
              <a:rPr lang="en-US" altLang="en-US" sz="1300"/>
              <a:t>Banks are expected to operate above minimum</a:t>
            </a:r>
            <a:endParaRPr lang="en-US" altLang="en-US" sz="1300"/>
          </a:p>
          <a:p>
            <a:pPr lvl="1" algn="l" rtl="0">
              <a:lnSpc>
                <a:spcPct val="100000"/>
              </a:lnSpc>
              <a:spcBef>
                <a:spcPts val="360"/>
              </a:spcBef>
              <a:spcAft>
                <a:spcPts val="0"/>
              </a:spcAft>
              <a:buSzPts val="1800"/>
              <a:buFont typeface="Arial" panose="020B0604020202020204" pitchFamily="34" charset="0"/>
              <a:buChar char="•"/>
            </a:pPr>
            <a:r>
              <a:rPr lang="en-US" altLang="en-US" sz="1300"/>
              <a:t>Supervisors intervention if capital is not sufficient</a:t>
            </a:r>
            <a:endParaRPr lang="en-US" altLang="en-US" sz="1300"/>
          </a:p>
          <a:p>
            <a:pPr marL="114300" lvl="0" indent="0" algn="l" rtl="0">
              <a:lnSpc>
                <a:spcPct val="100000"/>
              </a:lnSpc>
              <a:spcBef>
                <a:spcPts val="360"/>
              </a:spcBef>
              <a:spcAft>
                <a:spcPts val="0"/>
              </a:spcAft>
              <a:buSzPts val="1800"/>
              <a:buNone/>
            </a:pP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sym typeface="+mn-ea"/>
              </a:rPr>
              <a:t>Basel II</a:t>
            </a:r>
            <a:endParaRPr lang="en-IN"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altLang="en-US" sz="1800"/>
              <a:t>Pillar III - Market Discipline</a:t>
            </a:r>
            <a:endParaRPr lang="en-US" altLang="en-US" sz="1800"/>
          </a:p>
          <a:p>
            <a:pPr marL="114300" lvl="0" indent="0" algn="l" rtl="0">
              <a:lnSpc>
                <a:spcPct val="0"/>
              </a:lnSpc>
              <a:spcBef>
                <a:spcPts val="360"/>
              </a:spcBef>
              <a:spcAft>
                <a:spcPts val="0"/>
              </a:spcAft>
              <a:buSzPts val="1800"/>
              <a:buNone/>
            </a:pPr>
            <a:endParaRPr lang="en-US" altLang="en-US" sz="1800"/>
          </a:p>
          <a:p>
            <a:pPr lvl="1" algn="l" rtl="0">
              <a:lnSpc>
                <a:spcPct val="100000"/>
              </a:lnSpc>
              <a:spcBef>
                <a:spcPts val="360"/>
              </a:spcBef>
              <a:spcAft>
                <a:spcPts val="0"/>
              </a:spcAft>
              <a:buSzPts val="1800"/>
              <a:buFont typeface="Arial" panose="020B0604020202020204" pitchFamily="34" charset="0"/>
              <a:buChar char="•"/>
            </a:pPr>
            <a:endParaRPr lang="en-US" altLang="en-US" sz="1300"/>
          </a:p>
          <a:p>
            <a:pPr lvl="1" algn="l" rtl="0">
              <a:lnSpc>
                <a:spcPct val="100000"/>
              </a:lnSpc>
              <a:spcBef>
                <a:spcPts val="360"/>
              </a:spcBef>
              <a:spcAft>
                <a:spcPts val="0"/>
              </a:spcAft>
              <a:buSzPts val="1800"/>
              <a:buFont typeface="Arial" panose="020B0604020202020204" pitchFamily="34" charset="0"/>
              <a:buChar char="•"/>
            </a:pPr>
            <a:r>
              <a:rPr lang="en-US" altLang="en-US" sz="1300"/>
              <a:t>Role of the market in evaluating the adequacy of bank capital</a:t>
            </a:r>
            <a:endParaRPr lang="en-US" altLang="en-US" sz="1300"/>
          </a:p>
          <a:p>
            <a:pPr lvl="1" algn="l" rtl="0">
              <a:lnSpc>
                <a:spcPct val="100000"/>
              </a:lnSpc>
              <a:spcBef>
                <a:spcPts val="360"/>
              </a:spcBef>
              <a:spcAft>
                <a:spcPts val="0"/>
              </a:spcAft>
              <a:buSzPts val="1800"/>
              <a:buFont typeface="Arial" panose="020B0604020202020204" pitchFamily="34" charset="0"/>
              <a:buChar char="•"/>
            </a:pPr>
            <a:r>
              <a:rPr lang="en-US" altLang="en-US" sz="1300"/>
              <a:t>Streamlined catalogue of disclosure requirements</a:t>
            </a:r>
            <a:endParaRPr lang="en-US" altLang="en-US" sz="1300"/>
          </a:p>
          <a:p>
            <a:pPr lvl="1" algn="l" rtl="0">
              <a:lnSpc>
                <a:spcPct val="100000"/>
              </a:lnSpc>
              <a:spcBef>
                <a:spcPts val="360"/>
              </a:spcBef>
              <a:spcAft>
                <a:spcPts val="0"/>
              </a:spcAft>
              <a:buSzPts val="1800"/>
              <a:buFont typeface="Arial" panose="020B0604020202020204" pitchFamily="34" charset="0"/>
              <a:buChar char="•"/>
            </a:pPr>
            <a:r>
              <a:rPr lang="en-US" altLang="en-US" sz="1300"/>
              <a:t>Close coordination with international accounting standards</a:t>
            </a:r>
            <a:endParaRPr lang="en-US" altLang="en-US" sz="1300"/>
          </a:p>
          <a:p>
            <a:pPr lvl="1" algn="l" rtl="0">
              <a:lnSpc>
                <a:spcPct val="100000"/>
              </a:lnSpc>
              <a:spcBef>
                <a:spcPts val="360"/>
              </a:spcBef>
              <a:spcAft>
                <a:spcPts val="0"/>
              </a:spcAft>
              <a:buSzPts val="1800"/>
              <a:buFont typeface="Arial" panose="020B0604020202020204" pitchFamily="34" charset="0"/>
              <a:buChar char="•"/>
            </a:pPr>
            <a:r>
              <a:rPr lang="en-US" altLang="en-US" sz="1300"/>
              <a:t>In principle, disclosure of data on semi annual basis</a:t>
            </a:r>
            <a:endParaRPr lang="en-US" altLang="en-US" sz="1300"/>
          </a:p>
          <a:p>
            <a:pPr lvl="1" algn="l" rtl="0">
              <a:lnSpc>
                <a:spcPct val="100000"/>
              </a:lnSpc>
              <a:spcBef>
                <a:spcPts val="360"/>
              </a:spcBef>
              <a:spcAft>
                <a:spcPts val="0"/>
              </a:spcAft>
              <a:buSzPts val="1800"/>
              <a:buFont typeface="Arial" panose="020B0604020202020204" pitchFamily="34" charset="0"/>
              <a:buChar char="•"/>
            </a:pPr>
            <a:endParaRPr lang="en-US" altLang="en-US" sz="1300"/>
          </a:p>
          <a:p>
            <a:pPr marL="571500" lvl="1" indent="0" algn="l" rtl="0">
              <a:lnSpc>
                <a:spcPct val="100000"/>
              </a:lnSpc>
              <a:spcBef>
                <a:spcPts val="360"/>
              </a:spcBef>
              <a:spcAft>
                <a:spcPts val="0"/>
              </a:spcAft>
              <a:buSzPts val="1800"/>
              <a:buFont typeface="Arial" panose="020B0604020202020204" pitchFamily="34" charset="0"/>
              <a:buNone/>
            </a:pPr>
            <a:r>
              <a:rPr lang="en-US" altLang="en-US" sz="1600" b="1"/>
              <a:t>Core capital and supplementary capital</a:t>
            </a:r>
            <a:endParaRPr lang="en-US" altLang="en-US" sz="1300"/>
          </a:p>
          <a:p>
            <a:pPr marL="571500" lvl="1" indent="457200" algn="l" rtl="0">
              <a:lnSpc>
                <a:spcPct val="100000"/>
              </a:lnSpc>
              <a:spcBef>
                <a:spcPts val="360"/>
              </a:spcBef>
              <a:spcAft>
                <a:spcPts val="0"/>
              </a:spcAft>
              <a:buSzPts val="1800"/>
              <a:buFont typeface="Arial" panose="020B0604020202020204" pitchFamily="34" charset="0"/>
              <a:buNone/>
            </a:pPr>
            <a:endParaRPr lang="en-US" altLang="en-US" sz="1300"/>
          </a:p>
          <a:p>
            <a:pPr marL="571500" lvl="1" indent="457200" algn="l" rtl="0">
              <a:lnSpc>
                <a:spcPct val="100000"/>
              </a:lnSpc>
              <a:spcBef>
                <a:spcPts val="360"/>
              </a:spcBef>
              <a:spcAft>
                <a:spcPts val="0"/>
              </a:spcAft>
              <a:buSzPts val="1800"/>
              <a:buFont typeface="Arial" panose="020B0604020202020204" pitchFamily="34" charset="0"/>
              <a:buNone/>
            </a:pPr>
            <a:r>
              <a:rPr lang="en-US" altLang="en-US" sz="1300"/>
              <a:t>Under Basel accord a bank has to maintain a certain level of cash or liquid assets as a</a:t>
            </a:r>
            <a:endParaRPr lang="en-US" altLang="en-US" sz="1300"/>
          </a:p>
          <a:p>
            <a:pPr marL="571500" lvl="1" indent="0" algn="l" rtl="0">
              <a:lnSpc>
                <a:spcPct val="100000"/>
              </a:lnSpc>
              <a:spcBef>
                <a:spcPts val="360"/>
              </a:spcBef>
              <a:spcAft>
                <a:spcPts val="0"/>
              </a:spcAft>
              <a:buSzPts val="1800"/>
              <a:buFont typeface="Arial" panose="020B0604020202020204" pitchFamily="34" charset="0"/>
              <a:buNone/>
            </a:pPr>
            <a:r>
              <a:rPr lang="en-US" altLang="en-US" sz="1300"/>
              <a:t>ratio of its weighted assets. Tier I capital is banks core capital, where as tier 2 capital is a banks</a:t>
            </a:r>
            <a:endParaRPr lang="en-US" altLang="en-US" sz="1300"/>
          </a:p>
          <a:p>
            <a:pPr marL="571500" lvl="1" indent="0" algn="l" rtl="0">
              <a:lnSpc>
                <a:spcPct val="100000"/>
              </a:lnSpc>
              <a:spcBef>
                <a:spcPts val="360"/>
              </a:spcBef>
              <a:spcAft>
                <a:spcPts val="0"/>
              </a:spcAft>
              <a:buSzPts val="1800"/>
              <a:buFont typeface="Arial" panose="020B0604020202020204" pitchFamily="34" charset="0"/>
              <a:buNone/>
            </a:pPr>
            <a:r>
              <a:rPr lang="en-US" altLang="en-US" sz="1300"/>
              <a:t>supplementary capital. A banks capital is calculated by adding its tier 1 and tier 2 capital together</a:t>
            </a: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sym typeface="+mn-ea"/>
              </a:rPr>
              <a:t>Basel III</a:t>
            </a:r>
            <a:endParaRPr lang="en-IN"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marL="114300" lvl="0" indent="457200" algn="l" rtl="0">
              <a:lnSpc>
                <a:spcPct val="100000"/>
              </a:lnSpc>
              <a:spcBef>
                <a:spcPts val="360"/>
              </a:spcBef>
              <a:spcAft>
                <a:spcPts val="0"/>
              </a:spcAft>
              <a:buSzPts val="1800"/>
              <a:buNone/>
            </a:pPr>
            <a:endParaRPr lang="en-US" altLang="en-US" sz="1300"/>
          </a:p>
          <a:p>
            <a:pPr marL="114300" lvl="0" indent="457200" algn="l" rtl="0">
              <a:lnSpc>
                <a:spcPct val="100000"/>
              </a:lnSpc>
              <a:spcBef>
                <a:spcPts val="360"/>
              </a:spcBef>
              <a:spcAft>
                <a:spcPts val="0"/>
              </a:spcAft>
              <a:buSzPts val="1800"/>
              <a:buNone/>
            </a:pPr>
            <a:r>
              <a:rPr lang="en-US" altLang="en-US" sz="1300"/>
              <a:t>Basel III is an extension of Basel II framework and introduces new capital and liquidity</a:t>
            </a:r>
            <a:endParaRPr lang="en-US" altLang="en-US" sz="1300"/>
          </a:p>
          <a:p>
            <a:pPr marL="114300" lvl="0" indent="0" algn="l" rtl="0">
              <a:lnSpc>
                <a:spcPct val="100000"/>
              </a:lnSpc>
              <a:spcBef>
                <a:spcPts val="360"/>
              </a:spcBef>
              <a:spcAft>
                <a:spcPts val="0"/>
              </a:spcAft>
              <a:buSzPts val="1800"/>
              <a:buNone/>
            </a:pPr>
            <a:r>
              <a:rPr lang="en-US" altLang="en-US" sz="1300"/>
              <a:t>standards to strengthen the regulation, supervision and risk management of the whole of the</a:t>
            </a:r>
            <a:endParaRPr lang="en-US" altLang="en-US" sz="1300"/>
          </a:p>
          <a:p>
            <a:pPr marL="114300" lvl="0" indent="0" algn="l" rtl="0">
              <a:lnSpc>
                <a:spcPct val="100000"/>
              </a:lnSpc>
              <a:spcBef>
                <a:spcPts val="360"/>
              </a:spcBef>
              <a:spcAft>
                <a:spcPts val="0"/>
              </a:spcAft>
              <a:buSzPts val="1800"/>
              <a:buNone/>
            </a:pPr>
            <a:r>
              <a:rPr lang="en-US" altLang="en-US" sz="1300"/>
              <a:t>banking and finance sector.</a:t>
            </a:r>
            <a:endParaRPr lang="en-US" altLang="en-US" sz="1300"/>
          </a:p>
          <a:p>
            <a:pPr marL="114300" lvl="0" indent="0" algn="l" rtl="0">
              <a:lnSpc>
                <a:spcPct val="100000"/>
              </a:lnSpc>
              <a:spcBef>
                <a:spcPts val="360"/>
              </a:spcBef>
              <a:spcAft>
                <a:spcPts val="0"/>
              </a:spcAft>
              <a:buSzPts val="1800"/>
              <a:buNone/>
            </a:pPr>
            <a:endParaRPr lang="en-US" altLang="en-US" sz="1300"/>
          </a:p>
          <a:p>
            <a:pPr marL="114300" lvl="0" indent="457200" algn="l" rtl="0">
              <a:lnSpc>
                <a:spcPct val="100000"/>
              </a:lnSpc>
              <a:spcBef>
                <a:spcPts val="360"/>
              </a:spcBef>
              <a:spcAft>
                <a:spcPts val="0"/>
              </a:spcAft>
              <a:buSzPts val="1800"/>
              <a:buNone/>
            </a:pPr>
            <a:r>
              <a:rPr lang="en-US" altLang="en-US" sz="1300"/>
              <a:t>It was agreed upon by the numbers of the Basel committee on banking supervision in 2010 - 2011 and was scheduled to be introduced from 2013 until 2015.The changes made from 2013 April extended implementation up to 31st march 2018.</a:t>
            </a:r>
            <a:endParaRPr lang="en-US" altLang="en-US" sz="1300"/>
          </a:p>
          <a:p>
            <a:pPr marL="114300" lvl="0" indent="457200" algn="l" rtl="0">
              <a:lnSpc>
                <a:spcPct val="100000"/>
              </a:lnSpc>
              <a:spcBef>
                <a:spcPts val="360"/>
              </a:spcBef>
              <a:spcAft>
                <a:spcPts val="0"/>
              </a:spcAft>
              <a:buSzPts val="1800"/>
              <a:buNone/>
            </a:pPr>
            <a:endParaRPr lang="en-US" altLang="en-US" sz="1300"/>
          </a:p>
          <a:p>
            <a:pPr marL="114300" lvl="0" indent="457200" algn="l" rtl="0">
              <a:lnSpc>
                <a:spcPct val="100000"/>
              </a:lnSpc>
              <a:spcBef>
                <a:spcPts val="360"/>
              </a:spcBef>
              <a:spcAft>
                <a:spcPts val="0"/>
              </a:spcAft>
              <a:buSzPts val="1800"/>
              <a:buNone/>
            </a:pPr>
            <a:r>
              <a:rPr lang="en-US" altLang="en-US" sz="1300"/>
              <a:t>TheBasel 111 requirements were in response to the deficiencies in financial regulation that is</a:t>
            </a:r>
            <a:endParaRPr lang="en-US" altLang="en-US" sz="1300"/>
          </a:p>
          <a:p>
            <a:pPr marL="114300" lvl="0" indent="0" algn="l" rtl="0">
              <a:lnSpc>
                <a:spcPct val="100000"/>
              </a:lnSpc>
              <a:spcBef>
                <a:spcPts val="360"/>
              </a:spcBef>
              <a:spcAft>
                <a:spcPts val="0"/>
              </a:spcAft>
              <a:buSzPts val="1800"/>
              <a:buNone/>
            </a:pPr>
            <a:r>
              <a:rPr lang="en-US" altLang="en-US" sz="1300"/>
              <a:t>revaluated by the financial crisis seen during 2000. Basel III was intended to strengthen the</a:t>
            </a:r>
            <a:endParaRPr lang="en-US" altLang="en-US" sz="1300"/>
          </a:p>
          <a:p>
            <a:pPr marL="114300" lvl="0" indent="0" algn="l" rtl="0">
              <a:lnSpc>
                <a:spcPct val="100000"/>
              </a:lnSpc>
              <a:spcBef>
                <a:spcPts val="360"/>
              </a:spcBef>
              <a:spcAft>
                <a:spcPts val="0"/>
              </a:spcAft>
              <a:buSzPts val="1800"/>
              <a:buNone/>
            </a:pPr>
            <a:r>
              <a:rPr lang="en-US" altLang="en-US" sz="1300"/>
              <a:t>capital requirements of banks by increasing the banks liability and decreasing bank leverages.</a:t>
            </a:r>
            <a:endParaRPr lang="en-US" altLang="en-US" sz="1300"/>
          </a:p>
          <a:p>
            <a:pPr marL="114300" lvl="0" indent="0" algn="l" rtl="0">
              <a:lnSpc>
                <a:spcPct val="100000"/>
              </a:lnSpc>
              <a:spcBef>
                <a:spcPts val="360"/>
              </a:spcBef>
              <a:spcAft>
                <a:spcPts val="0"/>
              </a:spcAft>
              <a:buSzPts val="1800"/>
              <a:buNone/>
            </a:pPr>
            <a:endParaRPr lang="en-US" altLang="en-US" sz="1300"/>
          </a:p>
          <a:p>
            <a:pPr marL="114300" lvl="0" indent="457200" algn="l" rtl="0">
              <a:lnSpc>
                <a:spcPct val="100000"/>
              </a:lnSpc>
              <a:spcBef>
                <a:spcPts val="360"/>
              </a:spcBef>
              <a:spcAft>
                <a:spcPts val="0"/>
              </a:spcAft>
              <a:buSzPts val="1800"/>
              <a:buNone/>
            </a:pPr>
            <a:r>
              <a:rPr lang="en-US" altLang="en-US" sz="1300"/>
              <a:t>The global capital framework and new capital buffers require financial institutions to hold</a:t>
            </a:r>
            <a:endParaRPr lang="en-US" altLang="en-US" sz="1300"/>
          </a:p>
          <a:p>
            <a:pPr marL="114300" lvl="0" indent="0" algn="l" rtl="0">
              <a:lnSpc>
                <a:spcPct val="100000"/>
              </a:lnSpc>
              <a:spcBef>
                <a:spcPts val="360"/>
              </a:spcBef>
              <a:spcAft>
                <a:spcPts val="0"/>
              </a:spcAft>
              <a:buSzPts val="1800"/>
              <a:buNone/>
            </a:pPr>
            <a:r>
              <a:rPr lang="en-US" altLang="en-US" sz="1300"/>
              <a:t>more capital and higher quality of capital than under the Basel II rules. The new liquidity ratio</a:t>
            </a:r>
            <a:endParaRPr lang="en-US" altLang="en-US" sz="1300"/>
          </a:p>
          <a:p>
            <a:pPr marL="114300" lvl="0" indent="0" algn="l" rtl="0">
              <a:lnSpc>
                <a:spcPct val="100000"/>
              </a:lnSpc>
              <a:spcBef>
                <a:spcPts val="360"/>
              </a:spcBef>
              <a:spcAft>
                <a:spcPts val="0"/>
              </a:spcAft>
              <a:buSzPts val="1800"/>
              <a:buNone/>
            </a:pPr>
            <a:r>
              <a:rPr lang="en-US" altLang="en-US" sz="1300"/>
              <a:t>ensure the adequate funding is maintained in case there are other severe banking crisis.</a:t>
            </a: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sym typeface="+mn-ea"/>
              </a:rPr>
              <a:t>Basel III</a:t>
            </a:r>
            <a:endParaRPr lang="en-IN"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marL="114300" lvl="0" indent="457200" algn="l" rtl="0">
              <a:lnSpc>
                <a:spcPct val="100000"/>
              </a:lnSpc>
              <a:spcBef>
                <a:spcPts val="360"/>
              </a:spcBef>
              <a:spcAft>
                <a:spcPts val="0"/>
              </a:spcAft>
              <a:buSzPts val="1800"/>
              <a:buNone/>
            </a:pPr>
            <a:endParaRPr lang="en-US" altLang="en-US" sz="1300"/>
          </a:p>
          <a:p>
            <a:pPr marL="114300" lvl="0" indent="457200" algn="l" rtl="0">
              <a:lnSpc>
                <a:spcPct val="100000"/>
              </a:lnSpc>
              <a:spcBef>
                <a:spcPts val="360"/>
              </a:spcBef>
              <a:spcAft>
                <a:spcPts val="0"/>
              </a:spcAft>
              <a:buSzPts val="1800"/>
              <a:buNone/>
            </a:pPr>
            <a:r>
              <a:rPr lang="en-US" altLang="en-US" sz="1300"/>
              <a:t>Basel III has the following three pillars</a:t>
            </a:r>
            <a:endParaRPr lang="en-US" altLang="en-US" sz="1300"/>
          </a:p>
          <a:p>
            <a:pPr marL="114300" lvl="0" indent="457200" algn="l" rtl="0">
              <a:lnSpc>
                <a:spcPct val="100000"/>
              </a:lnSpc>
              <a:spcBef>
                <a:spcPts val="360"/>
              </a:spcBef>
              <a:spcAft>
                <a:spcPts val="0"/>
              </a:spcAft>
              <a:buSzPts val="1800"/>
              <a:buNone/>
            </a:pPr>
            <a:endParaRPr lang="en-US" altLang="en-US" sz="1300"/>
          </a:p>
          <a:p>
            <a:pPr marL="400050" lvl="0" indent="-285750" algn="l" rtl="0">
              <a:lnSpc>
                <a:spcPct val="100000"/>
              </a:lnSpc>
              <a:spcBef>
                <a:spcPts val="360"/>
              </a:spcBef>
              <a:spcAft>
                <a:spcPts val="0"/>
              </a:spcAft>
              <a:buSzPts val="1800"/>
              <a:buFont typeface="Arial" panose="020B0604020202020204" pitchFamily="34" charset="0"/>
              <a:buChar char="•"/>
            </a:pPr>
            <a:r>
              <a:rPr lang="en-US" altLang="en-US" sz="1300"/>
              <a:t>Pillar I : minimum capital requirements</a:t>
            </a:r>
            <a:endParaRPr lang="en-US" altLang="en-US" sz="1300"/>
          </a:p>
          <a:p>
            <a:pPr marL="400050" lvl="0" indent="-285750" algn="l" rtl="0">
              <a:lnSpc>
                <a:spcPct val="100000"/>
              </a:lnSpc>
              <a:spcBef>
                <a:spcPts val="360"/>
              </a:spcBef>
              <a:spcAft>
                <a:spcPts val="0"/>
              </a:spcAft>
              <a:buSzPts val="1800"/>
              <a:buFont typeface="Arial" panose="020B0604020202020204" pitchFamily="34" charset="0"/>
              <a:buChar char="•"/>
            </a:pPr>
            <a:r>
              <a:rPr lang="en-US" altLang="en-US" sz="1300"/>
              <a:t>Pillar II : supervisory review process</a:t>
            </a:r>
            <a:endParaRPr lang="en-US" altLang="en-US" sz="1300"/>
          </a:p>
          <a:p>
            <a:pPr marL="400050" lvl="0" indent="-285750" algn="l" rtl="0">
              <a:lnSpc>
                <a:spcPct val="100000"/>
              </a:lnSpc>
              <a:spcBef>
                <a:spcPts val="360"/>
              </a:spcBef>
              <a:spcAft>
                <a:spcPts val="0"/>
              </a:spcAft>
              <a:buSzPts val="1800"/>
              <a:buFont typeface="Arial" panose="020B0604020202020204" pitchFamily="34" charset="0"/>
              <a:buChar char="•"/>
            </a:pPr>
            <a:r>
              <a:rPr lang="en-US" altLang="en-US" sz="1300"/>
              <a:t>Pillar III: Enhanced disclosure(Discipline of market)</a:t>
            </a:r>
            <a:endParaRPr lang="en-US" altLang="en-US" sz="1300"/>
          </a:p>
          <a:p>
            <a:pPr marL="114300" lvl="0" indent="457200" algn="l" rtl="0">
              <a:lnSpc>
                <a:spcPct val="100000"/>
              </a:lnSpc>
              <a:spcBef>
                <a:spcPts val="360"/>
              </a:spcBef>
              <a:spcAft>
                <a:spcPts val="0"/>
              </a:spcAft>
              <a:buSzPts val="1800"/>
              <a:buNone/>
            </a:pPr>
            <a:r>
              <a:rPr lang="en-US" altLang="en-US" sz="1300"/>
              <a:t> </a:t>
            </a:r>
            <a:endParaRPr lang="en-US" altLang="en-US" sz="1300"/>
          </a:p>
          <a:p>
            <a:pPr marL="114300" lvl="0" indent="457200" algn="l" rtl="0">
              <a:lnSpc>
                <a:spcPct val="100000"/>
              </a:lnSpc>
              <a:spcBef>
                <a:spcPts val="360"/>
              </a:spcBef>
              <a:spcAft>
                <a:spcPts val="0"/>
              </a:spcAft>
              <a:buSzPts val="1800"/>
              <a:buNone/>
            </a:pPr>
            <a:r>
              <a:rPr lang="en-US" altLang="en-US" sz="1300"/>
              <a:t>Basel III rule introduced the following measures</a:t>
            </a:r>
            <a:endParaRPr lang="en-US" altLang="en-US" sz="1300"/>
          </a:p>
          <a:p>
            <a:pPr marL="114300" lvl="0" indent="457200" algn="l" rtl="0">
              <a:lnSpc>
                <a:spcPct val="100000"/>
              </a:lnSpc>
              <a:spcBef>
                <a:spcPts val="360"/>
              </a:spcBef>
              <a:spcAft>
                <a:spcPts val="0"/>
              </a:spcAft>
              <a:buSzPts val="1800"/>
              <a:buNone/>
            </a:pPr>
            <a:endParaRPr lang="en-US" altLang="en-US" sz="1300"/>
          </a:p>
          <a:p>
            <a:pPr marL="400050" lvl="0" indent="-285750" algn="l" rtl="0">
              <a:lnSpc>
                <a:spcPct val="100000"/>
              </a:lnSpc>
              <a:spcBef>
                <a:spcPts val="360"/>
              </a:spcBef>
              <a:spcAft>
                <a:spcPts val="0"/>
              </a:spcAft>
              <a:buSzPts val="1800"/>
            </a:pPr>
            <a:r>
              <a:rPr lang="en-US" altLang="en-US" sz="1300"/>
              <a:t>Capital requirements</a:t>
            </a:r>
            <a:endParaRPr lang="en-US" altLang="en-US" sz="1300"/>
          </a:p>
          <a:p>
            <a:pPr marL="400050" lvl="0" indent="-285750" algn="l" rtl="0">
              <a:lnSpc>
                <a:spcPct val="100000"/>
              </a:lnSpc>
              <a:spcBef>
                <a:spcPts val="360"/>
              </a:spcBef>
              <a:spcAft>
                <a:spcPts val="0"/>
              </a:spcAft>
              <a:buSzPts val="1800"/>
            </a:pPr>
            <a:r>
              <a:rPr lang="en-US" altLang="en-US" sz="1300"/>
              <a:t>Counter cyclic capital buffer</a:t>
            </a:r>
            <a:endParaRPr lang="en-US" altLang="en-US" sz="1300"/>
          </a:p>
          <a:p>
            <a:pPr marL="400050" lvl="0" indent="-285750" algn="l" rtl="0">
              <a:lnSpc>
                <a:spcPct val="100000"/>
              </a:lnSpc>
              <a:spcBef>
                <a:spcPts val="360"/>
              </a:spcBef>
              <a:spcAft>
                <a:spcPts val="0"/>
              </a:spcAft>
              <a:buSzPts val="1800"/>
            </a:pPr>
            <a:r>
              <a:rPr lang="en-US" altLang="en-US" sz="1300"/>
              <a:t>Leverage Ratio</a:t>
            </a:r>
            <a:endParaRPr lang="en-US" altLang="en-US" sz="1300"/>
          </a:p>
          <a:p>
            <a:pPr marL="400050" lvl="0" indent="-285750" algn="l" rtl="0">
              <a:lnSpc>
                <a:spcPct val="100000"/>
              </a:lnSpc>
              <a:spcBef>
                <a:spcPts val="360"/>
              </a:spcBef>
              <a:spcAft>
                <a:spcPts val="0"/>
              </a:spcAft>
              <a:buSzPts val="1800"/>
            </a:pPr>
            <a:r>
              <a:rPr lang="en-US" altLang="en-US" sz="1300"/>
              <a:t>Liquidity requirements</a:t>
            </a:r>
            <a:endParaRPr lang="en-US" altLang="en-US" sz="1300"/>
          </a:p>
          <a:p>
            <a:pPr marL="400050" lvl="0" indent="-285750" algn="l" rtl="0">
              <a:lnSpc>
                <a:spcPct val="100000"/>
              </a:lnSpc>
              <a:spcBef>
                <a:spcPts val="360"/>
              </a:spcBef>
              <a:spcAft>
                <a:spcPts val="0"/>
              </a:spcAft>
              <a:buSzPts val="1800"/>
            </a:pPr>
            <a:r>
              <a:rPr lang="en-US" altLang="en-US" sz="1300"/>
              <a:t>Changes to counter party credit risk (CCR)</a:t>
            </a: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t>Risks and categories of Risks</a:t>
            </a:r>
            <a:endParaRPr lang="en-US" altLang="en-US"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marL="114300" lvl="0" indent="457200" algn="l" rtl="0">
              <a:lnSpc>
                <a:spcPct val="100000"/>
              </a:lnSpc>
              <a:spcBef>
                <a:spcPts val="360"/>
              </a:spcBef>
              <a:spcAft>
                <a:spcPts val="0"/>
              </a:spcAft>
              <a:buSzPts val="1800"/>
              <a:buNone/>
            </a:pPr>
            <a:endParaRPr lang="en-US" altLang="en-US" sz="1300"/>
          </a:p>
          <a:p>
            <a:pPr marL="571500" lvl="1" indent="457200" algn="l" rtl="0">
              <a:lnSpc>
                <a:spcPct val="100000"/>
              </a:lnSpc>
              <a:spcBef>
                <a:spcPts val="360"/>
              </a:spcBef>
              <a:spcAft>
                <a:spcPts val="0"/>
              </a:spcAft>
              <a:buSzPts val="1800"/>
              <a:buNone/>
            </a:pPr>
            <a:r>
              <a:rPr lang="en-US" altLang="en-US" sz="1300"/>
              <a:t>Banks do face complex environment from which array of risks that came on account of</a:t>
            </a:r>
            <a:endParaRPr lang="en-US" altLang="en-US" sz="1300"/>
          </a:p>
          <a:p>
            <a:pPr marL="114300" lvl="0" indent="457200" algn="l" rtl="0">
              <a:lnSpc>
                <a:spcPct val="100000"/>
              </a:lnSpc>
              <a:spcBef>
                <a:spcPts val="360"/>
              </a:spcBef>
              <a:spcAft>
                <a:spcPts val="0"/>
              </a:spcAft>
              <a:buSzPts val="1800"/>
              <a:buNone/>
            </a:pPr>
            <a:r>
              <a:rPr lang="en-US" altLang="en-US" sz="1300"/>
              <a:t>new type of players, new technologies, ever growing complexities of national and international</a:t>
            </a:r>
            <a:endParaRPr lang="en-US" altLang="en-US" sz="1300"/>
          </a:p>
          <a:p>
            <a:pPr marL="114300" lvl="0" indent="457200" algn="l" rtl="0">
              <a:lnSpc>
                <a:spcPct val="100000"/>
              </a:lnSpc>
              <a:spcBef>
                <a:spcPts val="360"/>
              </a:spcBef>
              <a:spcAft>
                <a:spcPts val="0"/>
              </a:spcAft>
              <a:buSzPts val="1800"/>
              <a:buNone/>
            </a:pPr>
            <a:r>
              <a:rPr lang="en-US" altLang="en-US" sz="1300"/>
              <a:t>regulations ever changing consumer behaviour and the like require measures to address the</a:t>
            </a:r>
            <a:endParaRPr lang="en-US" altLang="en-US" sz="1300"/>
          </a:p>
          <a:p>
            <a:pPr marL="114300" lvl="0" indent="457200" algn="l" rtl="0">
              <a:lnSpc>
                <a:spcPct val="100000"/>
              </a:lnSpc>
              <a:spcBef>
                <a:spcPts val="360"/>
              </a:spcBef>
              <a:spcAft>
                <a:spcPts val="0"/>
              </a:spcAft>
              <a:buSzPts val="1800"/>
              <a:buNone/>
            </a:pPr>
            <a:r>
              <a:rPr lang="en-US" altLang="en-US" sz="1300"/>
              <a:t>financial and other related risks naturally occurring as a result of these changes.</a:t>
            </a:r>
            <a:endParaRPr lang="en-US" altLang="en-US" sz="1300"/>
          </a:p>
          <a:p>
            <a:pPr marL="114300" lvl="0" indent="457200" algn="l" rtl="0">
              <a:lnSpc>
                <a:spcPct val="100000"/>
              </a:lnSpc>
              <a:spcBef>
                <a:spcPts val="360"/>
              </a:spcBef>
              <a:spcAft>
                <a:spcPts val="0"/>
              </a:spcAft>
              <a:buSzPts val="1800"/>
              <a:buNone/>
            </a:pPr>
            <a:endParaRPr lang="en-US" altLang="en-US" sz="1300"/>
          </a:p>
          <a:p>
            <a:pPr marL="571500" lvl="1" indent="457200" algn="l" rtl="0">
              <a:lnSpc>
                <a:spcPct val="100000"/>
              </a:lnSpc>
              <a:spcBef>
                <a:spcPts val="360"/>
              </a:spcBef>
              <a:spcAft>
                <a:spcPts val="0"/>
              </a:spcAft>
              <a:buSzPts val="1800"/>
              <a:buNone/>
            </a:pPr>
            <a:r>
              <a:rPr lang="en-US" altLang="en-US" sz="1300"/>
              <a:t>Risk is an uncertainty of an event to occur. So much so in banking content risk is the</a:t>
            </a:r>
            <a:endParaRPr lang="en-US" altLang="en-US" sz="1300"/>
          </a:p>
          <a:p>
            <a:pPr marL="114300" lvl="0" indent="457200" algn="l" rtl="0">
              <a:lnSpc>
                <a:spcPct val="100000"/>
              </a:lnSpc>
              <a:spcBef>
                <a:spcPts val="360"/>
              </a:spcBef>
              <a:spcAft>
                <a:spcPts val="0"/>
              </a:spcAft>
              <a:buSzPts val="1800"/>
              <a:buNone/>
            </a:pPr>
            <a:r>
              <a:rPr lang="en-US" altLang="en-US" sz="1300"/>
              <a:t>exposure to the uncertainty of an outcome where exposure could be defined as the position a</a:t>
            </a:r>
            <a:endParaRPr lang="en-US" altLang="en-US" sz="1300"/>
          </a:p>
          <a:p>
            <a:pPr marL="114300" lvl="0" indent="457200" algn="l" rtl="0">
              <a:lnSpc>
                <a:spcPct val="100000"/>
              </a:lnSpc>
              <a:spcBef>
                <a:spcPts val="360"/>
              </a:spcBef>
              <a:spcAft>
                <a:spcPts val="0"/>
              </a:spcAft>
              <a:buSzPts val="1800"/>
              <a:buNone/>
            </a:pPr>
            <a:r>
              <a:rPr lang="en-US" altLang="en-US" sz="1300"/>
              <a:t>bank takes in the market.</a:t>
            </a:r>
            <a:endParaRPr lang="en-US" altLang="en-US" sz="1300"/>
          </a:p>
          <a:p>
            <a:pPr marL="114300" lvl="0" indent="457200" algn="l" rtl="0">
              <a:lnSpc>
                <a:spcPct val="100000"/>
              </a:lnSpc>
              <a:spcBef>
                <a:spcPts val="360"/>
              </a:spcBef>
              <a:spcAft>
                <a:spcPts val="0"/>
              </a:spcAft>
              <a:buSzPts val="1800"/>
              <a:buNone/>
            </a:pPr>
            <a:endParaRPr lang="en-US" altLang="en-US" sz="1300"/>
          </a:p>
          <a:p>
            <a:pPr marL="114300" lvl="0" indent="457200" algn="l" rtl="0">
              <a:lnSpc>
                <a:spcPct val="100000"/>
              </a:lnSpc>
              <a:spcBef>
                <a:spcPts val="360"/>
              </a:spcBef>
              <a:spcAft>
                <a:spcPts val="0"/>
              </a:spcAft>
              <a:buSzPts val="1800"/>
              <a:buNone/>
            </a:pPr>
            <a:r>
              <a:rPr lang="en-US" altLang="en-US" sz="1300"/>
              <a:t>Credit risk</a:t>
            </a:r>
            <a:endParaRPr lang="en-US" altLang="en-US" sz="1300"/>
          </a:p>
          <a:p>
            <a:pPr marL="114300" lvl="0" indent="457200" algn="l" rtl="0">
              <a:lnSpc>
                <a:spcPct val="100000"/>
              </a:lnSpc>
              <a:spcBef>
                <a:spcPts val="360"/>
              </a:spcBef>
              <a:spcAft>
                <a:spcPts val="0"/>
              </a:spcAft>
              <a:buSzPts val="1800"/>
              <a:buNone/>
            </a:pPr>
            <a:r>
              <a:rPr lang="en-US" altLang="en-US" sz="1300"/>
              <a:t>Market risk</a:t>
            </a:r>
            <a:endParaRPr lang="en-US" altLang="en-US" sz="1300"/>
          </a:p>
          <a:p>
            <a:pPr marL="114300" lvl="0" indent="457200" algn="l" rtl="0">
              <a:lnSpc>
                <a:spcPct val="100000"/>
              </a:lnSpc>
              <a:spcBef>
                <a:spcPts val="360"/>
              </a:spcBef>
              <a:spcAft>
                <a:spcPts val="0"/>
              </a:spcAft>
              <a:buSzPts val="1800"/>
              <a:buNone/>
            </a:pPr>
            <a:r>
              <a:rPr lang="en-US" altLang="en-US" sz="1300"/>
              <a:t>Equity risks</a:t>
            </a:r>
            <a:endParaRPr lang="en-US" altLang="en-US" sz="1300"/>
          </a:p>
          <a:p>
            <a:pPr marL="114300" lvl="0" indent="457200" algn="l" rtl="0">
              <a:lnSpc>
                <a:spcPct val="100000"/>
              </a:lnSpc>
              <a:spcBef>
                <a:spcPts val="360"/>
              </a:spcBef>
              <a:spcAft>
                <a:spcPts val="0"/>
              </a:spcAft>
              <a:buSzPts val="1800"/>
              <a:buNone/>
            </a:pPr>
            <a:r>
              <a:rPr lang="en-US" altLang="en-US" sz="1300"/>
              <a:t>Operational Risk</a:t>
            </a: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t>Basel Norms</a:t>
            </a:r>
            <a:endParaRPr lang="en-US" altLang="en-US"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marL="114300" lvl="0" indent="457200" algn="l" rtl="0">
              <a:lnSpc>
                <a:spcPct val="100000"/>
              </a:lnSpc>
              <a:spcBef>
                <a:spcPts val="360"/>
              </a:spcBef>
              <a:spcAft>
                <a:spcPts val="0"/>
              </a:spcAft>
              <a:buSzPts val="1800"/>
              <a:buNone/>
            </a:pPr>
            <a:r>
              <a:rPr lang="en-US" altLang="en-US" sz="1300"/>
              <a:t>Basel is a city in Switzerland which is also the headquarters of Bureau of International Settlement (BIS).</a:t>
            </a:r>
            <a:endParaRPr lang="en-US" altLang="en-US" sz="1300"/>
          </a:p>
          <a:p>
            <a:pPr marL="114300" lvl="0" indent="457200" algn="l" rtl="0">
              <a:lnSpc>
                <a:spcPct val="100000"/>
              </a:lnSpc>
              <a:spcBef>
                <a:spcPts val="360"/>
              </a:spcBef>
              <a:spcAft>
                <a:spcPts val="0"/>
              </a:spcAft>
              <a:buSzPts val="1800"/>
              <a:buNone/>
            </a:pPr>
            <a:endParaRPr lang="en-US" altLang="en-US" sz="1300"/>
          </a:p>
          <a:p>
            <a:pPr marL="857250" lvl="1" indent="-285750" algn="l" rtl="0">
              <a:lnSpc>
                <a:spcPct val="130000"/>
              </a:lnSpc>
              <a:spcBef>
                <a:spcPts val="360"/>
              </a:spcBef>
              <a:spcAft>
                <a:spcPts val="0"/>
              </a:spcAft>
              <a:buSzPts val="1800"/>
              <a:buFont typeface="Arial" panose="020B0604020202020204" pitchFamily="34" charset="0"/>
              <a:buChar char="•"/>
            </a:pPr>
            <a:r>
              <a:rPr lang="en-US" altLang="en-US" sz="1300"/>
              <a:t>BIS fosters co-operation among central banks with a common goal of financial stability and common standards of banking regulations.</a:t>
            </a:r>
            <a:endParaRPr lang="en-US" altLang="en-US" sz="1300"/>
          </a:p>
          <a:p>
            <a:pPr marL="857250" lvl="1" indent="-285750" algn="l" rtl="0">
              <a:lnSpc>
                <a:spcPct val="130000"/>
              </a:lnSpc>
              <a:spcBef>
                <a:spcPts val="360"/>
              </a:spcBef>
              <a:spcAft>
                <a:spcPts val="0"/>
              </a:spcAft>
              <a:buSzPts val="1800"/>
              <a:buFont typeface="Arial" panose="020B0604020202020204" pitchFamily="34" charset="0"/>
              <a:buChar char="•"/>
            </a:pPr>
            <a:r>
              <a:rPr lang="en-US" altLang="en-US" sz="1300"/>
              <a:t>The Bank for International Settlements (BIS) established on 17 May 1930, is theworld’s oldest international financial organisation. There are two representative offices in theHong Kong and in Mexico City. In total BIS has 60 member countries from all over the world and covers approx. 95% of the world GDP.</a:t>
            </a:r>
            <a:endParaRPr lang="en-US" altLang="en-US" sz="1300"/>
          </a:p>
          <a:p>
            <a:pPr marL="857250" lvl="1" indent="-285750" algn="l" rtl="0">
              <a:lnSpc>
                <a:spcPct val="130000"/>
              </a:lnSpc>
              <a:spcBef>
                <a:spcPts val="360"/>
              </a:spcBef>
              <a:spcAft>
                <a:spcPts val="0"/>
              </a:spcAft>
              <a:buSzPts val="1800"/>
              <a:buFont typeface="Arial" panose="020B0604020202020204" pitchFamily="34" charset="0"/>
              <a:buChar char="•"/>
            </a:pPr>
            <a:r>
              <a:rPr lang="en-US" altLang="en-US" sz="1300"/>
              <a:t>The set of the agreement by the BCBS (BASEL COMMITTEE ON BANKING SUPERVISION), which mainly focuses on risks to banks and the financial system are called Basel accord.</a:t>
            </a:r>
            <a:endParaRPr lang="en-US" altLang="en-US" sz="1300"/>
          </a:p>
          <a:p>
            <a:pPr marL="857250" lvl="1" indent="-285750" algn="l" rtl="0">
              <a:lnSpc>
                <a:spcPct val="130000"/>
              </a:lnSpc>
              <a:spcBef>
                <a:spcPts val="360"/>
              </a:spcBef>
              <a:spcAft>
                <a:spcPts val="0"/>
              </a:spcAft>
              <a:buSzPts val="1800"/>
              <a:buFont typeface="Arial" panose="020B0604020202020204" pitchFamily="34" charset="0"/>
              <a:buChar char="•"/>
            </a:pPr>
            <a:r>
              <a:rPr lang="en-US" altLang="en-US" sz="1300"/>
              <a:t>The purpose of the accord is to ensure that financial institutions have enough capital on account to meet the obligations and absorb unexpected losses.</a:t>
            </a:r>
            <a:endParaRPr lang="en-US" altLang="en-US" sz="1300"/>
          </a:p>
          <a:p>
            <a:pPr marL="857250" lvl="1" indent="-285750" algn="l" rtl="0">
              <a:lnSpc>
                <a:spcPct val="130000"/>
              </a:lnSpc>
              <a:spcBef>
                <a:spcPts val="360"/>
              </a:spcBef>
              <a:spcAft>
                <a:spcPts val="0"/>
              </a:spcAft>
              <a:buSzPts val="1800"/>
              <a:buFont typeface="Arial" panose="020B0604020202020204" pitchFamily="34" charset="0"/>
              <a:buChar char="•"/>
            </a:pPr>
            <a:r>
              <a:rPr lang="en-US" altLang="en-US" sz="1300"/>
              <a:t>India has accepted Basel accords for the banking system.</a:t>
            </a:r>
            <a:endParaRPr lang="en-US" altLang="en-US" sz="1300"/>
          </a:p>
          <a:p>
            <a:pPr marL="857250" lvl="1" indent="-285750" algn="l" rtl="0">
              <a:lnSpc>
                <a:spcPct val="130000"/>
              </a:lnSpc>
              <a:spcBef>
                <a:spcPts val="360"/>
              </a:spcBef>
              <a:spcAft>
                <a:spcPts val="0"/>
              </a:spcAft>
              <a:buSzPts val="1800"/>
              <a:buFont typeface="Arial" panose="020B0604020202020204" pitchFamily="34" charset="0"/>
              <a:buChar char="•"/>
            </a:pPr>
            <a:r>
              <a:rPr lang="en-US" altLang="en-US" sz="1300"/>
              <a:t>“BASEL ACCORD” has given us three BASEL NORMS which are BASEL 1,2 and 3.</a:t>
            </a: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t>Basel Norms</a:t>
            </a:r>
            <a:endParaRPr lang="en-US" altLang="en-US"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marL="114300" lvl="0" indent="457200" algn="l" rtl="0">
              <a:lnSpc>
                <a:spcPct val="100000"/>
              </a:lnSpc>
              <a:spcBef>
                <a:spcPts val="360"/>
              </a:spcBef>
              <a:spcAft>
                <a:spcPts val="0"/>
              </a:spcAft>
              <a:buSzPts val="1800"/>
              <a:buNone/>
            </a:pPr>
            <a:r>
              <a:rPr lang="en-US" altLang="en-US" sz="1300"/>
              <a:t>BASEL I:</a:t>
            </a:r>
            <a:endParaRPr lang="en-US" altLang="en-US" sz="1300"/>
          </a:p>
          <a:p>
            <a:pPr marL="114300" lvl="0" indent="457200" algn="l" rtl="0">
              <a:lnSpc>
                <a:spcPct val="100000"/>
              </a:lnSpc>
              <a:spcBef>
                <a:spcPts val="360"/>
              </a:spcBef>
              <a:spcAft>
                <a:spcPts val="0"/>
              </a:spcAft>
              <a:buSzPts val="1800"/>
              <a:buNone/>
            </a:pPr>
            <a:endParaRPr lang="en-US" altLang="en-US" sz="1300"/>
          </a:p>
          <a:p>
            <a:pPr marL="400050" lvl="0" indent="-285750" algn="l" rtl="0">
              <a:lnSpc>
                <a:spcPct val="100000"/>
              </a:lnSpc>
              <a:spcBef>
                <a:spcPts val="360"/>
              </a:spcBef>
              <a:spcAft>
                <a:spcPts val="0"/>
              </a:spcAft>
              <a:buSzPts val="1800"/>
              <a:buFont typeface="Arial" panose="020B0604020202020204" pitchFamily="34" charset="0"/>
              <a:buChar char="•"/>
            </a:pPr>
            <a:r>
              <a:rPr lang="en-US" altLang="en-US" sz="1300"/>
              <a:t>In 1988, The Basel Committee on Banking Supervision (BCBS) introduced capital measurement system called Basel capital accord, also called as Basel 1.</a:t>
            </a:r>
            <a:endParaRPr lang="en-US" altLang="en-US" sz="1300"/>
          </a:p>
          <a:p>
            <a:pPr marL="400050" lvl="0" indent="-285750" algn="l" rtl="0">
              <a:lnSpc>
                <a:spcPct val="100000"/>
              </a:lnSpc>
              <a:spcBef>
                <a:spcPts val="360"/>
              </a:spcBef>
              <a:spcAft>
                <a:spcPts val="0"/>
              </a:spcAft>
              <a:buSzPts val="1800"/>
              <a:buFont typeface="Arial" panose="020B0604020202020204" pitchFamily="34" charset="0"/>
              <a:buChar char="•"/>
            </a:pPr>
            <a:r>
              <a:rPr lang="en-US" altLang="en-US" sz="1300"/>
              <a:t>It focused almost entirely on credit risk, it defined capital and structure of risk weights for banks.</a:t>
            </a:r>
            <a:endParaRPr lang="en-US" altLang="en-US" sz="1300"/>
          </a:p>
          <a:p>
            <a:pPr marL="400050" lvl="0" indent="-285750" algn="l" rtl="0">
              <a:lnSpc>
                <a:spcPct val="100000"/>
              </a:lnSpc>
              <a:spcBef>
                <a:spcPts val="360"/>
              </a:spcBef>
              <a:spcAft>
                <a:spcPts val="0"/>
              </a:spcAft>
              <a:buSzPts val="1800"/>
              <a:buFont typeface="Arial" panose="020B0604020202020204" pitchFamily="34" charset="0"/>
              <a:buChar char="•"/>
            </a:pPr>
            <a:r>
              <a:rPr lang="en-US" altLang="en-US" sz="1300"/>
              <a:t>The minimum capital requirement was fixed at 8% of risk-weighted assets (RWA).</a:t>
            </a:r>
            <a:endParaRPr lang="en-US" altLang="en-US" sz="1300"/>
          </a:p>
          <a:p>
            <a:pPr marL="400050" lvl="0" indent="-285750" algn="l" rtl="0">
              <a:lnSpc>
                <a:spcPct val="100000"/>
              </a:lnSpc>
              <a:spcBef>
                <a:spcPts val="360"/>
              </a:spcBef>
              <a:spcAft>
                <a:spcPts val="0"/>
              </a:spcAft>
              <a:buSzPts val="1800"/>
              <a:buFont typeface="Arial" panose="020B0604020202020204" pitchFamily="34" charset="0"/>
              <a:buChar char="•"/>
            </a:pPr>
            <a:r>
              <a:rPr lang="en-US" altLang="en-US" sz="1300"/>
              <a:t>India adopted Basel I in the year 1999.</a:t>
            </a:r>
            <a:endParaRPr lang="en-US" altLang="en-US" sz="1300"/>
          </a:p>
          <a:p>
            <a:pPr marL="400050" lvl="0" indent="-285750" algn="l" rtl="0">
              <a:lnSpc>
                <a:spcPct val="100000"/>
              </a:lnSpc>
              <a:spcBef>
                <a:spcPts val="360"/>
              </a:spcBef>
              <a:spcAft>
                <a:spcPts val="0"/>
              </a:spcAft>
              <a:buSzPts val="1800"/>
              <a:buFont typeface="Arial" panose="020B0604020202020204" pitchFamily="34" charset="0"/>
              <a:buChar char="•"/>
            </a:pPr>
            <a:endParaRPr lang="en-US" altLang="en-US" sz="1300"/>
          </a:p>
          <a:p>
            <a:pPr marL="114300" lvl="0" indent="457200" algn="l" rtl="0">
              <a:lnSpc>
                <a:spcPct val="100000"/>
              </a:lnSpc>
              <a:spcBef>
                <a:spcPts val="360"/>
              </a:spcBef>
              <a:spcAft>
                <a:spcPts val="0"/>
              </a:spcAft>
              <a:buSzPts val="1800"/>
              <a:buNone/>
            </a:pPr>
            <a:r>
              <a:rPr lang="en-US" altLang="en-US" sz="1300"/>
              <a:t>BASEL II</a:t>
            </a:r>
            <a:endParaRPr lang="en-US" altLang="en-US" sz="1300"/>
          </a:p>
          <a:p>
            <a:pPr marL="114300" lvl="0" indent="457200" algn="l" rtl="0">
              <a:lnSpc>
                <a:spcPct val="100000"/>
              </a:lnSpc>
              <a:spcBef>
                <a:spcPts val="360"/>
              </a:spcBef>
              <a:spcAft>
                <a:spcPts val="0"/>
              </a:spcAft>
              <a:buSzPts val="1800"/>
              <a:buNone/>
            </a:pPr>
            <a:r>
              <a:rPr lang="en-US" altLang="en-US" sz="1300"/>
              <a:t>In 2004, Basel II guidelines were published by BCBS, which were considered to be the</a:t>
            </a:r>
            <a:endParaRPr lang="en-US" altLang="en-US" sz="1300"/>
          </a:p>
          <a:p>
            <a:pPr marL="114300" lvl="0" indent="0" algn="l" rtl="0">
              <a:lnSpc>
                <a:spcPct val="100000"/>
              </a:lnSpc>
              <a:spcBef>
                <a:spcPts val="360"/>
              </a:spcBef>
              <a:spcAft>
                <a:spcPts val="0"/>
              </a:spcAft>
              <a:buSzPts val="1800"/>
              <a:buNone/>
            </a:pPr>
            <a:r>
              <a:rPr lang="en-US" altLang="en-US" sz="1300"/>
              <a:t>refined and reformed versions of Basel I accord. The guidelines were based on three parameters</a:t>
            </a:r>
            <a:endParaRPr lang="en-US" altLang="en-US" sz="1300"/>
          </a:p>
          <a:p>
            <a:pPr marL="114300" lvl="0" indent="0" algn="l" rtl="0">
              <a:lnSpc>
                <a:spcPct val="100000"/>
              </a:lnSpc>
              <a:spcBef>
                <a:spcPts val="360"/>
              </a:spcBef>
              <a:spcAft>
                <a:spcPts val="0"/>
              </a:spcAft>
              <a:buSzPts val="1800"/>
              <a:buNone/>
            </a:pPr>
            <a:r>
              <a:rPr lang="en-US" altLang="en-US" sz="1300"/>
              <a:t>which are as follows</a:t>
            </a:r>
            <a:endParaRPr lang="en-US" altLang="en-US" sz="1300"/>
          </a:p>
          <a:p>
            <a:pPr marL="114300" lvl="0" indent="0" algn="l" rtl="0">
              <a:lnSpc>
                <a:spcPct val="100000"/>
              </a:lnSpc>
              <a:spcBef>
                <a:spcPts val="360"/>
              </a:spcBef>
              <a:spcAft>
                <a:spcPts val="0"/>
              </a:spcAft>
              <a:buSzPts val="1800"/>
              <a:buNone/>
            </a:pPr>
            <a:endParaRPr lang="en-US" altLang="en-US" sz="1300"/>
          </a:p>
          <a:p>
            <a:pPr lvl="0" algn="l" rtl="0">
              <a:lnSpc>
                <a:spcPct val="100000"/>
              </a:lnSpc>
              <a:spcBef>
                <a:spcPts val="360"/>
              </a:spcBef>
              <a:spcAft>
                <a:spcPts val="0"/>
              </a:spcAft>
              <a:buSzPts val="1800"/>
              <a:buFont typeface="Arial" panose="020B0604020202020204" pitchFamily="34" charset="0"/>
              <a:buChar char="•"/>
            </a:pPr>
            <a:r>
              <a:rPr lang="en-US" altLang="en-US" sz="1300"/>
              <a:t>Banks should maintain a minimum capital adequacy requirement of 8% of risk assets.</a:t>
            </a:r>
            <a:endParaRPr lang="en-US" altLang="en-US" sz="1300"/>
          </a:p>
          <a:p>
            <a:pPr lvl="0" algn="l" rtl="0">
              <a:lnSpc>
                <a:spcPct val="100000"/>
              </a:lnSpc>
              <a:spcBef>
                <a:spcPts val="360"/>
              </a:spcBef>
              <a:spcAft>
                <a:spcPts val="0"/>
              </a:spcAft>
              <a:buSzPts val="1800"/>
              <a:buFont typeface="Arial" panose="020B0604020202020204" pitchFamily="34" charset="0"/>
              <a:buChar char="•"/>
            </a:pPr>
            <a:r>
              <a:rPr lang="en-US" altLang="en-US" sz="1300"/>
              <a:t>Banks were needed to develop and use better risk management techniques in monitoring and managing all the three types of risks that is credit and increased disclosure requirements.</a:t>
            </a:r>
            <a:endParaRPr lang="en-US" altLang="en-US" sz="1300"/>
          </a:p>
          <a:p>
            <a:pPr lvl="0" algn="l" rtl="0">
              <a:lnSpc>
                <a:spcPct val="100000"/>
              </a:lnSpc>
              <a:spcBef>
                <a:spcPts val="360"/>
              </a:spcBef>
              <a:spcAft>
                <a:spcPts val="0"/>
              </a:spcAft>
              <a:buSzPts val="1800"/>
              <a:buFont typeface="Arial" panose="020B0604020202020204" pitchFamily="34" charset="0"/>
              <a:buChar char="•"/>
            </a:pPr>
            <a:r>
              <a:rPr lang="en-US" altLang="en-US" sz="1300"/>
              <a:t>The three types of risk are- operational risk, market risk, capital risk.</a:t>
            </a:r>
            <a:endParaRPr lang="en-US" altLang="en-US" sz="1300"/>
          </a:p>
          <a:p>
            <a:pPr lvl="0" algn="l" rtl="0">
              <a:lnSpc>
                <a:spcPct val="100000"/>
              </a:lnSpc>
              <a:spcBef>
                <a:spcPts val="360"/>
              </a:spcBef>
              <a:spcAft>
                <a:spcPts val="0"/>
              </a:spcAft>
              <a:buSzPts val="1800"/>
              <a:buFont typeface="Arial" panose="020B0604020202020204" pitchFamily="34" charset="0"/>
              <a:buChar char="•"/>
            </a:pPr>
            <a:r>
              <a:rPr lang="en-US" altLang="en-US" sz="1300"/>
              <a:t>Banks need to mandatory disclose their risk exposure, etc. to the central bank.</a:t>
            </a:r>
            <a:endParaRPr lang="en-US" altLang="en-US" sz="1300"/>
          </a:p>
          <a:p>
            <a:pPr lvl="0" algn="l" rtl="0">
              <a:lnSpc>
                <a:spcPct val="100000"/>
              </a:lnSpc>
              <a:spcBef>
                <a:spcPts val="360"/>
              </a:spcBef>
              <a:spcAft>
                <a:spcPts val="0"/>
              </a:spcAft>
              <a:buSzPts val="1800"/>
              <a:buFont typeface="Arial" panose="020B0604020202020204" pitchFamily="34" charset="0"/>
              <a:buChar char="•"/>
            </a:pPr>
            <a:r>
              <a:rPr lang="en-US" altLang="en-US" sz="1300"/>
              <a:t>Basel II norms in India and overseas are yet to be fully implemented.</a:t>
            </a: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t>Basel Norms</a:t>
            </a:r>
            <a:endParaRPr lang="en-US" altLang="en-US"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lvl="0" algn="l" rtl="0">
              <a:lnSpc>
                <a:spcPct val="100000"/>
              </a:lnSpc>
              <a:spcBef>
                <a:spcPts val="360"/>
              </a:spcBef>
              <a:spcAft>
                <a:spcPts val="0"/>
              </a:spcAft>
              <a:buSzPts val="1800"/>
              <a:buFont typeface="Arial" panose="020B0604020202020204" pitchFamily="34" charset="0"/>
              <a:buChar char="•"/>
            </a:pPr>
            <a:r>
              <a:rPr lang="en-US" altLang="en-US" sz="1300"/>
              <a:t>The three types of risk are- operational risk, market risk, capital risk.</a:t>
            </a:r>
            <a:endParaRPr lang="en-US" altLang="en-US" sz="1300"/>
          </a:p>
          <a:p>
            <a:pPr lvl="0" algn="l" rtl="0">
              <a:lnSpc>
                <a:spcPct val="100000"/>
              </a:lnSpc>
              <a:spcBef>
                <a:spcPts val="360"/>
              </a:spcBef>
              <a:spcAft>
                <a:spcPts val="0"/>
              </a:spcAft>
              <a:buSzPts val="1800"/>
              <a:buFont typeface="Arial" panose="020B0604020202020204" pitchFamily="34" charset="0"/>
              <a:buChar char="•"/>
            </a:pPr>
            <a:r>
              <a:rPr lang="en-US" altLang="en-US" sz="1300"/>
              <a:t>Banks need to mandatory disclose their risk exposure, etc. to the central bank.</a:t>
            </a:r>
            <a:endParaRPr lang="en-US" altLang="en-US" sz="1300"/>
          </a:p>
          <a:p>
            <a:pPr lvl="0" algn="l" rtl="0">
              <a:lnSpc>
                <a:spcPct val="100000"/>
              </a:lnSpc>
              <a:spcBef>
                <a:spcPts val="360"/>
              </a:spcBef>
              <a:spcAft>
                <a:spcPts val="0"/>
              </a:spcAft>
              <a:buSzPts val="1800"/>
              <a:buFont typeface="Arial" panose="020B0604020202020204" pitchFamily="34" charset="0"/>
              <a:buChar char="•"/>
            </a:pPr>
            <a:r>
              <a:rPr lang="en-US" altLang="en-US" sz="1300"/>
              <a:t>Basel II norms in India and overseas are yet to be fully implemented.</a:t>
            </a:r>
            <a:endParaRPr lang="en-US" altLang="en-US" sz="1300"/>
          </a:p>
          <a:p>
            <a:pPr lvl="0" algn="l" rtl="0">
              <a:lnSpc>
                <a:spcPct val="100000"/>
              </a:lnSpc>
              <a:spcBef>
                <a:spcPts val="360"/>
              </a:spcBef>
              <a:spcAft>
                <a:spcPts val="0"/>
              </a:spcAft>
              <a:buSzPts val="1800"/>
              <a:buFont typeface="Arial" panose="020B0604020202020204" pitchFamily="34" charset="0"/>
              <a:buChar char="•"/>
            </a:pPr>
            <a:endParaRPr lang="en-US" altLang="en-US" sz="1300"/>
          </a:p>
          <a:p>
            <a:pPr marL="114300" lvl="0" indent="457200" algn="l" rtl="0">
              <a:lnSpc>
                <a:spcPct val="100000"/>
              </a:lnSpc>
              <a:spcBef>
                <a:spcPts val="360"/>
              </a:spcBef>
              <a:spcAft>
                <a:spcPts val="0"/>
              </a:spcAft>
              <a:buSzPts val="1800"/>
              <a:buNone/>
            </a:pPr>
            <a:r>
              <a:rPr lang="en-US" altLang="en-US" sz="1300"/>
              <a:t>THREE PILLARS OF BASEL NORM II:</a:t>
            </a:r>
            <a:endParaRPr lang="en-US" altLang="en-US" sz="1300"/>
          </a:p>
          <a:p>
            <a:pPr marL="114300" lvl="0" indent="457200" algn="l" rtl="0">
              <a:lnSpc>
                <a:spcPct val="100000"/>
              </a:lnSpc>
              <a:spcBef>
                <a:spcPts val="360"/>
              </a:spcBef>
              <a:spcAft>
                <a:spcPts val="0"/>
              </a:spcAft>
              <a:buSzPts val="1800"/>
              <a:buNone/>
            </a:pPr>
            <a:endParaRPr lang="en-US" altLang="en-US" sz="1300"/>
          </a:p>
          <a:p>
            <a:pPr marL="114300" lvl="0" indent="0" algn="l" rtl="0">
              <a:lnSpc>
                <a:spcPct val="100000"/>
              </a:lnSpc>
              <a:spcBef>
                <a:spcPts val="360"/>
              </a:spcBef>
              <a:spcAft>
                <a:spcPts val="0"/>
              </a:spcAft>
              <a:buSzPts val="1800"/>
              <a:buNone/>
            </a:pPr>
            <a:r>
              <a:rPr lang="en-US" altLang="en-US" sz="1300"/>
              <a:t>1. Pillar I - Minimum Capital Requirements</a:t>
            </a:r>
            <a:endParaRPr lang="en-US" altLang="en-US" sz="1300"/>
          </a:p>
          <a:p>
            <a:pPr marL="114300" lvl="0" indent="0" algn="l" rtl="0">
              <a:lnSpc>
                <a:spcPct val="100000"/>
              </a:lnSpc>
              <a:spcBef>
                <a:spcPts val="360"/>
              </a:spcBef>
              <a:spcAft>
                <a:spcPts val="0"/>
              </a:spcAft>
              <a:buSzPts val="1800"/>
              <a:buNone/>
            </a:pPr>
            <a:r>
              <a:rPr lang="en-US" altLang="en-US" sz="1300"/>
              <a:t>2. Pillar II - Supervisory Review Process</a:t>
            </a:r>
            <a:endParaRPr lang="en-US" altLang="en-US" sz="1300"/>
          </a:p>
          <a:p>
            <a:pPr marL="114300" lvl="0" indent="0" algn="l" rtl="0">
              <a:lnSpc>
                <a:spcPct val="100000"/>
              </a:lnSpc>
              <a:spcBef>
                <a:spcPts val="360"/>
              </a:spcBef>
              <a:spcAft>
                <a:spcPts val="0"/>
              </a:spcAft>
              <a:buSzPts val="1800"/>
              <a:buNone/>
            </a:pPr>
            <a:r>
              <a:rPr lang="en-US" altLang="en-US" sz="1300"/>
              <a:t>3. Pillar III - Market Discipline</a:t>
            </a:r>
            <a:endParaRPr lang="en-US" altLang="en-US" sz="1300"/>
          </a:p>
          <a:p>
            <a:pPr marL="114300" lvl="0" indent="0" algn="l" rtl="0">
              <a:lnSpc>
                <a:spcPct val="100000"/>
              </a:lnSpc>
              <a:spcBef>
                <a:spcPts val="360"/>
              </a:spcBef>
              <a:spcAft>
                <a:spcPts val="0"/>
              </a:spcAft>
              <a:buSzPts val="1800"/>
              <a:buNone/>
            </a:pPr>
            <a:endParaRPr lang="en-US" altLang="en-US" sz="1300"/>
          </a:p>
          <a:p>
            <a:pPr marL="114300" lvl="0" indent="0" algn="l" rtl="0">
              <a:lnSpc>
                <a:spcPct val="100000"/>
              </a:lnSpc>
              <a:spcBef>
                <a:spcPts val="360"/>
              </a:spcBef>
              <a:spcAft>
                <a:spcPts val="0"/>
              </a:spcAft>
              <a:buSzPts val="1800"/>
              <a:buNone/>
            </a:pP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t>Basel Norms</a:t>
            </a:r>
            <a:endParaRPr lang="en-US" altLang="en-US"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endParaRPr lang="en-US" altLang="en-US" sz="1300"/>
          </a:p>
          <a:p>
            <a:pPr marL="114300" lvl="0" indent="0" algn="l" rtl="0">
              <a:lnSpc>
                <a:spcPct val="100000"/>
              </a:lnSpc>
              <a:spcBef>
                <a:spcPts val="360"/>
              </a:spcBef>
              <a:spcAft>
                <a:spcPts val="0"/>
              </a:spcAft>
              <a:buSzPts val="1800"/>
              <a:buNone/>
            </a:pPr>
            <a:r>
              <a:rPr lang="en-US" altLang="en-US" sz="1300"/>
              <a:t>BASEL III:</a:t>
            </a:r>
            <a:endParaRPr lang="en-US" altLang="en-US" sz="1300"/>
          </a:p>
          <a:p>
            <a:pPr marL="114300" lvl="0" indent="0" algn="l" rtl="0">
              <a:lnSpc>
                <a:spcPct val="100000"/>
              </a:lnSpc>
              <a:spcBef>
                <a:spcPts val="360"/>
              </a:spcBef>
              <a:spcAft>
                <a:spcPts val="0"/>
              </a:spcAft>
              <a:buSzPts val="1800"/>
              <a:buNone/>
            </a:pPr>
            <a:endParaRPr lang="en-US" altLang="en-US" sz="1300"/>
          </a:p>
          <a:p>
            <a:pPr lvl="0" algn="l" rtl="0">
              <a:lnSpc>
                <a:spcPct val="100000"/>
              </a:lnSpc>
              <a:spcBef>
                <a:spcPts val="360"/>
              </a:spcBef>
              <a:spcAft>
                <a:spcPts val="0"/>
              </a:spcAft>
              <a:buSzPts val="1800"/>
            </a:pPr>
            <a:r>
              <a:rPr lang="en-US" altLang="en-US" sz="1300"/>
              <a:t>In 2010, Basel III guidelines were released. These guidelines were introduced in response to the financial crisis of 2008.</a:t>
            </a:r>
            <a:endParaRPr lang="en-US" altLang="en-US" sz="1300"/>
          </a:p>
          <a:p>
            <a:pPr lvl="0" algn="l" rtl="0">
              <a:lnSpc>
                <a:spcPct val="100000"/>
              </a:lnSpc>
              <a:spcBef>
                <a:spcPts val="360"/>
              </a:spcBef>
              <a:spcAft>
                <a:spcPts val="0"/>
              </a:spcAft>
              <a:buSzPts val="1800"/>
            </a:pPr>
            <a:r>
              <a:rPr lang="en-US" altLang="en-US" sz="1300"/>
              <a:t>In 2008, Lehman Brothers collapsed in September 2008, the need for a fundamental strengthening of the Basel II framework had become apparent.</a:t>
            </a:r>
            <a:endParaRPr lang="en-US" altLang="en-US" sz="1300"/>
          </a:p>
          <a:p>
            <a:pPr lvl="0" algn="l" rtl="0">
              <a:lnSpc>
                <a:spcPct val="100000"/>
              </a:lnSpc>
              <a:spcBef>
                <a:spcPts val="360"/>
              </a:spcBef>
              <a:spcAft>
                <a:spcPts val="0"/>
              </a:spcAft>
              <a:buSzPts val="1800"/>
            </a:pPr>
            <a:r>
              <a:rPr lang="en-US" altLang="en-US" sz="1300"/>
              <a:t>Basel III norms aim at making most banking activities such as their trading book activities more capital-intensive.</a:t>
            </a:r>
            <a:endParaRPr lang="en-US" altLang="en-US" sz="1300"/>
          </a:p>
          <a:p>
            <a:pPr lvl="0" algn="l" rtl="0">
              <a:lnSpc>
                <a:spcPct val="100000"/>
              </a:lnSpc>
              <a:spcBef>
                <a:spcPts val="360"/>
              </a:spcBef>
              <a:spcAft>
                <a:spcPts val="0"/>
              </a:spcAft>
              <a:buSzPts val="1800"/>
            </a:pPr>
            <a:r>
              <a:rPr lang="en-US" altLang="en-US" sz="1300"/>
              <a:t>The guidelines aim to promote a more resilient banking system by focusing on four vital banking parameters viz. capital, leverage, funding and liquidity.</a:t>
            </a:r>
            <a:endParaRPr lang="en-US" altLang="en-US" sz="1300"/>
          </a:p>
          <a:p>
            <a:pPr lvl="0" algn="l" rtl="0">
              <a:lnSpc>
                <a:spcPct val="100000"/>
              </a:lnSpc>
              <a:spcBef>
                <a:spcPts val="360"/>
              </a:spcBef>
              <a:spcAft>
                <a:spcPts val="0"/>
              </a:spcAft>
              <a:buSzPts val="1800"/>
            </a:pPr>
            <a:r>
              <a:rPr lang="en-US" altLang="en-US" sz="1300"/>
              <a:t>Presently Indian banking system follows Basel II norms.</a:t>
            </a:r>
            <a:endParaRPr lang="en-US" altLang="en-US" sz="1300"/>
          </a:p>
          <a:p>
            <a:pPr marL="114300" lvl="0" indent="0" algn="l" rtl="0">
              <a:lnSpc>
                <a:spcPct val="100000"/>
              </a:lnSpc>
              <a:spcBef>
                <a:spcPts val="360"/>
              </a:spcBef>
              <a:spcAft>
                <a:spcPts val="0"/>
              </a:spcAft>
              <a:buSzPts val="1800"/>
              <a:buNone/>
            </a:pPr>
            <a:endParaRPr lang="en-US" altLang="en-US" sz="1300"/>
          </a:p>
          <a:p>
            <a:pPr marL="114300" lvl="0" indent="457200" algn="l" rtl="0">
              <a:lnSpc>
                <a:spcPct val="100000"/>
              </a:lnSpc>
              <a:spcBef>
                <a:spcPts val="360"/>
              </a:spcBef>
              <a:spcAft>
                <a:spcPts val="0"/>
              </a:spcAft>
              <a:buSzPts val="1800"/>
              <a:buNone/>
            </a:pPr>
            <a:r>
              <a:rPr lang="en-US" altLang="en-US" sz="1300"/>
              <a:t>The Reserve Bank of India has extended the timeline for full implementation of the Basel</a:t>
            </a:r>
            <a:endParaRPr lang="en-US" altLang="en-US" sz="1300"/>
          </a:p>
          <a:p>
            <a:pPr marL="114300" lvl="0" indent="0" algn="l" rtl="0">
              <a:lnSpc>
                <a:spcPct val="100000"/>
              </a:lnSpc>
              <a:spcBef>
                <a:spcPts val="360"/>
              </a:spcBef>
              <a:spcAft>
                <a:spcPts val="0"/>
              </a:spcAft>
              <a:buSzPts val="1800"/>
              <a:buNone/>
            </a:pPr>
            <a:r>
              <a:rPr lang="en-US" altLang="en-US" sz="1300"/>
              <a:t>III capital regulations by a year to March 31, 2019.</a:t>
            </a: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t>RISK &amp; CATEGORIES OF RISK</a:t>
            </a:r>
            <a:endParaRPr lang="en-US" altLang="en-US"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altLang="en-US" sz="1300" b="1"/>
              <a:t>Credit Risk:</a:t>
            </a:r>
            <a:endParaRPr lang="en-US" altLang="en-US" sz="1300" b="1"/>
          </a:p>
          <a:p>
            <a:pPr marL="114300" lvl="0" indent="457200" algn="l" rtl="0">
              <a:lnSpc>
                <a:spcPct val="100000"/>
              </a:lnSpc>
              <a:spcBef>
                <a:spcPts val="360"/>
              </a:spcBef>
              <a:spcAft>
                <a:spcPts val="0"/>
              </a:spcAft>
              <a:buSzPts val="1800"/>
              <a:buNone/>
            </a:pPr>
            <a:r>
              <a:rPr lang="en-US" altLang="en-US" sz="1300"/>
              <a:t>Credit risk is the probable risk of loss resulting from a borrower’s failure to repay a loan or</a:t>
            </a:r>
            <a:endParaRPr lang="en-US" altLang="en-US" sz="1300"/>
          </a:p>
          <a:p>
            <a:pPr marL="114300" lvl="0" indent="0" algn="l" rtl="0">
              <a:lnSpc>
                <a:spcPct val="100000"/>
              </a:lnSpc>
              <a:spcBef>
                <a:spcPts val="360"/>
              </a:spcBef>
              <a:spcAft>
                <a:spcPts val="0"/>
              </a:spcAft>
              <a:buSzPts val="1800"/>
              <a:buNone/>
            </a:pPr>
            <a:r>
              <a:rPr lang="en-US" altLang="en-US" sz="1300"/>
              <a:t>meet contractual obligations. Traditionally, it refers to the risk that a lender may not receive the</a:t>
            </a:r>
            <a:endParaRPr lang="en-US" altLang="en-US" sz="1300"/>
          </a:p>
          <a:p>
            <a:pPr marL="114300" lvl="0" indent="0" algn="l" rtl="0">
              <a:lnSpc>
                <a:spcPct val="100000"/>
              </a:lnSpc>
              <a:spcBef>
                <a:spcPts val="360"/>
              </a:spcBef>
              <a:spcAft>
                <a:spcPts val="0"/>
              </a:spcAft>
              <a:buSzPts val="1800"/>
              <a:buNone/>
            </a:pPr>
            <a:r>
              <a:rPr lang="en-US" altLang="en-US" sz="1300"/>
              <a:t>owed principal and interest, which results in an interruption of cash flows and increased costs</a:t>
            </a:r>
            <a:endParaRPr lang="en-US" altLang="en-US" sz="1300"/>
          </a:p>
          <a:p>
            <a:pPr marL="114300" lvl="0" indent="0" algn="l" rtl="0">
              <a:lnSpc>
                <a:spcPct val="100000"/>
              </a:lnSpc>
              <a:spcBef>
                <a:spcPts val="360"/>
              </a:spcBef>
              <a:spcAft>
                <a:spcPts val="0"/>
              </a:spcAft>
              <a:buSzPts val="1800"/>
              <a:buNone/>
            </a:pPr>
            <a:r>
              <a:rPr lang="en-US" altLang="en-US" sz="1300"/>
              <a:t>for collection.</a:t>
            </a:r>
            <a:endParaRPr lang="en-US" altLang="en-US" sz="1300"/>
          </a:p>
          <a:p>
            <a:pPr marL="114300" lvl="0" indent="457200" algn="l" rtl="0">
              <a:lnSpc>
                <a:spcPct val="100000"/>
              </a:lnSpc>
              <a:spcBef>
                <a:spcPts val="360"/>
              </a:spcBef>
              <a:spcAft>
                <a:spcPts val="0"/>
              </a:spcAft>
              <a:buSzPts val="1800"/>
              <a:buNone/>
            </a:pPr>
            <a:r>
              <a:rPr lang="en-US" altLang="en-US" sz="1300"/>
              <a:t>Although it is impossible to know exactly who will default on obligations, properly assessing</a:t>
            </a:r>
            <a:endParaRPr lang="en-US" altLang="en-US" sz="1300"/>
          </a:p>
          <a:p>
            <a:pPr marL="114300" lvl="0" indent="0" algn="l" rtl="0">
              <a:lnSpc>
                <a:spcPct val="100000"/>
              </a:lnSpc>
              <a:spcBef>
                <a:spcPts val="360"/>
              </a:spcBef>
              <a:spcAft>
                <a:spcPts val="0"/>
              </a:spcAft>
              <a:buSzPts val="1800"/>
              <a:buNone/>
            </a:pPr>
            <a:r>
              <a:rPr lang="en-US" altLang="en-US" sz="1300"/>
              <a:t>and managing credit risk can lessen the severity of loss. Interest payments from the borrower</a:t>
            </a:r>
            <a:endParaRPr lang="en-US" altLang="en-US" sz="1300"/>
          </a:p>
          <a:p>
            <a:pPr marL="114300" lvl="0" indent="0" algn="l" rtl="0">
              <a:lnSpc>
                <a:spcPct val="100000"/>
              </a:lnSpc>
              <a:spcBef>
                <a:spcPts val="360"/>
              </a:spcBef>
              <a:spcAft>
                <a:spcPts val="0"/>
              </a:spcAft>
              <a:buSzPts val="1800"/>
              <a:buNone/>
            </a:pPr>
            <a:r>
              <a:rPr lang="en-US" altLang="en-US" sz="1300"/>
              <a:t>or issuer of a debt obligation are a lender’s or investor’s reward for assuming credit risk</a:t>
            </a:r>
            <a:endParaRPr lang="en-US" altLang="en-US" sz="1300"/>
          </a:p>
          <a:p>
            <a:pPr marL="114300" lvl="0" indent="0" algn="l" rtl="0">
              <a:lnSpc>
                <a:spcPct val="100000"/>
              </a:lnSpc>
              <a:spcBef>
                <a:spcPts val="360"/>
              </a:spcBef>
              <a:spcAft>
                <a:spcPts val="0"/>
              </a:spcAft>
              <a:buSzPts val="1800"/>
              <a:buNone/>
            </a:pPr>
            <a:endParaRPr lang="en-US" altLang="en-US" sz="1300"/>
          </a:p>
          <a:p>
            <a:pPr marL="114300" lvl="0" indent="0" algn="l" rtl="0">
              <a:lnSpc>
                <a:spcPct val="100000"/>
              </a:lnSpc>
              <a:spcBef>
                <a:spcPts val="360"/>
              </a:spcBef>
              <a:spcAft>
                <a:spcPts val="0"/>
              </a:spcAft>
              <a:buSzPts val="1800"/>
              <a:buNone/>
            </a:pPr>
            <a:r>
              <a:rPr lang="en-US" altLang="en-US" sz="1300" b="1"/>
              <a:t>Market Risk:</a:t>
            </a:r>
            <a:endParaRPr lang="en-US" altLang="en-US" sz="1300" b="1"/>
          </a:p>
          <a:p>
            <a:pPr marL="114300" lvl="0" indent="457200" algn="l" rtl="0">
              <a:lnSpc>
                <a:spcPct val="100000"/>
              </a:lnSpc>
              <a:spcBef>
                <a:spcPts val="360"/>
              </a:spcBef>
              <a:spcAft>
                <a:spcPts val="0"/>
              </a:spcAft>
              <a:buSzPts val="1800"/>
              <a:buNone/>
            </a:pPr>
            <a:r>
              <a:rPr lang="en-US" altLang="en-US" sz="1300"/>
              <a:t>Market risk is the possibility of an investor experiencing losses due to factors that affect</a:t>
            </a:r>
            <a:endParaRPr lang="en-US" altLang="en-US" sz="1300"/>
          </a:p>
          <a:p>
            <a:pPr marL="114300" lvl="0" indent="0" algn="l" rtl="0">
              <a:lnSpc>
                <a:spcPct val="100000"/>
              </a:lnSpc>
              <a:spcBef>
                <a:spcPts val="360"/>
              </a:spcBef>
              <a:spcAft>
                <a:spcPts val="0"/>
              </a:spcAft>
              <a:buSzPts val="1800"/>
              <a:buNone/>
            </a:pPr>
            <a:r>
              <a:rPr lang="en-US" altLang="en-US" sz="1300"/>
              <a:t>the overall performance of the financial markets in which he or she is involved. Market risk, also</a:t>
            </a:r>
            <a:endParaRPr lang="en-US" altLang="en-US" sz="1300"/>
          </a:p>
          <a:p>
            <a:pPr marL="114300" lvl="0" indent="0" algn="l" rtl="0">
              <a:lnSpc>
                <a:spcPct val="100000"/>
              </a:lnSpc>
              <a:spcBef>
                <a:spcPts val="360"/>
              </a:spcBef>
              <a:spcAft>
                <a:spcPts val="0"/>
              </a:spcAft>
              <a:buSzPts val="1800"/>
              <a:buNone/>
            </a:pPr>
            <a:r>
              <a:rPr lang="en-US" altLang="en-US" sz="1300"/>
              <a:t>called “systematic risk,” cannot be eliminated through diversification, though it can be hedged</a:t>
            </a:r>
            <a:endParaRPr lang="en-US" altLang="en-US" sz="1300"/>
          </a:p>
          <a:p>
            <a:pPr marL="114300" lvl="0" indent="0" algn="l" rtl="0">
              <a:lnSpc>
                <a:spcPct val="100000"/>
              </a:lnSpc>
              <a:spcBef>
                <a:spcPts val="360"/>
              </a:spcBef>
              <a:spcAft>
                <a:spcPts val="0"/>
              </a:spcAft>
              <a:buSzPts val="1800"/>
              <a:buNone/>
            </a:pPr>
            <a:r>
              <a:rPr lang="en-US" altLang="en-US" sz="1300"/>
              <a:t>against. Sources of market risk include recessions, political turmoil, and changes in interest</a:t>
            </a:r>
            <a:endParaRPr lang="en-US" altLang="en-US" sz="1300"/>
          </a:p>
          <a:p>
            <a:pPr marL="114300" lvl="0" indent="0" algn="l" rtl="0">
              <a:lnSpc>
                <a:spcPct val="100000"/>
              </a:lnSpc>
              <a:spcBef>
                <a:spcPts val="360"/>
              </a:spcBef>
              <a:spcAft>
                <a:spcPts val="0"/>
              </a:spcAft>
              <a:buSzPts val="1800"/>
              <a:buNone/>
            </a:pPr>
            <a:r>
              <a:rPr lang="en-US" altLang="en-US" sz="1300"/>
              <a:t>rates, natural disasters and terrorist attacks</a:t>
            </a: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t>RISK &amp; CATEGORIES OF RISK</a:t>
            </a:r>
            <a:endParaRPr lang="en-US" altLang="en-US"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altLang="en-US" sz="1300" b="1"/>
              <a:t>Operational Risk:</a:t>
            </a:r>
            <a:endParaRPr lang="en-US" altLang="en-US" sz="1300" b="1"/>
          </a:p>
          <a:p>
            <a:pPr marL="114300" lvl="0" indent="457200" algn="l" rtl="0">
              <a:lnSpc>
                <a:spcPct val="100000"/>
              </a:lnSpc>
              <a:spcBef>
                <a:spcPts val="360"/>
              </a:spcBef>
              <a:spcAft>
                <a:spcPts val="0"/>
              </a:spcAft>
              <a:buSzPts val="1800"/>
              <a:buNone/>
            </a:pPr>
            <a:r>
              <a:rPr lang="en-US" altLang="en-US" sz="1300"/>
              <a:t>Operational risk summarizes the risks a company undertakes when it attempts to operate</a:t>
            </a:r>
            <a:endParaRPr lang="en-US" altLang="en-US" sz="1300"/>
          </a:p>
          <a:p>
            <a:pPr marL="114300" lvl="0" indent="0" algn="l" rtl="0">
              <a:lnSpc>
                <a:spcPct val="100000"/>
              </a:lnSpc>
              <a:spcBef>
                <a:spcPts val="360"/>
              </a:spcBef>
              <a:spcAft>
                <a:spcPts val="0"/>
              </a:spcAft>
              <a:buSzPts val="1800"/>
              <a:buNone/>
            </a:pPr>
            <a:r>
              <a:rPr lang="en-US" altLang="en-US" sz="1300"/>
              <a:t>within a given field or industry. Operational risk is the risk not inherent in financial, systematic or</a:t>
            </a:r>
            <a:endParaRPr lang="en-US" altLang="en-US" sz="1300"/>
          </a:p>
          <a:p>
            <a:pPr marL="114300" lvl="0" indent="0" algn="l" rtl="0">
              <a:lnSpc>
                <a:spcPct val="100000"/>
              </a:lnSpc>
              <a:spcBef>
                <a:spcPts val="360"/>
              </a:spcBef>
              <a:spcAft>
                <a:spcPts val="0"/>
              </a:spcAft>
              <a:buSzPts val="1800"/>
              <a:buNone/>
            </a:pPr>
            <a:r>
              <a:rPr lang="en-US" altLang="en-US" sz="1300"/>
              <a:t>market-wide risk. It is the risk remaining after determining financing and systematic risk, and</a:t>
            </a:r>
            <a:endParaRPr lang="en-US" altLang="en-US" sz="1300"/>
          </a:p>
          <a:p>
            <a:pPr marL="114300" lvl="0" indent="0" algn="l" rtl="0">
              <a:lnSpc>
                <a:spcPct val="100000"/>
              </a:lnSpc>
              <a:spcBef>
                <a:spcPts val="360"/>
              </a:spcBef>
              <a:spcAft>
                <a:spcPts val="0"/>
              </a:spcAft>
              <a:buSzPts val="1800"/>
              <a:buNone/>
            </a:pPr>
            <a:r>
              <a:rPr lang="en-US" altLang="en-US" sz="1300"/>
              <a:t>includes risks resulting from breakdowns in internal procedures, people and systems</a:t>
            </a:r>
            <a:endParaRPr lang="en-US" altLang="en-US" sz="1300"/>
          </a:p>
          <a:p>
            <a:pPr marL="114300" lvl="0" indent="0" algn="l" rtl="0">
              <a:lnSpc>
                <a:spcPct val="100000"/>
              </a:lnSpc>
              <a:spcBef>
                <a:spcPts val="360"/>
              </a:spcBef>
              <a:spcAft>
                <a:spcPts val="0"/>
              </a:spcAft>
              <a:buSzPts val="1800"/>
              <a:buNone/>
            </a:pPr>
            <a:endParaRPr lang="en-US" altLang="en-US" sz="1300" b="1"/>
          </a:p>
          <a:p>
            <a:pPr marL="114300" lvl="0" indent="0" algn="l" rtl="0">
              <a:lnSpc>
                <a:spcPct val="100000"/>
              </a:lnSpc>
              <a:spcBef>
                <a:spcPts val="360"/>
              </a:spcBef>
              <a:spcAft>
                <a:spcPts val="0"/>
              </a:spcAft>
              <a:buSzPts val="1800"/>
              <a:buNone/>
            </a:pPr>
            <a:r>
              <a:rPr lang="en-US" altLang="en-US" sz="1300" b="1"/>
              <a:t>CAR:</a:t>
            </a:r>
            <a:endParaRPr lang="en-US" altLang="en-US" sz="1300" b="1"/>
          </a:p>
          <a:p>
            <a:pPr marL="114300" lvl="0" indent="457200" algn="l" rtl="0">
              <a:lnSpc>
                <a:spcPct val="100000"/>
              </a:lnSpc>
              <a:spcBef>
                <a:spcPts val="360"/>
              </a:spcBef>
              <a:spcAft>
                <a:spcPts val="0"/>
              </a:spcAft>
              <a:buSzPts val="1800"/>
              <a:buNone/>
            </a:pPr>
            <a:r>
              <a:rPr lang="en-US" altLang="en-US" sz="1300"/>
              <a:t>The capital adequacy ratio (CAR) is a measurement of a bank’s available capital expressed</a:t>
            </a:r>
            <a:endParaRPr lang="en-US" altLang="en-US" sz="1300"/>
          </a:p>
          <a:p>
            <a:pPr marL="114300" lvl="0" indent="0" algn="l" rtl="0">
              <a:lnSpc>
                <a:spcPct val="100000"/>
              </a:lnSpc>
              <a:spcBef>
                <a:spcPts val="360"/>
              </a:spcBef>
              <a:spcAft>
                <a:spcPts val="0"/>
              </a:spcAft>
              <a:buSzPts val="1800"/>
              <a:buNone/>
            </a:pPr>
            <a:r>
              <a:rPr lang="en-US" altLang="en-US" sz="1300"/>
              <a:t>as a percentage of a bank’s risk-weighted credit exposures. The capital adequacy ratio, also</a:t>
            </a:r>
            <a:endParaRPr lang="en-US" altLang="en-US" sz="1300"/>
          </a:p>
          <a:p>
            <a:pPr marL="114300" lvl="0" indent="0" algn="l" rtl="0">
              <a:lnSpc>
                <a:spcPct val="100000"/>
              </a:lnSpc>
              <a:spcBef>
                <a:spcPts val="360"/>
              </a:spcBef>
              <a:spcAft>
                <a:spcPts val="0"/>
              </a:spcAft>
              <a:buSzPts val="1800"/>
              <a:buNone/>
            </a:pPr>
            <a:r>
              <a:rPr lang="en-US" altLang="en-US" sz="1300"/>
              <a:t>known as capital-to-risk weighted assets ratio (CRAR), is used to protect depositors and promote</a:t>
            </a:r>
            <a:endParaRPr lang="en-US" altLang="en-US" sz="1300"/>
          </a:p>
          <a:p>
            <a:pPr marL="114300" lvl="0" indent="0" algn="l" rtl="0">
              <a:lnSpc>
                <a:spcPct val="100000"/>
              </a:lnSpc>
              <a:spcBef>
                <a:spcPts val="360"/>
              </a:spcBef>
              <a:spcAft>
                <a:spcPts val="0"/>
              </a:spcAft>
              <a:buSzPts val="1800"/>
              <a:buNone/>
            </a:pPr>
            <a:r>
              <a:rPr lang="en-US" altLang="en-US" sz="1300"/>
              <a:t>the stability and efficiency of financial systems around the world.</a:t>
            </a:r>
            <a:endParaRPr lang="en-US" altLang="en-US" sz="1300"/>
          </a:p>
          <a:p>
            <a:pPr marL="114300" lvl="0" indent="0" algn="l" rtl="0">
              <a:lnSpc>
                <a:spcPct val="100000"/>
              </a:lnSpc>
              <a:spcBef>
                <a:spcPts val="360"/>
              </a:spcBef>
              <a:spcAft>
                <a:spcPts val="0"/>
              </a:spcAft>
              <a:buSzPts val="1800"/>
              <a:buNone/>
            </a:pPr>
            <a:endParaRPr lang="en-US" altLang="en-US" sz="1300"/>
          </a:p>
          <a:p>
            <a:pPr marL="114300" lvl="0" indent="457200" algn="l" rtl="0">
              <a:lnSpc>
                <a:spcPct val="100000"/>
              </a:lnSpc>
              <a:spcBef>
                <a:spcPts val="360"/>
              </a:spcBef>
              <a:spcAft>
                <a:spcPts val="0"/>
              </a:spcAft>
              <a:buSzPts val="1800"/>
              <a:buNone/>
            </a:pPr>
            <a:r>
              <a:rPr lang="en-US" altLang="en-US" sz="1300"/>
              <a:t>Two types of capital are measured: tier-1 capital, which can absorb losses without a bank</a:t>
            </a:r>
            <a:endParaRPr lang="en-US" altLang="en-US" sz="1300"/>
          </a:p>
          <a:p>
            <a:pPr marL="114300" lvl="0" indent="0" algn="l" rtl="0">
              <a:lnSpc>
                <a:spcPct val="100000"/>
              </a:lnSpc>
              <a:spcBef>
                <a:spcPts val="360"/>
              </a:spcBef>
              <a:spcAft>
                <a:spcPts val="0"/>
              </a:spcAft>
              <a:buSzPts val="1800"/>
              <a:buNone/>
            </a:pPr>
            <a:r>
              <a:rPr lang="en-US" altLang="en-US" sz="1300"/>
              <a:t>being required to cease trading, and tier-2 capital, which can absorb losses in the event of a</a:t>
            </a:r>
            <a:endParaRPr lang="en-US" altLang="en-US" sz="1300"/>
          </a:p>
          <a:p>
            <a:pPr marL="114300" lvl="0" indent="0" algn="l" rtl="0">
              <a:lnSpc>
                <a:spcPct val="100000"/>
              </a:lnSpc>
              <a:spcBef>
                <a:spcPts val="360"/>
              </a:spcBef>
              <a:spcAft>
                <a:spcPts val="0"/>
              </a:spcAft>
              <a:buSzPts val="1800"/>
              <a:buNone/>
            </a:pPr>
            <a:r>
              <a:rPr lang="en-US" altLang="en-US" sz="1300"/>
              <a:t>winding-up and so provides a lesser degree of protection to depositors.</a:t>
            </a: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ltLang="en-US" sz="1800"/>
              <a:t>RISK &amp; CATEGORIES OF RISK</a:t>
            </a:r>
            <a:endParaRPr lang="en-US" altLang="en-US" sz="1800"/>
          </a:p>
        </p:txBody>
      </p:sp>
      <p:sp>
        <p:nvSpPr>
          <p:cNvPr id="91" name="Google Shape;91;p13"/>
          <p:cNvSpPr txBox="1">
            <a:spLocks noGrp="1"/>
          </p:cNvSpPr>
          <p:nvPr>
            <p:ph type="body" idx="1"/>
          </p:nvPr>
        </p:nvSpPr>
        <p:spPr>
          <a:xfrm>
            <a:off x="457200" y="783590"/>
            <a:ext cx="8229600" cy="3984625"/>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altLang="en-US" sz="1300" b="1"/>
              <a:t>Risk-Weighted Assets:</a:t>
            </a:r>
            <a:endParaRPr lang="en-US" altLang="en-US" sz="1300" b="1"/>
          </a:p>
          <a:p>
            <a:pPr marL="114300" lvl="0" indent="457200" algn="l" rtl="0">
              <a:lnSpc>
                <a:spcPct val="100000"/>
              </a:lnSpc>
              <a:spcBef>
                <a:spcPts val="360"/>
              </a:spcBef>
              <a:spcAft>
                <a:spcPts val="0"/>
              </a:spcAft>
              <a:buSzPts val="1800"/>
              <a:buNone/>
            </a:pPr>
            <a:r>
              <a:rPr lang="en-US" altLang="en-US" sz="1300"/>
              <a:t>Risk-weighted assets are used to determine the minimum amount of capital that must be</a:t>
            </a:r>
            <a:endParaRPr lang="en-US" altLang="en-US" sz="1300"/>
          </a:p>
          <a:p>
            <a:pPr marL="114300" lvl="0" indent="0" algn="l" rtl="0">
              <a:lnSpc>
                <a:spcPct val="100000"/>
              </a:lnSpc>
              <a:spcBef>
                <a:spcPts val="360"/>
              </a:spcBef>
              <a:spcAft>
                <a:spcPts val="0"/>
              </a:spcAft>
              <a:buSzPts val="1800"/>
              <a:buNone/>
            </a:pPr>
            <a:r>
              <a:rPr lang="en-US" altLang="en-US" sz="1300"/>
              <a:t>held by banks and other institutions to reduce the risk of insolvency. The capital requirement is</a:t>
            </a:r>
            <a:endParaRPr lang="en-US" altLang="en-US" sz="1300"/>
          </a:p>
          <a:p>
            <a:pPr marL="114300" lvl="0" indent="0" algn="l" rtl="0">
              <a:lnSpc>
                <a:spcPct val="100000"/>
              </a:lnSpc>
              <a:spcBef>
                <a:spcPts val="360"/>
              </a:spcBef>
              <a:spcAft>
                <a:spcPts val="0"/>
              </a:spcAft>
              <a:buSzPts val="1800"/>
              <a:buNone/>
            </a:pPr>
            <a:r>
              <a:rPr lang="en-US" altLang="en-US" sz="1300"/>
              <a:t>based on a risk assessment for each type of bank asset. For example, a loan that is secured by</a:t>
            </a:r>
            <a:endParaRPr lang="en-US" altLang="en-US" sz="1300"/>
          </a:p>
          <a:p>
            <a:pPr marL="114300" lvl="0" indent="0" algn="l" rtl="0">
              <a:lnSpc>
                <a:spcPct val="100000"/>
              </a:lnSpc>
              <a:spcBef>
                <a:spcPts val="360"/>
              </a:spcBef>
              <a:spcAft>
                <a:spcPts val="0"/>
              </a:spcAft>
              <a:buSzPts val="1800"/>
              <a:buNone/>
            </a:pPr>
            <a:r>
              <a:rPr lang="en-US" altLang="en-US" sz="1300"/>
              <a:t>a</a:t>
            </a:r>
            <a:r>
              <a:rPr lang="" altLang="en-US" sz="1300"/>
              <a:t> </a:t>
            </a:r>
            <a:r>
              <a:rPr lang="en-US" altLang="en-US" sz="1300"/>
              <a:t>letter</a:t>
            </a:r>
            <a:r>
              <a:rPr lang="" altLang="en-US" sz="1300"/>
              <a:t> </a:t>
            </a:r>
            <a:r>
              <a:rPr lang="en-US" altLang="en-US" sz="1300"/>
              <a:t>of</a:t>
            </a:r>
            <a:r>
              <a:rPr lang="" altLang="en-US" sz="1300"/>
              <a:t> </a:t>
            </a:r>
            <a:r>
              <a:rPr lang="en-US" altLang="en-US" sz="1300"/>
              <a:t>credit</a:t>
            </a:r>
            <a:r>
              <a:rPr lang="" altLang="en-US" sz="1300"/>
              <a:t> </a:t>
            </a:r>
            <a:r>
              <a:rPr lang="en-US" altLang="en-US" sz="1300"/>
              <a:t>is</a:t>
            </a:r>
            <a:r>
              <a:rPr lang="" altLang="en-US" sz="1300"/>
              <a:t> </a:t>
            </a:r>
            <a:r>
              <a:rPr lang="en-US" altLang="en-US" sz="1300"/>
              <a:t>considered</a:t>
            </a:r>
            <a:r>
              <a:rPr lang="" altLang="en-US" sz="1300"/>
              <a:t> </a:t>
            </a:r>
            <a:r>
              <a:rPr lang="en-US" altLang="en-US" sz="1300"/>
              <a:t>to</a:t>
            </a:r>
            <a:r>
              <a:rPr lang="" altLang="en-US" sz="1300"/>
              <a:t> </a:t>
            </a:r>
            <a:r>
              <a:rPr lang="en-US" altLang="en-US" sz="1300"/>
              <a:t>be</a:t>
            </a:r>
            <a:r>
              <a:rPr lang="" altLang="en-US" sz="1300"/>
              <a:t> </a:t>
            </a:r>
            <a:r>
              <a:rPr lang="en-US" altLang="en-US" sz="1300"/>
              <a:t>riskier</a:t>
            </a:r>
            <a:r>
              <a:rPr lang="" altLang="en-US" sz="1300"/>
              <a:t> </a:t>
            </a:r>
            <a:r>
              <a:rPr lang="en-US" altLang="en-US" sz="1300"/>
              <a:t>and</a:t>
            </a:r>
            <a:r>
              <a:rPr lang="" altLang="en-US" sz="1300"/>
              <a:t> </a:t>
            </a:r>
            <a:r>
              <a:rPr lang="en-US" altLang="en-US" sz="1300"/>
              <a:t>requires</a:t>
            </a:r>
            <a:r>
              <a:rPr lang="" altLang="en-US" sz="1300"/>
              <a:t> </a:t>
            </a:r>
            <a:r>
              <a:rPr lang="en-US" altLang="en-US" sz="1300"/>
              <a:t>more</a:t>
            </a:r>
            <a:r>
              <a:rPr lang="" altLang="en-US" sz="1300"/>
              <a:t> </a:t>
            </a:r>
            <a:r>
              <a:rPr lang="en-US" altLang="en-US" sz="1300"/>
              <a:t>capital</a:t>
            </a:r>
            <a:r>
              <a:rPr lang="" altLang="en-US" sz="1300"/>
              <a:t> </a:t>
            </a:r>
            <a:r>
              <a:rPr lang="en-US" altLang="en-US" sz="1300"/>
              <a:t>than</a:t>
            </a:r>
            <a:r>
              <a:rPr lang="" altLang="en-US" sz="1300"/>
              <a:t> </a:t>
            </a:r>
            <a:r>
              <a:rPr lang="en-US" altLang="en-US" sz="1300"/>
              <a:t>a</a:t>
            </a:r>
            <a:r>
              <a:rPr lang="" altLang="en-US" sz="1300"/>
              <a:t> </a:t>
            </a:r>
            <a:r>
              <a:rPr lang="en-US" altLang="en-US" sz="1300"/>
              <a:t>mortgage</a:t>
            </a:r>
            <a:r>
              <a:rPr lang="" altLang="en-US" sz="1300"/>
              <a:t> </a:t>
            </a:r>
            <a:r>
              <a:rPr lang="en-US" altLang="en-US" sz="1300"/>
              <a:t>loan</a:t>
            </a:r>
            <a:r>
              <a:rPr lang="" altLang="en-US" sz="1300"/>
              <a:t> </a:t>
            </a:r>
            <a:r>
              <a:rPr lang="en-US" altLang="en-US" sz="1300"/>
              <a:t>that</a:t>
            </a:r>
            <a:endParaRPr lang="en-US" altLang="en-US" sz="1300"/>
          </a:p>
          <a:p>
            <a:pPr marL="114300" lvl="0" indent="0" algn="l" rtl="0">
              <a:lnSpc>
                <a:spcPct val="100000"/>
              </a:lnSpc>
              <a:spcBef>
                <a:spcPts val="360"/>
              </a:spcBef>
              <a:spcAft>
                <a:spcPts val="0"/>
              </a:spcAft>
              <a:buSzPts val="1800"/>
              <a:buNone/>
            </a:pPr>
            <a:r>
              <a:rPr lang="en-US" altLang="en-US" sz="1300"/>
              <a:t>is secured with collateral.</a:t>
            </a:r>
            <a:endParaRPr lang="en-US" altLang="en-US" sz="1300"/>
          </a:p>
          <a:p>
            <a:pPr marL="114300" lvl="0" indent="0" algn="l" rtl="0">
              <a:lnSpc>
                <a:spcPct val="100000"/>
              </a:lnSpc>
              <a:spcBef>
                <a:spcPts val="360"/>
              </a:spcBef>
              <a:spcAft>
                <a:spcPts val="0"/>
              </a:spcAft>
              <a:buSzPts val="1800"/>
              <a:buNone/>
            </a:pPr>
            <a:endParaRPr lang="en-US" altLang="en-US" sz="1300"/>
          </a:p>
          <a:p>
            <a:pPr marL="114300" lvl="0" indent="0" algn="l" rtl="0">
              <a:lnSpc>
                <a:spcPct val="100000"/>
              </a:lnSpc>
              <a:spcBef>
                <a:spcPts val="360"/>
              </a:spcBef>
              <a:spcAft>
                <a:spcPts val="0"/>
              </a:spcAft>
              <a:buSzPts val="1800"/>
              <a:buNone/>
            </a:pPr>
            <a:r>
              <a:rPr lang="en-US" altLang="en-US" sz="1300" b="1"/>
              <a:t>Risk-Adjusted Asset:</a:t>
            </a:r>
            <a:endParaRPr lang="en-US" altLang="en-US" sz="1300" b="1"/>
          </a:p>
          <a:p>
            <a:pPr marL="114300" lvl="0" indent="457200" algn="l" rtl="0">
              <a:lnSpc>
                <a:spcPct val="100000"/>
              </a:lnSpc>
              <a:spcBef>
                <a:spcPts val="360"/>
              </a:spcBef>
              <a:spcAft>
                <a:spcPts val="0"/>
              </a:spcAft>
              <a:buSzPts val="1800"/>
              <a:buNone/>
            </a:pPr>
            <a:endParaRPr lang="en-US" altLang="en-US" sz="1300"/>
          </a:p>
          <a:p>
            <a:pPr marL="114300" lvl="0" indent="457200" algn="l" rtl="0">
              <a:lnSpc>
                <a:spcPct val="100000"/>
              </a:lnSpc>
              <a:spcBef>
                <a:spcPts val="360"/>
              </a:spcBef>
              <a:spcAft>
                <a:spcPts val="0"/>
              </a:spcAft>
              <a:buSzPts val="1800"/>
              <a:buNone/>
            </a:pPr>
            <a:r>
              <a:rPr lang="en-US" altLang="en-US" sz="1300"/>
              <a:t>A risk-adjusted capital ratio is a financial institution’s total adjusted capital divided by its</a:t>
            </a:r>
            <a:endParaRPr lang="en-US" altLang="en-US" sz="1300"/>
          </a:p>
          <a:p>
            <a:pPr marL="114300" lvl="0" indent="0" algn="l" rtl="0">
              <a:lnSpc>
                <a:spcPct val="100000"/>
              </a:lnSpc>
              <a:spcBef>
                <a:spcPts val="360"/>
              </a:spcBef>
              <a:spcAft>
                <a:spcPts val="0"/>
              </a:spcAft>
              <a:buSzPts val="1800"/>
              <a:buNone/>
            </a:pPr>
            <a:r>
              <a:rPr lang="en-US" altLang="en-US" sz="1300"/>
              <a:t>risk-weighted assets (RWA). There are variations of risk-adjusted capital ratios whose use is</a:t>
            </a:r>
            <a:endParaRPr lang="en-US" altLang="en-US" sz="1300"/>
          </a:p>
          <a:p>
            <a:pPr marL="114300" lvl="0" indent="0" algn="l" rtl="0">
              <a:lnSpc>
                <a:spcPct val="100000"/>
              </a:lnSpc>
              <a:spcBef>
                <a:spcPts val="360"/>
              </a:spcBef>
              <a:spcAft>
                <a:spcPts val="0"/>
              </a:spcAft>
              <a:buSzPts val="1800"/>
              <a:buNone/>
            </a:pPr>
            <a:r>
              <a:rPr lang="en-US" altLang="en-US" sz="1300"/>
              <a:t>dependent on how analysts define capital. Risk-adjusted capital ratios assess the</a:t>
            </a:r>
            <a:endParaRPr lang="en-US" altLang="en-US" sz="1300"/>
          </a:p>
          <a:p>
            <a:pPr marL="114300" lvl="0" indent="0" algn="l" rtl="0">
              <a:lnSpc>
                <a:spcPct val="100000"/>
              </a:lnSpc>
              <a:spcBef>
                <a:spcPts val="360"/>
              </a:spcBef>
              <a:spcAft>
                <a:spcPts val="0"/>
              </a:spcAft>
              <a:buSzPts val="1800"/>
              <a:buNone/>
            </a:pPr>
            <a:r>
              <a:rPr lang="en-US" altLang="en-US" sz="1300"/>
              <a:t>adequate</a:t>
            </a:r>
            <a:r>
              <a:rPr lang="" altLang="en-US" sz="1300"/>
              <a:t> </a:t>
            </a:r>
            <a:r>
              <a:rPr lang="en-US" altLang="en-US" sz="1300"/>
              <a:t>capital</a:t>
            </a:r>
            <a:r>
              <a:rPr lang="" altLang="en-US" sz="1300"/>
              <a:t> </a:t>
            </a:r>
            <a:r>
              <a:rPr lang="en-US" altLang="en-US" sz="1300"/>
              <a:t>needs</a:t>
            </a:r>
            <a:r>
              <a:rPr lang="" altLang="en-US" sz="1300"/>
              <a:t> </a:t>
            </a:r>
            <a:r>
              <a:rPr lang="en-US" altLang="en-US" sz="1300"/>
              <a:t>of</a:t>
            </a:r>
            <a:r>
              <a:rPr lang="" altLang="en-US" sz="1300"/>
              <a:t> </a:t>
            </a:r>
            <a:r>
              <a:rPr lang="en-US" altLang="en-US" sz="1300"/>
              <a:t>a</a:t>
            </a:r>
            <a:r>
              <a:rPr lang="" altLang="en-US" sz="1300"/>
              <a:t> </a:t>
            </a:r>
            <a:r>
              <a:rPr lang="en-US" altLang="en-US" sz="1300"/>
              <a:t>financial</a:t>
            </a:r>
            <a:r>
              <a:rPr lang="" altLang="en-US" sz="1300"/>
              <a:t> </a:t>
            </a:r>
            <a:r>
              <a:rPr lang="en-US" altLang="en-US" sz="1300"/>
              <a:t>institution,</a:t>
            </a:r>
            <a:r>
              <a:rPr lang="" altLang="en-US" sz="1300"/>
              <a:t> </a:t>
            </a:r>
            <a:r>
              <a:rPr lang="en-US" altLang="en-US" sz="1300"/>
              <a:t>and</a:t>
            </a:r>
            <a:r>
              <a:rPr lang="" altLang="en-US" sz="1300"/>
              <a:t> </a:t>
            </a:r>
            <a:r>
              <a:rPr lang="en-US" altLang="en-US" sz="1300"/>
              <a:t>its</a:t>
            </a:r>
            <a:r>
              <a:rPr lang="" altLang="en-US" sz="1300"/>
              <a:t> </a:t>
            </a:r>
            <a:r>
              <a:rPr lang="en-US" altLang="en-US" sz="1300"/>
              <a:t>ability</a:t>
            </a:r>
            <a:r>
              <a:rPr lang="" altLang="en-US" sz="1300"/>
              <a:t> </a:t>
            </a:r>
            <a:r>
              <a:rPr lang="en-US" altLang="en-US" sz="1300"/>
              <a:t>to</a:t>
            </a:r>
            <a:r>
              <a:rPr lang="" altLang="en-US" sz="1300"/>
              <a:t> </a:t>
            </a:r>
            <a:r>
              <a:rPr lang="en-US" altLang="en-US" sz="1300"/>
              <a:t>withstand</a:t>
            </a:r>
            <a:r>
              <a:rPr lang="" altLang="en-US" sz="1300"/>
              <a:t> </a:t>
            </a:r>
            <a:r>
              <a:rPr lang="en-US" altLang="en-US" sz="1300"/>
              <a:t>a</a:t>
            </a:r>
            <a:r>
              <a:rPr lang="" altLang="en-US" sz="1300"/>
              <a:t> </a:t>
            </a:r>
            <a:r>
              <a:rPr lang="en-US" altLang="en-US" sz="1300"/>
              <a:t>downturn</a:t>
            </a:r>
            <a:r>
              <a:rPr lang="" altLang="en-US" sz="1300"/>
              <a:t> </a:t>
            </a:r>
            <a:r>
              <a:rPr lang="en-US" altLang="en-US" sz="1300"/>
              <a:t>in</a:t>
            </a:r>
            <a:r>
              <a:rPr lang="" altLang="en-US" sz="1300"/>
              <a:t> </a:t>
            </a:r>
            <a:r>
              <a:rPr lang="en-US" altLang="en-US" sz="1300"/>
              <a:t>the</a:t>
            </a:r>
            <a:endParaRPr lang="en-US" altLang="en-US" sz="1300"/>
          </a:p>
          <a:p>
            <a:pPr marL="114300" lvl="0" indent="0" algn="l" rtl="0">
              <a:lnSpc>
                <a:spcPct val="100000"/>
              </a:lnSpc>
              <a:spcBef>
                <a:spcPts val="360"/>
              </a:spcBef>
              <a:spcAft>
                <a:spcPts val="0"/>
              </a:spcAft>
              <a:buSzPts val="1800"/>
              <a:buNone/>
            </a:pPr>
            <a:r>
              <a:rPr lang="en-US" altLang="en-US" sz="1300"/>
              <a:t>economy.</a:t>
            </a:r>
            <a:endParaRPr lang="en-US" altLang="en-US" sz="1300"/>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5" name="Google Shape;155;p22"/>
          <p:cNvSpPr txBox="1">
            <a:spLocks noGrp="1"/>
          </p:cNvSpPr>
          <p:nvPr>
            <p:ph type="body" idx="1"/>
          </p:nvPr>
        </p:nvSpPr>
        <p:spPr>
          <a:xfrm>
            <a:off x="457200" y="681135"/>
            <a:ext cx="8229600" cy="3984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800"/>
              <a:buNone/>
            </a:pPr>
            <a:endParaRPr sz="1400" dirty="0"/>
          </a:p>
          <a:p>
            <a:pPr marL="0" lvl="0" indent="0" algn="l" rtl="0">
              <a:lnSpc>
                <a:spcPct val="100000"/>
              </a:lnSpc>
              <a:spcBef>
                <a:spcPts val="360"/>
              </a:spcBef>
              <a:spcAft>
                <a:spcPts val="0"/>
              </a:spcAft>
              <a:buSzPts val="1800"/>
              <a:buNone/>
            </a:pPr>
            <a:endParaRPr sz="1400" dirty="0"/>
          </a:p>
          <a:p>
            <a:pPr marL="0" lvl="0" indent="0" algn="l" rtl="0">
              <a:lnSpc>
                <a:spcPct val="100000"/>
              </a:lnSpc>
              <a:spcBef>
                <a:spcPts val="360"/>
              </a:spcBef>
              <a:spcAft>
                <a:spcPts val="0"/>
              </a:spcAft>
              <a:buSzPts val="1800"/>
              <a:buNone/>
            </a:pPr>
            <a:endParaRPr sz="1400" dirty="0"/>
          </a:p>
          <a:p>
            <a:pPr marL="0" lvl="0" indent="0" algn="ctr" rtl="0">
              <a:lnSpc>
                <a:spcPct val="100000"/>
              </a:lnSpc>
              <a:spcBef>
                <a:spcPts val="360"/>
              </a:spcBef>
              <a:spcAft>
                <a:spcPts val="0"/>
              </a:spcAft>
              <a:buSzPts val="1800"/>
              <a:buNone/>
            </a:pPr>
            <a:r>
              <a:rPr lang="en-IN" sz="3400" b="1" dirty="0"/>
              <a:t>THANK YOU ALL</a:t>
            </a:r>
            <a:endParaRPr sz="3400" b="1" dirty="0"/>
          </a:p>
          <a:p>
            <a:pPr marL="0" lvl="0" indent="0" algn="ctr" rtl="0">
              <a:lnSpc>
                <a:spcPct val="100000"/>
              </a:lnSpc>
              <a:spcBef>
                <a:spcPts val="360"/>
              </a:spcBef>
              <a:spcAft>
                <a:spcPts val="0"/>
              </a:spcAft>
              <a:buSzPts val="1800"/>
              <a:buNone/>
            </a:pPr>
            <a:r>
              <a:rPr lang="en-IN" sz="3400" b="1" dirty="0"/>
              <a:t>BY</a:t>
            </a:r>
            <a:endParaRPr sz="3400" b="1" dirty="0"/>
          </a:p>
          <a:p>
            <a:pPr marL="0" lvl="0" indent="0" algn="ctr" rtl="0">
              <a:lnSpc>
                <a:spcPct val="100000"/>
              </a:lnSpc>
              <a:spcBef>
                <a:spcPts val="360"/>
              </a:spcBef>
              <a:spcAft>
                <a:spcPts val="0"/>
              </a:spcAft>
              <a:buSzPts val="1800"/>
              <a:buNone/>
            </a:pPr>
            <a:r>
              <a:rPr lang="en-IN" sz="3400" b="1" dirty="0"/>
              <a:t>Sudhan Venu</a:t>
            </a:r>
            <a:endParaRPr sz="3400" b="1" dirty="0"/>
          </a:p>
        </p:txBody>
      </p:sp>
      <p:sp>
        <p:nvSpPr>
          <p:cNvPr id="156" name="Google Shape;156;p22"/>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11304</Words>
  <Application>WPS Presentation</Application>
  <PresentationFormat>On-screen Show (16:9)</PresentationFormat>
  <Paragraphs>310</Paragraphs>
  <Slides>18</Slides>
  <Notes>13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Arial</vt:lpstr>
      <vt:lpstr>SimSun</vt:lpstr>
      <vt:lpstr>Wingdings</vt:lpstr>
      <vt:lpstr>Arial</vt:lpstr>
      <vt:lpstr>Calibri</vt:lpstr>
      <vt:lpstr>Microsoft YaHei</vt:lpstr>
      <vt:lpstr>Arial Unicode MS</vt:lpstr>
      <vt:lpstr>Office Theme</vt:lpstr>
      <vt:lpstr>M.Sc. - Cyber Forensics &amp; Information Security </vt:lpstr>
      <vt:lpstr>COMPUTERISED INFORMATION SYSTEM FOR BANKS (BIS)</vt:lpstr>
      <vt:lpstr>COMPUTERISED INFORMATION SYSTEM FOR BANKS (BIS)</vt:lpstr>
      <vt:lpstr>COMPUTERISED INFORMATION SYSTEM FOR BANKS (BIS)</vt:lpstr>
      <vt:lpstr>COMPUTERISED INFORMATION SYSTEM FOR BANKS (BIS)</vt:lpstr>
      <vt:lpstr>Basel II</vt:lpstr>
      <vt:lpstr>Basel II</vt:lpstr>
      <vt:lpstr>Basel II</vt:lpstr>
      <vt:lpstr>Basel III</vt:lpstr>
      <vt:lpstr>Basel III</vt:lpstr>
      <vt:lpstr>Risks and categories of Risks</vt:lpstr>
      <vt:lpstr>Basel Norms</vt:lpstr>
      <vt:lpstr>Basel Norms</vt:lpstr>
      <vt:lpstr>Basel Norms</vt:lpstr>
      <vt:lpstr>Basel Norms</vt:lpstr>
      <vt:lpstr>RISK &amp; CATEGORIES OF RISK</vt:lpstr>
      <vt:lpstr>RISK &amp; CATEGORIES OF RISK</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Sudhan Venu</cp:lastModifiedBy>
  <cp:revision>13</cp:revision>
  <dcterms:created xsi:type="dcterms:W3CDTF">2025-09-14T03:57:47Z</dcterms:created>
  <dcterms:modified xsi:type="dcterms:W3CDTF">2025-09-14T04:43:14Z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52D779836C6D40EB91DD8E803875643F_12</vt:lpwstr>
  </property>
  <property fmtid="{D5CDD505-2E9C-101B-9397-08002B2CF9AE}" pid="3" name="KSOProductBuildVer">
    <vt:lpwstr>1033-12.2.0.21931</vt:lpwstr>
  </property>
</Properties>
</file>