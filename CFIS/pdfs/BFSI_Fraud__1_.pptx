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5143500"/>
  <p:notesSz cx="6858000" cy="99472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337" cy="49872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5120" y="0"/>
            <a:ext cx="2971336" cy="49872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9448555"/>
            <a:ext cx="2971337" cy="49872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p1: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 name="Google Shape;58;p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2: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67" name="Google Shape;67;p2: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p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3: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76" name="Google Shape;76;p3: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 name="Google Shape;84;p4: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85" name="Google Shape;85;p4: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5: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94" name="Google Shape;94;p5: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6: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6: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03" name="Google Shape;103;p6: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9"/>
        <p:cNvGrpSpPr/>
        <p:nvPr/>
      </p:nvGrpSpPr>
      <p:grpSpPr>
        <a:xfrm>
          <a:off x="0" y="0"/>
          <a:ext cx="0" cy="0"/>
          <a:chOff x="0" y="0"/>
          <a:chExt cx="0" cy="0"/>
        </a:xfrm>
      </p:grpSpPr>
      <p:sp>
        <p:nvSpPr>
          <p:cNvPr id="110" name="Google Shape;110;p7: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7: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12" name="Google Shape;112;p7: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8: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8: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21" name="Google Shape;121;p8: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p9: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9: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30" name="Google Shape;130;p9: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p10: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0: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39" name="Google Shape;139;p10: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11: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1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12: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6" name="Google Shape;156;p1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13: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5" name="Google Shape;165;p1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14: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4" name="Google Shape;174;p1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15: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2" name="Google Shape;182;p1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p16: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0" name="Google Shape;190;p16: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7: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8" name="Google Shape;198;p17: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p18: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6" name="Google Shape;206;p18: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p19: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5" name="Google Shape;215;p19: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20: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4" name="Google Shape;224;p20: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1" name="Shape 231"/>
        <p:cNvGrpSpPr/>
        <p:nvPr/>
      </p:nvGrpSpPr>
      <p:grpSpPr>
        <a:xfrm>
          <a:off x="0" y="0"/>
          <a:ext cx="0" cy="0"/>
          <a:chOff x="0" y="0"/>
          <a:chExt cx="0" cy="0"/>
        </a:xfrm>
      </p:grpSpPr>
      <p:sp>
        <p:nvSpPr>
          <p:cNvPr id="232" name="Google Shape;232;p21: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3" name="Google Shape;233;p2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22: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2" name="Google Shape;242;p2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p23: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1" name="Google Shape;251;p2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24: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0" name="Google Shape;260;p2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7" name="Shape 267"/>
        <p:cNvGrpSpPr/>
        <p:nvPr/>
      </p:nvGrpSpPr>
      <p:grpSpPr>
        <a:xfrm>
          <a:off x="0" y="0"/>
          <a:ext cx="0" cy="0"/>
          <a:chOff x="0" y="0"/>
          <a:chExt cx="0" cy="0"/>
        </a:xfrm>
      </p:grpSpPr>
      <p:sp>
        <p:nvSpPr>
          <p:cNvPr id="268" name="Google Shape;268;p25: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9" name="Google Shape;269;p2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26: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8" name="Google Shape;278;p26: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5" name="Shape 285"/>
        <p:cNvGrpSpPr/>
        <p:nvPr/>
      </p:nvGrpSpPr>
      <p:grpSpPr>
        <a:xfrm>
          <a:off x="0" y="0"/>
          <a:ext cx="0" cy="0"/>
          <a:chOff x="0" y="0"/>
          <a:chExt cx="0" cy="0"/>
        </a:xfrm>
      </p:grpSpPr>
      <p:sp>
        <p:nvSpPr>
          <p:cNvPr id="286" name="Google Shape;286;p27: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7" name="Google Shape;287;p27: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p28: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6" name="Google Shape;296;p28: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p29: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5" name="Google Shape;305;p29: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1" name="Shape 311"/>
        <p:cNvGrpSpPr/>
        <p:nvPr/>
      </p:nvGrpSpPr>
      <p:grpSpPr>
        <a:xfrm>
          <a:off x="0" y="0"/>
          <a:ext cx="0" cy="0"/>
          <a:chOff x="0" y="0"/>
          <a:chExt cx="0" cy="0"/>
        </a:xfrm>
      </p:grpSpPr>
      <p:sp>
        <p:nvSpPr>
          <p:cNvPr id="312" name="Google Shape;312;p30: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3" name="Google Shape;313;p30: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p31: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1" name="Google Shape;321;p3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7" name="Shape 327"/>
        <p:cNvGrpSpPr/>
        <p:nvPr/>
      </p:nvGrpSpPr>
      <p:grpSpPr>
        <a:xfrm>
          <a:off x="0" y="0"/>
          <a:ext cx="0" cy="0"/>
          <a:chOff x="0" y="0"/>
          <a:chExt cx="0" cy="0"/>
        </a:xfrm>
      </p:grpSpPr>
      <p:sp>
        <p:nvSpPr>
          <p:cNvPr id="328" name="Google Shape;328;p32:notes"/>
          <p:cNvSpPr txBox="1"/>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9" name="Google Shape;329;p3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8" name="Google Shape;18;p2"/>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6" name="Shape 26"/>
        <p:cNvGrpSpPr/>
        <p:nvPr/>
      </p:nvGrpSpPr>
      <p:grpSpPr>
        <a:xfrm>
          <a:off x="0" y="0"/>
          <a:ext cx="0" cy="0"/>
          <a:chOff x="0" y="0"/>
          <a:chExt cx="0" cy="0"/>
        </a:xfrm>
      </p:grpSpPr>
      <p:sp>
        <p:nvSpPr>
          <p:cNvPr id="27" name="Google Shape;27;p4"/>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0" name="Shape 30"/>
        <p:cNvGrpSpPr/>
        <p:nvPr/>
      </p:nvGrpSpPr>
      <p:grpSpPr>
        <a:xfrm>
          <a:off x="0" y="0"/>
          <a:ext cx="0" cy="0"/>
          <a:chOff x="0" y="0"/>
          <a:chExt cx="0" cy="0"/>
        </a:xfrm>
      </p:grpSpPr>
      <p:sp>
        <p:nvSpPr>
          <p:cNvPr id="31" name="Google Shape;31;p5"/>
          <p:cNvSpPr txBox="1"/>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33" name="Google Shape;33;p5"/>
          <p:cNvSpPr txBox="1"/>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34" name="Google Shape;34;p5"/>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7" name="Shape 37"/>
        <p:cNvGrpSpPr/>
        <p:nvPr/>
      </p:nvGrpSpPr>
      <p:grpSpPr>
        <a:xfrm>
          <a:off x="0" y="0"/>
          <a:ext cx="0" cy="0"/>
          <a:chOff x="0" y="0"/>
          <a:chExt cx="0" cy="0"/>
        </a:xfrm>
      </p:grpSpPr>
      <p:sp>
        <p:nvSpPr>
          <p:cNvPr id="38" name="Google Shape;38;p6"/>
          <p:cNvSpPr txBox="1"/>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panose="020B0604020202020204"/>
              <a:buNone/>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560"/>
              </a:spcBef>
              <a:spcAft>
                <a:spcPts val="0"/>
              </a:spcAft>
              <a:buClr>
                <a:schemeClr val="dk1"/>
              </a:buClr>
              <a:buSzPts val="2800"/>
              <a:buFont typeface="Arial" panose="020B0604020202020204"/>
              <a:buNone/>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48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0" name="Google Shape;40;p6"/>
          <p:cNvSpPr txBox="1"/>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41" name="Google Shape;41;p6"/>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47" name="Google Shape;47;p7"/>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50" name="Shape 50"/>
        <p:cNvGrpSpPr/>
        <p:nvPr/>
      </p:nvGrpSpPr>
      <p:grpSpPr>
        <a:xfrm>
          <a:off x="0" y="0"/>
          <a:ext cx="0" cy="0"/>
          <a:chOff x="0" y="0"/>
          <a:chExt cx="0" cy="0"/>
        </a:xfrm>
      </p:grpSpPr>
      <p:sp>
        <p:nvSpPr>
          <p:cNvPr id="51" name="Google Shape;51;p8"/>
          <p:cNvSpPr txBox="1"/>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53" name="Google Shape;53;p8"/>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2000" b="1"/>
              <a:t>M.Sc. - Cyber Forensics &amp; Information Security</a:t>
            </a:r>
            <a:br>
              <a:rPr lang="en-IN" sz="1800"/>
            </a:br>
            <a:endParaRPr sz="1800"/>
          </a:p>
        </p:txBody>
      </p:sp>
      <p:sp>
        <p:nvSpPr>
          <p:cNvPr id="61" name="Google Shape;61;p9"/>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ctr" rtl="0">
              <a:lnSpc>
                <a:spcPct val="100000"/>
              </a:lnSpc>
              <a:spcBef>
                <a:spcPts val="360"/>
              </a:spcBef>
              <a:spcAft>
                <a:spcPts val="0"/>
              </a:spcAft>
              <a:buSzPts val="1800"/>
              <a:buNone/>
            </a:pPr>
            <a:r>
              <a:rPr lang="en-IN" sz="4000" b="1"/>
              <a:t>SESSION ON </a:t>
            </a:r>
            <a:endParaRPr lang="en-IN" sz="4000" b="1"/>
          </a:p>
          <a:p>
            <a:pPr marL="114300" lvl="0" indent="0" algn="ctr" rtl="0">
              <a:lnSpc>
                <a:spcPct val="100000"/>
              </a:lnSpc>
              <a:spcBef>
                <a:spcPts val="360"/>
              </a:spcBef>
              <a:spcAft>
                <a:spcPts val="0"/>
              </a:spcAft>
              <a:buSzPts val="1800"/>
              <a:buNone/>
            </a:pPr>
            <a:r>
              <a:rPr lang="en-IN" sz="4000" b="1"/>
              <a:t>BFSI FRAUDS &amp; COUNTERMEASURES</a:t>
            </a:r>
            <a:endParaRPr lang="en-IN" sz="2400" b="1"/>
          </a:p>
          <a:p>
            <a:pPr marL="114300" lvl="0" indent="0" algn="l" rtl="0">
              <a:lnSpc>
                <a:spcPct val="100000"/>
              </a:lnSpc>
              <a:spcBef>
                <a:spcPts val="360"/>
              </a:spcBef>
              <a:spcAft>
                <a:spcPts val="0"/>
              </a:spcAft>
              <a:buSzPts val="1800"/>
              <a:buNone/>
            </a:pPr>
          </a:p>
          <a:p>
            <a:pPr marL="114300" lvl="0" indent="0" algn="l" rtl="0">
              <a:lnSpc>
                <a:spcPct val="100000"/>
              </a:lnSpc>
              <a:spcBef>
                <a:spcPts val="360"/>
              </a:spcBef>
              <a:spcAft>
                <a:spcPts val="0"/>
              </a:spcAft>
              <a:buSzPts val="1800"/>
              <a:buNone/>
            </a:pPr>
          </a:p>
          <a:p>
            <a:pPr marL="114300" lvl="0" indent="0" algn="l" rtl="0">
              <a:lnSpc>
                <a:spcPct val="100000"/>
              </a:lnSpc>
              <a:spcBef>
                <a:spcPts val="360"/>
              </a:spcBef>
              <a:spcAft>
                <a:spcPts val="0"/>
              </a:spcAft>
              <a:buSzPts val="1800"/>
              <a:buNone/>
            </a:pPr>
            <a:endParaRPr sz="1000" b="1"/>
          </a:p>
        </p:txBody>
      </p:sp>
      <p:sp>
        <p:nvSpPr>
          <p:cNvPr id="62" name="Google Shape;62;p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63" name="Google Shape;63;p9"/>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sp>
        <p:nvSpPr>
          <p:cNvPr id="69" name="Google Shape;69;p1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INSURANCE</a:t>
            </a:r>
            <a:endParaRPr sz="1800"/>
          </a:p>
        </p:txBody>
      </p:sp>
      <p:sp>
        <p:nvSpPr>
          <p:cNvPr id="70" name="Google Shape;70;p10"/>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INSURANCE</a:t>
            </a:r>
            <a:endParaRPr lang="en-IN" sz="1600" b="1"/>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What for Insurance? </a:t>
            </a:r>
            <a:endParaRPr sz="1600" b="1"/>
          </a:p>
          <a:p>
            <a:pPr marL="114300" lvl="0" indent="0" algn="l" rtl="0">
              <a:lnSpc>
                <a:spcPct val="100000"/>
              </a:lnSpc>
              <a:spcBef>
                <a:spcPts val="360"/>
              </a:spcBef>
              <a:spcAft>
                <a:spcPts val="0"/>
              </a:spcAft>
              <a:buSzPts val="1800"/>
              <a:buNone/>
            </a:pPr>
            <a:r>
              <a:rPr lang="en-IN" sz="1600" b="1"/>
              <a:t> </a:t>
            </a:r>
            <a:endParaRPr sz="1600"/>
          </a:p>
          <a:p>
            <a:pPr marL="457200" lvl="0" indent="-342900" algn="l" rtl="0">
              <a:lnSpc>
                <a:spcPct val="100000"/>
              </a:lnSpc>
              <a:spcBef>
                <a:spcPts val="360"/>
              </a:spcBef>
              <a:spcAft>
                <a:spcPts val="0"/>
              </a:spcAft>
              <a:buClr>
                <a:schemeClr val="dk1"/>
              </a:buClr>
              <a:buSzPts val="1800"/>
              <a:buChar char="•"/>
            </a:pPr>
            <a:r>
              <a:rPr lang="en-IN" sz="1600"/>
              <a:t>An arrangement by which a Company  undertake to provide a guarantee of compensation for specified loss, damage, illness, or death in return for payment of a specified premium.  </a:t>
            </a:r>
            <a:endParaRPr lang="en-IN" sz="1600"/>
          </a:p>
          <a:p>
            <a:pPr marL="457200" lvl="0" indent="-342900" algn="l" rtl="0">
              <a:lnSpc>
                <a:spcPct val="100000"/>
              </a:lnSpc>
              <a:spcBef>
                <a:spcPts val="360"/>
              </a:spcBef>
              <a:spcAft>
                <a:spcPts val="0"/>
              </a:spcAft>
              <a:buClr>
                <a:schemeClr val="dk1"/>
              </a:buClr>
              <a:buSzPts val="1800"/>
              <a:buChar char="•"/>
            </a:pPr>
            <a:r>
              <a:rPr lang="en-IN" sz="1600"/>
              <a:t>The Concept is mainly on </a:t>
            </a:r>
            <a:r>
              <a:rPr lang="en-IN" sz="1600" b="1"/>
              <a:t>Uberrima</a:t>
            </a:r>
            <a:r>
              <a:rPr lang="en-IN" sz="1600"/>
              <a:t> fides (sometimes seen in its genitive form </a:t>
            </a:r>
            <a:r>
              <a:rPr lang="en-IN" sz="1600" b="1"/>
              <a:t>uberrimae fidei</a:t>
            </a:r>
            <a:r>
              <a:rPr lang="en-IN" sz="1600"/>
              <a:t>) is a Latin phrase meaning "utmost good faith" (literally, "most abundant faith"). It is the name of a legal doctrine which governs insurance contracts.</a:t>
            </a:r>
            <a:endParaRPr lang="en-IN" sz="1600"/>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Parties to the Insurance</a:t>
            </a:r>
            <a:endParaRPr sz="1600"/>
          </a:p>
          <a:p>
            <a:pPr marL="457200" lvl="0" indent="-342900" algn="l" rtl="0">
              <a:lnSpc>
                <a:spcPct val="100000"/>
              </a:lnSpc>
              <a:spcBef>
                <a:spcPts val="360"/>
              </a:spcBef>
              <a:spcAft>
                <a:spcPts val="0"/>
              </a:spcAft>
              <a:buClr>
                <a:schemeClr val="dk1"/>
              </a:buClr>
              <a:buSzPts val="1800"/>
              <a:buChar char="•"/>
            </a:pPr>
            <a:r>
              <a:rPr lang="en-IN" sz="1600"/>
              <a:t>Insurer (Insurance Company)</a:t>
            </a:r>
            <a:endParaRPr lang="en-IN" sz="1600"/>
          </a:p>
          <a:p>
            <a:pPr marL="457200" lvl="0" indent="-342900" algn="l" rtl="0">
              <a:lnSpc>
                <a:spcPct val="100000"/>
              </a:lnSpc>
              <a:spcBef>
                <a:spcPts val="360"/>
              </a:spcBef>
              <a:spcAft>
                <a:spcPts val="0"/>
              </a:spcAft>
              <a:buClr>
                <a:schemeClr val="dk1"/>
              </a:buClr>
              <a:buSzPts val="1800"/>
              <a:buChar char="•"/>
            </a:pPr>
            <a:r>
              <a:rPr lang="en-IN" sz="1600"/>
              <a:t>Insured (Policy Holder) </a:t>
            </a:r>
            <a:endParaRPr lang="en-IN" sz="1600"/>
          </a:p>
          <a:p>
            <a:pPr marL="114300" lvl="0" indent="0" algn="l" rtl="0">
              <a:lnSpc>
                <a:spcPct val="100000"/>
              </a:lnSpc>
              <a:spcBef>
                <a:spcPts val="360"/>
              </a:spcBef>
              <a:spcAft>
                <a:spcPts val="0"/>
              </a:spcAft>
              <a:buSzPts val="1800"/>
              <a:buNone/>
            </a:pPr>
            <a:endParaRPr sz="16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71" name="Google Shape;71;p1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72" name="Google Shape;72;p10"/>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1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INSURANCE</a:t>
            </a:r>
            <a:endParaRPr sz="1800"/>
          </a:p>
        </p:txBody>
      </p:sp>
      <p:sp>
        <p:nvSpPr>
          <p:cNvPr id="79" name="Google Shape;79;p11"/>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TYPES OF INSURANCE</a:t>
            </a:r>
            <a:endParaRPr lang="en-IN" sz="1600" b="1"/>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Life Insurance</a:t>
            </a:r>
            <a:endParaRPr sz="1600"/>
          </a:p>
          <a:p>
            <a:pPr marL="457200" lvl="0" indent="-342900" algn="l" rtl="0">
              <a:lnSpc>
                <a:spcPct val="100000"/>
              </a:lnSpc>
              <a:spcBef>
                <a:spcPts val="360"/>
              </a:spcBef>
              <a:spcAft>
                <a:spcPts val="0"/>
              </a:spcAft>
              <a:buClr>
                <a:schemeClr val="dk1"/>
              </a:buClr>
              <a:buSzPts val="1800"/>
              <a:buChar char="•"/>
            </a:pPr>
            <a:r>
              <a:rPr lang="en-IN" sz="1600"/>
              <a:t>Life (Whole Life) and Endowment or various types with various options introduced.  Financial related</a:t>
            </a:r>
            <a:endParaRPr lang="en-IN" sz="1600"/>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General Insurance or Non-Life Insurance</a:t>
            </a:r>
            <a:endParaRPr sz="1600"/>
          </a:p>
          <a:p>
            <a:pPr marL="457200" lvl="0" indent="-342900" algn="l" rtl="0">
              <a:lnSpc>
                <a:spcPct val="100000"/>
              </a:lnSpc>
              <a:spcBef>
                <a:spcPts val="360"/>
              </a:spcBef>
              <a:spcAft>
                <a:spcPts val="0"/>
              </a:spcAft>
              <a:buClr>
                <a:schemeClr val="dk1"/>
              </a:buClr>
              <a:buSzPts val="1800"/>
              <a:buChar char="•"/>
            </a:pPr>
            <a:r>
              <a:rPr lang="en-IN" sz="1600"/>
              <a:t>Insurance for Vehicle, Automobile, Machineries, Buildings and Property etc.</a:t>
            </a:r>
            <a:endParaRPr sz="1600"/>
          </a:p>
          <a:p>
            <a:pPr marL="457200" lvl="0" indent="-342900" algn="l" rtl="0">
              <a:lnSpc>
                <a:spcPct val="100000"/>
              </a:lnSpc>
              <a:spcBef>
                <a:spcPts val="360"/>
              </a:spcBef>
              <a:spcAft>
                <a:spcPts val="0"/>
              </a:spcAft>
              <a:buClr>
                <a:schemeClr val="dk1"/>
              </a:buClr>
              <a:buSzPts val="1800"/>
              <a:buChar char="•"/>
            </a:pPr>
            <a:r>
              <a:rPr lang="en-IN" sz="1600"/>
              <a:t>Health Insurance – Individual Policies &amp; Group Policies   (Apart from Insurer and Insured one more intermediary is there i.e., TPA – Third Party Administrator  </a:t>
            </a:r>
            <a:endParaRPr lang="en-IN" sz="1600"/>
          </a:p>
          <a:p>
            <a:pPr marL="457200" lvl="0" indent="-342900" algn="l" rtl="0">
              <a:lnSpc>
                <a:spcPct val="100000"/>
              </a:lnSpc>
              <a:spcBef>
                <a:spcPts val="360"/>
              </a:spcBef>
              <a:spcAft>
                <a:spcPts val="0"/>
              </a:spcAft>
              <a:buClr>
                <a:schemeClr val="dk1"/>
              </a:buClr>
              <a:buSzPts val="1800"/>
              <a:buChar char="•"/>
            </a:pPr>
            <a:r>
              <a:rPr lang="en-IN" sz="1600"/>
              <a:t>General Insurance is for Loss suffered - Indemnity &amp; Third Party Coverage, Accident Self, Vehicle and other additional features</a:t>
            </a:r>
            <a:endParaRPr lang="en-IN" sz="1600"/>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80" name="Google Shape;80;p1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81" name="Google Shape;81;p11"/>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6" name="Shape 86"/>
        <p:cNvGrpSpPr/>
        <p:nvPr/>
      </p:nvGrpSpPr>
      <p:grpSpPr>
        <a:xfrm>
          <a:off x="0" y="0"/>
          <a:ext cx="0" cy="0"/>
          <a:chOff x="0" y="0"/>
          <a:chExt cx="0" cy="0"/>
        </a:xfrm>
      </p:grpSpPr>
      <p:sp>
        <p:nvSpPr>
          <p:cNvPr id="87" name="Google Shape;87;p1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INSURANCE</a:t>
            </a:r>
            <a:endParaRPr sz="1800"/>
          </a:p>
        </p:txBody>
      </p:sp>
      <p:sp>
        <p:nvSpPr>
          <p:cNvPr id="88" name="Google Shape;88;p12"/>
          <p:cNvSpPr txBox="1"/>
          <p:nvPr>
            <p:ph type="body" idx="1"/>
          </p:nvPr>
        </p:nvSpPr>
        <p:spPr>
          <a:xfrm>
            <a:off x="457200" y="662473"/>
            <a:ext cx="8229600" cy="393215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t>Types of Insurance Fraud</a:t>
            </a:r>
            <a:r>
              <a:rPr lang="en-IN" sz="1600" b="1"/>
              <a:t> </a:t>
            </a:r>
            <a:endParaRPr sz="1600" b="1"/>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Life Insurance Fraud</a:t>
            </a:r>
            <a:endParaRPr sz="1600"/>
          </a:p>
          <a:p>
            <a:pPr marL="457200" lvl="0" indent="-342900" algn="l" rtl="0">
              <a:lnSpc>
                <a:spcPct val="100000"/>
              </a:lnSpc>
              <a:spcBef>
                <a:spcPts val="360"/>
              </a:spcBef>
              <a:spcAft>
                <a:spcPts val="0"/>
              </a:spcAft>
              <a:buClr>
                <a:schemeClr val="dk1"/>
              </a:buClr>
              <a:buSzPts val="1800"/>
              <a:buChar char="•"/>
            </a:pPr>
            <a:r>
              <a:rPr lang="en-IN" sz="1600"/>
              <a:t>Life insurance fraud may involve faking death to claim life insurance. Fraudsters may sometimes turn up a few years after disappearing, claiming a loss of memory.</a:t>
            </a:r>
            <a:endParaRPr lang="en-IN" sz="1600"/>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Health Insurance Fraud</a:t>
            </a:r>
            <a:endParaRPr sz="1600"/>
          </a:p>
          <a:p>
            <a:pPr marL="457200" lvl="0" indent="-342900" algn="l" rtl="0">
              <a:lnSpc>
                <a:spcPct val="100000"/>
              </a:lnSpc>
              <a:spcBef>
                <a:spcPts val="360"/>
              </a:spcBef>
              <a:spcAft>
                <a:spcPts val="0"/>
              </a:spcAft>
              <a:buClr>
                <a:schemeClr val="dk1"/>
              </a:buClr>
              <a:buSzPts val="1800"/>
              <a:buChar char="•"/>
            </a:pPr>
            <a:r>
              <a:rPr lang="en-IN" sz="1600"/>
              <a:t>Health insurance fraud is described as an intentional act of deceiving, concealing, or misrepresenting information that results in health care benefits being paid to an individual or group. Fraud can be committed either by an insured person or by a provider. Member fraud consists of claims on behalf of ineligible members and/or dependents, alterations on enrollment forms, concealing pre-existing conditions, failure to report other coverage, prescription drug fraud, and failure to disclose claims that were a result of a work-related injury.</a:t>
            </a:r>
            <a:endParaRPr lang="en-IN" sz="1600"/>
          </a:p>
          <a:p>
            <a:pPr marL="114300" lvl="0" indent="0" algn="l" rtl="0">
              <a:lnSpc>
                <a:spcPct val="100000"/>
              </a:lnSpc>
              <a:spcBef>
                <a:spcPts val="360"/>
              </a:spcBef>
              <a:spcAft>
                <a:spcPts val="0"/>
              </a:spcAft>
              <a:buSzPts val="1800"/>
              <a:buNone/>
            </a:pPr>
            <a:endParaRPr sz="16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89" name="Google Shape;89;p1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90" name="Google Shape;90;p12"/>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1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INSURANCE</a:t>
            </a:r>
            <a:endParaRPr sz="1800"/>
          </a:p>
        </p:txBody>
      </p:sp>
      <p:sp>
        <p:nvSpPr>
          <p:cNvPr id="97" name="Google Shape;97;p13"/>
          <p:cNvSpPr txBox="1"/>
          <p:nvPr>
            <p:ph type="body" idx="1"/>
          </p:nvPr>
        </p:nvSpPr>
        <p:spPr>
          <a:xfrm>
            <a:off x="457200" y="662473"/>
            <a:ext cx="8229600" cy="393215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t>Types of Insurance Fraud</a:t>
            </a:r>
            <a:r>
              <a:rPr lang="en-IN" sz="1600" b="1"/>
              <a:t> </a:t>
            </a:r>
            <a:endParaRPr sz="1600" b="1"/>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Automobile Insurance Fraud</a:t>
            </a:r>
            <a:endParaRPr sz="1600"/>
          </a:p>
          <a:p>
            <a:pPr marL="457200" lvl="0" indent="-342900" algn="l" rtl="0">
              <a:lnSpc>
                <a:spcPct val="100000"/>
              </a:lnSpc>
              <a:spcBef>
                <a:spcPts val="360"/>
              </a:spcBef>
              <a:spcAft>
                <a:spcPts val="0"/>
              </a:spcAft>
              <a:buClr>
                <a:schemeClr val="dk1"/>
              </a:buClr>
              <a:buSzPts val="1800"/>
              <a:buChar char="•"/>
            </a:pPr>
            <a:r>
              <a:rPr lang="en-IN" sz="1600"/>
              <a:t>Fraud rings or groups may fake traffic deaths or stage collisions to make false insurance or exaggerated claims and collect insurance money. The ring may involve insurance claims adjusters and other people who create phony police reports to process claims.</a:t>
            </a:r>
            <a:endParaRPr lang="en-IN" sz="1600"/>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Property Insurance Fraud</a:t>
            </a:r>
            <a:endParaRPr sz="1600"/>
          </a:p>
          <a:p>
            <a:pPr marL="457200" lvl="0" indent="-342900" algn="l" rtl="0">
              <a:lnSpc>
                <a:spcPct val="100000"/>
              </a:lnSpc>
              <a:spcBef>
                <a:spcPts val="360"/>
              </a:spcBef>
              <a:spcAft>
                <a:spcPts val="0"/>
              </a:spcAft>
              <a:buClr>
                <a:schemeClr val="dk1"/>
              </a:buClr>
              <a:buSzPts val="1800"/>
              <a:buChar char="•"/>
            </a:pPr>
            <a:r>
              <a:rPr lang="en-IN" sz="1600"/>
              <a:t>Possible motivations for this can include obtaining payment that is worth more than the value of the property destroyed, or to destory and subsequently receive payment for goods that could not be otherwise sold.</a:t>
            </a:r>
            <a:endParaRPr sz="1600"/>
          </a:p>
          <a:p>
            <a:pPr marL="114300" lvl="0" indent="0" algn="l" rtl="0">
              <a:lnSpc>
                <a:spcPct val="100000"/>
              </a:lnSpc>
              <a:spcBef>
                <a:spcPts val="360"/>
              </a:spcBef>
              <a:spcAft>
                <a:spcPts val="0"/>
              </a:spcAft>
              <a:buSzPts val="1800"/>
              <a:buNone/>
            </a:pPr>
            <a:endParaRPr sz="16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98" name="Google Shape;98;p1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99" name="Google Shape;99;p13"/>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06" name="Google Shape;106;p14"/>
          <p:cNvSpPr txBox="1"/>
          <p:nvPr>
            <p:ph type="body" idx="1"/>
          </p:nvPr>
        </p:nvSpPr>
        <p:spPr>
          <a:xfrm>
            <a:off x="457200" y="662473"/>
            <a:ext cx="8229600" cy="393215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t>Fraud</a:t>
            </a:r>
            <a:endParaRPr lang="en-IN" sz="1800" b="1"/>
          </a:p>
          <a:p>
            <a:pPr marL="114300" lvl="0" indent="0" algn="l" rtl="0">
              <a:lnSpc>
                <a:spcPct val="100000"/>
              </a:lnSpc>
              <a:spcBef>
                <a:spcPts val="360"/>
              </a:spcBef>
              <a:spcAft>
                <a:spcPts val="0"/>
              </a:spcAft>
              <a:buSzPts val="1800"/>
              <a:buNone/>
            </a:pPr>
            <a:endParaRPr sz="1600"/>
          </a:p>
          <a:p>
            <a:pPr marL="114300" lvl="0" indent="0" algn="l" rtl="0">
              <a:lnSpc>
                <a:spcPct val="100000"/>
              </a:lnSpc>
              <a:spcBef>
                <a:spcPts val="360"/>
              </a:spcBef>
              <a:spcAft>
                <a:spcPts val="0"/>
              </a:spcAft>
              <a:buSzPts val="1800"/>
              <a:buNone/>
            </a:pPr>
            <a:r>
              <a:rPr lang="en-IN" sz="1600"/>
              <a:t>Fraud means action or lack of action to gain benefit through intentional deception, cheating and stealing. Fraud occurs under two major categories.  They include: </a:t>
            </a:r>
            <a:endParaRPr lang="en-IN" sz="1600"/>
          </a:p>
          <a:p>
            <a:pPr marL="114300" lvl="0" indent="0" algn="l" rtl="0">
              <a:lnSpc>
                <a:spcPct val="100000"/>
              </a:lnSpc>
              <a:spcBef>
                <a:spcPts val="360"/>
              </a:spcBef>
              <a:spcAft>
                <a:spcPts val="0"/>
              </a:spcAft>
              <a:buSzPts val="1800"/>
              <a:buNone/>
            </a:pPr>
            <a:endParaRPr sz="1600"/>
          </a:p>
          <a:p>
            <a:pPr marL="114300" lvl="0" indent="0" algn="l" rtl="0">
              <a:lnSpc>
                <a:spcPct val="100000"/>
              </a:lnSpc>
              <a:spcBef>
                <a:spcPts val="360"/>
              </a:spcBef>
              <a:spcAft>
                <a:spcPts val="0"/>
              </a:spcAft>
              <a:buSzPts val="1800"/>
              <a:buNone/>
            </a:pPr>
            <a:r>
              <a:rPr lang="en-IN" sz="1600" b="1"/>
              <a:t>Transaction Frauds</a:t>
            </a:r>
            <a:r>
              <a:rPr lang="en-IN" sz="1600"/>
              <a:t> </a:t>
            </a:r>
            <a:endParaRPr sz="1600"/>
          </a:p>
          <a:p>
            <a:pPr marL="457200" lvl="0" indent="-342900" algn="l" rtl="0">
              <a:lnSpc>
                <a:spcPct val="100000"/>
              </a:lnSpc>
              <a:spcBef>
                <a:spcPts val="360"/>
              </a:spcBef>
              <a:spcAft>
                <a:spcPts val="0"/>
              </a:spcAft>
              <a:buSzPts val="1800"/>
              <a:buFont typeface="Noto Sans Symbols"/>
              <a:buChar char="❖"/>
            </a:pPr>
            <a:r>
              <a:rPr lang="en-IN" sz="1600"/>
              <a:t>This happens through fraudulent claim or conversion of an underwriting of company’s assets to ones personal use such as assets misappropriation. </a:t>
            </a:r>
            <a:endParaRPr lang="en-IN" sz="1600"/>
          </a:p>
          <a:p>
            <a:pPr marL="114300" lvl="0" indent="0" algn="l" rtl="0">
              <a:lnSpc>
                <a:spcPct val="100000"/>
              </a:lnSpc>
              <a:spcBef>
                <a:spcPts val="360"/>
              </a:spcBef>
              <a:spcAft>
                <a:spcPts val="0"/>
              </a:spcAft>
              <a:buSzPts val="1800"/>
              <a:buNone/>
            </a:pPr>
            <a:endParaRPr sz="1600"/>
          </a:p>
          <a:p>
            <a:pPr marL="114300" lvl="0" indent="0" algn="l" rtl="0">
              <a:lnSpc>
                <a:spcPct val="100000"/>
              </a:lnSpc>
              <a:spcBef>
                <a:spcPts val="360"/>
              </a:spcBef>
              <a:spcAft>
                <a:spcPts val="0"/>
              </a:spcAft>
              <a:buSzPts val="1800"/>
              <a:buNone/>
            </a:pPr>
            <a:r>
              <a:rPr lang="en-IN" sz="1600" b="1"/>
              <a:t>Statement Frauds </a:t>
            </a:r>
            <a:endParaRPr sz="1600" b="1"/>
          </a:p>
          <a:p>
            <a:pPr marL="457200" lvl="0" indent="-342900" algn="l" rtl="0">
              <a:lnSpc>
                <a:spcPct val="100000"/>
              </a:lnSpc>
              <a:spcBef>
                <a:spcPts val="360"/>
              </a:spcBef>
              <a:spcAft>
                <a:spcPts val="0"/>
              </a:spcAft>
              <a:buSzPts val="1800"/>
              <a:buFont typeface="Noto Sans Symbols"/>
              <a:buChar char="❖"/>
            </a:pPr>
            <a:r>
              <a:rPr lang="en-IN" sz="1600"/>
              <a:t>This involves intentional misstatement of some financial values to affect the appearance of books, profits/result or value of asset/ liability to deceive shareholders, lenders etc. </a:t>
            </a:r>
            <a:endParaRPr lang="en-IN" sz="1600"/>
          </a:p>
          <a:p>
            <a:pPr marL="114300" lvl="0" indent="0" algn="l" rtl="0">
              <a:lnSpc>
                <a:spcPct val="100000"/>
              </a:lnSpc>
              <a:spcBef>
                <a:spcPts val="360"/>
              </a:spcBef>
              <a:spcAft>
                <a:spcPts val="0"/>
              </a:spcAft>
              <a:buSzPts val="1800"/>
              <a:buNone/>
            </a:pPr>
            <a:endParaRPr sz="14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107" name="Google Shape;107;p1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08" name="Google Shape;108;p14"/>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15" name="Google Shape;115;p15"/>
          <p:cNvSpPr txBox="1"/>
          <p:nvPr>
            <p:ph type="body" idx="1"/>
          </p:nvPr>
        </p:nvSpPr>
        <p:spPr>
          <a:xfrm>
            <a:off x="457200" y="662473"/>
            <a:ext cx="8229600" cy="393215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t>Fraud</a:t>
            </a:r>
            <a:endParaRPr lang="en-IN" sz="1800" b="1"/>
          </a:p>
          <a:p>
            <a:pPr marL="114300" lvl="0" indent="0" algn="l" rtl="0">
              <a:lnSpc>
                <a:spcPct val="100000"/>
              </a:lnSpc>
              <a:spcBef>
                <a:spcPts val="360"/>
              </a:spcBef>
              <a:spcAft>
                <a:spcPts val="0"/>
              </a:spcAft>
              <a:buSzPts val="1800"/>
              <a:buNone/>
            </a:pPr>
            <a:endParaRPr sz="1600"/>
          </a:p>
          <a:p>
            <a:pPr marL="114300" lvl="0" indent="0" algn="l" rtl="0">
              <a:lnSpc>
                <a:spcPct val="100000"/>
              </a:lnSpc>
              <a:spcBef>
                <a:spcPts val="360"/>
              </a:spcBef>
              <a:spcAft>
                <a:spcPts val="0"/>
              </a:spcAft>
              <a:buSzPts val="1800"/>
              <a:buNone/>
            </a:pPr>
            <a:r>
              <a:rPr lang="en-IN" sz="1600"/>
              <a:t>White collar crime </a:t>
            </a:r>
            <a:endParaRPr lang="en-IN" sz="1600"/>
          </a:p>
          <a:p>
            <a:pPr marL="114300" lvl="0" indent="0" algn="l" rtl="0">
              <a:lnSpc>
                <a:spcPct val="100000"/>
              </a:lnSpc>
              <a:spcBef>
                <a:spcPts val="360"/>
              </a:spcBef>
              <a:spcAft>
                <a:spcPts val="0"/>
              </a:spcAft>
              <a:buSzPts val="1800"/>
              <a:buNone/>
            </a:pPr>
            <a:r>
              <a:rPr lang="en-IN" sz="1600"/>
              <a:t> </a:t>
            </a:r>
            <a:endParaRPr lang="en-IN" sz="1600"/>
          </a:p>
          <a:p>
            <a:pPr marL="457200" lvl="0" indent="-342900" algn="l" rtl="0">
              <a:lnSpc>
                <a:spcPct val="100000"/>
              </a:lnSpc>
              <a:spcBef>
                <a:spcPts val="360"/>
              </a:spcBef>
              <a:spcAft>
                <a:spcPts val="0"/>
              </a:spcAft>
              <a:buSzPts val="1800"/>
              <a:buFont typeface="Noto Sans Symbols"/>
              <a:buChar char="❖"/>
            </a:pPr>
            <a:r>
              <a:rPr lang="en-IN" sz="1600"/>
              <a:t>When a person, employed by an undertaking in a position of trust, breaches such trust, beyond delegated powers with intention to cheat it is known as white collar crime.</a:t>
            </a:r>
            <a:endParaRPr lang="en-IN" sz="1600"/>
          </a:p>
          <a:p>
            <a:pPr marL="114300" lvl="0" indent="0" algn="l" rtl="0">
              <a:lnSpc>
                <a:spcPct val="100000"/>
              </a:lnSpc>
              <a:spcBef>
                <a:spcPts val="360"/>
              </a:spcBef>
              <a:spcAft>
                <a:spcPts val="0"/>
              </a:spcAft>
              <a:buSzPts val="1800"/>
              <a:buNone/>
            </a:pPr>
            <a:r>
              <a:rPr lang="en-IN" sz="1600"/>
              <a:t>       </a:t>
            </a:r>
            <a:endParaRPr lang="en-IN" sz="1600"/>
          </a:p>
          <a:p>
            <a:pPr marL="114300" lvl="0" indent="0" algn="l" rtl="0">
              <a:lnSpc>
                <a:spcPct val="100000"/>
              </a:lnSpc>
              <a:spcBef>
                <a:spcPts val="360"/>
              </a:spcBef>
              <a:spcAft>
                <a:spcPts val="0"/>
              </a:spcAft>
              <a:buSzPts val="1800"/>
              <a:buNone/>
            </a:pPr>
            <a:r>
              <a:rPr lang="en-IN" sz="2000" u="sng"/>
              <a:t>(Please refer the figure 7.1 represents various factors causing the frauds &amp; why do frauds occur are explained in figure 7.2) (Page 195 of the Booklet)</a:t>
            </a:r>
            <a:endParaRPr sz="2000"/>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116" name="Google Shape;116;p1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17" name="Google Shape;117;p15"/>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2" name="Shape 122"/>
        <p:cNvGrpSpPr/>
        <p:nvPr/>
      </p:nvGrpSpPr>
      <p:grpSpPr>
        <a:xfrm>
          <a:off x="0" y="0"/>
          <a:ext cx="0" cy="0"/>
          <a:chOff x="0" y="0"/>
          <a:chExt cx="0" cy="0"/>
        </a:xfrm>
      </p:grpSpPr>
      <p:sp>
        <p:nvSpPr>
          <p:cNvPr id="123" name="Google Shape;123;p16"/>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24" name="Google Shape;124;p16"/>
          <p:cNvSpPr txBox="1"/>
          <p:nvPr>
            <p:ph type="body" idx="1"/>
          </p:nvPr>
        </p:nvSpPr>
        <p:spPr>
          <a:xfrm>
            <a:off x="457200" y="662473"/>
            <a:ext cx="8229600" cy="393215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7.2 Methods of computer related frauds</a:t>
            </a:r>
            <a:endParaRPr lang="en-IN" sz="1600" b="1"/>
          </a:p>
          <a:p>
            <a:pPr marL="114300" lvl="0" indent="0" algn="l" rtl="0">
              <a:lnSpc>
                <a:spcPct val="100000"/>
              </a:lnSpc>
              <a:spcBef>
                <a:spcPts val="360"/>
              </a:spcBef>
              <a:spcAft>
                <a:spcPts val="0"/>
              </a:spcAft>
              <a:buSzPts val="1800"/>
              <a:buNone/>
            </a:pPr>
            <a:endParaRPr sz="1600"/>
          </a:p>
          <a:p>
            <a:pPr marL="457200" lvl="0" indent="-342900" algn="l" rtl="0">
              <a:lnSpc>
                <a:spcPct val="100000"/>
              </a:lnSpc>
              <a:spcBef>
                <a:spcPts val="360"/>
              </a:spcBef>
              <a:spcAft>
                <a:spcPts val="0"/>
              </a:spcAft>
              <a:buSzPts val="1800"/>
              <a:buChar char="•"/>
            </a:pPr>
            <a:r>
              <a:rPr lang="en-IN" sz="1600"/>
              <a:t>Manipulation of computer inner working by modification of programs </a:t>
            </a:r>
            <a:endParaRPr lang="en-IN" sz="1600"/>
          </a:p>
          <a:p>
            <a:pPr marL="457200" lvl="0" indent="-342900" algn="l" rtl="0">
              <a:lnSpc>
                <a:spcPct val="100000"/>
              </a:lnSpc>
              <a:spcBef>
                <a:spcPts val="360"/>
              </a:spcBef>
              <a:spcAft>
                <a:spcPts val="0"/>
              </a:spcAft>
              <a:buSzPts val="1800"/>
              <a:buChar char="•"/>
            </a:pPr>
            <a:r>
              <a:rPr lang="en-IN" sz="1600"/>
              <a:t>Offline changing in the back office of computer output </a:t>
            </a:r>
            <a:endParaRPr lang="en-IN" sz="1600"/>
          </a:p>
          <a:p>
            <a:pPr marL="457200" lvl="0" indent="-342900" algn="l" rtl="0">
              <a:lnSpc>
                <a:spcPct val="100000"/>
              </a:lnSpc>
              <a:spcBef>
                <a:spcPts val="360"/>
              </a:spcBef>
              <a:spcAft>
                <a:spcPts val="0"/>
              </a:spcAft>
              <a:buSzPts val="1800"/>
              <a:buChar char="•"/>
            </a:pPr>
            <a:r>
              <a:rPr lang="en-IN" sz="1600"/>
              <a:t>LAN system operated as stand alone </a:t>
            </a:r>
            <a:endParaRPr lang="en-IN" sz="1600"/>
          </a:p>
          <a:p>
            <a:pPr marL="457200" lvl="0" indent="-342900" algn="l" rtl="0">
              <a:lnSpc>
                <a:spcPct val="100000"/>
              </a:lnSpc>
              <a:spcBef>
                <a:spcPts val="360"/>
              </a:spcBef>
              <a:spcAft>
                <a:spcPts val="0"/>
              </a:spcAft>
              <a:buSzPts val="1800"/>
              <a:buChar char="•"/>
            </a:pPr>
            <a:r>
              <a:rPr lang="en-IN" sz="1600"/>
              <a:t>Theft of business secrets from computer files </a:t>
            </a:r>
            <a:endParaRPr lang="en-IN" sz="1600"/>
          </a:p>
          <a:p>
            <a:pPr marL="457200" lvl="0" indent="-342900" algn="l" rtl="0">
              <a:lnSpc>
                <a:spcPct val="100000"/>
              </a:lnSpc>
              <a:spcBef>
                <a:spcPts val="360"/>
              </a:spcBef>
              <a:spcAft>
                <a:spcPts val="0"/>
              </a:spcAft>
              <a:buSzPts val="1800"/>
              <a:buChar char="•"/>
            </a:pPr>
            <a:r>
              <a:rPr lang="en-IN" sz="1600"/>
              <a:t>Alteration of data already entered in the computers </a:t>
            </a:r>
            <a:endParaRPr lang="en-IN" sz="1600"/>
          </a:p>
          <a:p>
            <a:pPr marL="457200" lvl="0" indent="-342900" algn="l" rtl="0">
              <a:lnSpc>
                <a:spcPct val="100000"/>
              </a:lnSpc>
              <a:spcBef>
                <a:spcPts val="360"/>
              </a:spcBef>
              <a:spcAft>
                <a:spcPts val="0"/>
              </a:spcAft>
              <a:buSzPts val="1800"/>
              <a:buChar char="•"/>
            </a:pPr>
            <a:r>
              <a:rPr lang="en-IN" sz="1600"/>
              <a:t>Systems have fudge facility that allows errors to be corrected </a:t>
            </a:r>
            <a:endParaRPr lang="en-IN" sz="1600"/>
          </a:p>
          <a:p>
            <a:pPr marL="457200" lvl="0" indent="-342900" algn="l" rtl="0">
              <a:lnSpc>
                <a:spcPct val="100000"/>
              </a:lnSpc>
              <a:spcBef>
                <a:spcPts val="360"/>
              </a:spcBef>
              <a:spcAft>
                <a:spcPts val="0"/>
              </a:spcAft>
              <a:buSzPts val="1800"/>
              <a:buChar char="•"/>
            </a:pPr>
            <a:r>
              <a:rPr lang="en-IN" sz="1600"/>
              <a:t>Entering of false data into computers which would give false outputs </a:t>
            </a:r>
            <a:endParaRPr lang="en-IN" sz="1600"/>
          </a:p>
          <a:p>
            <a:pPr marL="457200" lvl="0" indent="-342900" algn="l" rtl="0">
              <a:lnSpc>
                <a:spcPct val="100000"/>
              </a:lnSpc>
              <a:spcBef>
                <a:spcPts val="360"/>
              </a:spcBef>
              <a:spcAft>
                <a:spcPts val="0"/>
              </a:spcAft>
              <a:buSzPts val="1800"/>
              <a:buChar char="•"/>
            </a:pPr>
            <a:r>
              <a:rPr lang="en-IN" sz="1600"/>
              <a:t>Data espionage through remote access</a:t>
            </a:r>
            <a:endParaRPr lang="en-IN" sz="1600"/>
          </a:p>
          <a:p>
            <a:pPr marL="457200" lvl="0" indent="-342900" algn="l" rtl="0">
              <a:lnSpc>
                <a:spcPct val="100000"/>
              </a:lnSpc>
              <a:spcBef>
                <a:spcPts val="360"/>
              </a:spcBef>
              <a:spcAft>
                <a:spcPts val="0"/>
              </a:spcAft>
              <a:buSzPts val="1800"/>
              <a:buChar char="•"/>
            </a:pPr>
            <a:r>
              <a:rPr lang="en-IN" sz="1600"/>
              <a:t>Theft of intellectual property rights stored in computer systems</a:t>
            </a:r>
            <a:endParaRPr lang="en-IN" sz="1600"/>
          </a:p>
          <a:p>
            <a:pPr marL="114300" lvl="0" indent="0" algn="l" rtl="0">
              <a:lnSpc>
                <a:spcPct val="100000"/>
              </a:lnSpc>
              <a:spcBef>
                <a:spcPts val="360"/>
              </a:spcBef>
              <a:spcAft>
                <a:spcPts val="0"/>
              </a:spcAft>
              <a:buSzPts val="1800"/>
              <a:buNone/>
            </a:pPr>
          </a:p>
        </p:txBody>
      </p:sp>
      <p:sp>
        <p:nvSpPr>
          <p:cNvPr id="125" name="Google Shape;125;p1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26" name="Google Shape;126;p16"/>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33" name="Google Shape;133;p17"/>
          <p:cNvSpPr txBox="1"/>
          <p:nvPr>
            <p:ph type="body" idx="1"/>
          </p:nvPr>
        </p:nvSpPr>
        <p:spPr>
          <a:xfrm>
            <a:off x="457200" y="662473"/>
            <a:ext cx="8229600" cy="393215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r>
              <a:rPr lang="en-IN" sz="1600" b="1"/>
              <a:t>7.3 Scope of computer related Frauds </a:t>
            </a:r>
            <a:endParaRPr sz="1600" b="1"/>
          </a:p>
          <a:p>
            <a:pPr marL="114300" lvl="0" indent="0" algn="l" rtl="0">
              <a:lnSpc>
                <a:spcPct val="100000"/>
              </a:lnSpc>
              <a:spcBef>
                <a:spcPts val="360"/>
              </a:spcBef>
              <a:spcAft>
                <a:spcPts val="0"/>
              </a:spcAft>
              <a:buSzPts val="1800"/>
              <a:buNone/>
            </a:pPr>
            <a:endParaRPr sz="1600" b="1"/>
          </a:p>
          <a:p>
            <a:pPr marL="114300" lvl="0" indent="0" algn="l" rtl="0">
              <a:lnSpc>
                <a:spcPct val="100000"/>
              </a:lnSpc>
              <a:spcBef>
                <a:spcPts val="360"/>
              </a:spcBef>
              <a:spcAft>
                <a:spcPts val="0"/>
              </a:spcAft>
              <a:buSzPts val="1800"/>
              <a:buNone/>
            </a:pPr>
            <a:endParaRPr sz="1600"/>
          </a:p>
          <a:p>
            <a:pPr marL="457200" lvl="0" indent="-342900" algn="l" rtl="0">
              <a:lnSpc>
                <a:spcPct val="100000"/>
              </a:lnSpc>
              <a:spcBef>
                <a:spcPts val="360"/>
              </a:spcBef>
              <a:spcAft>
                <a:spcPts val="0"/>
              </a:spcAft>
              <a:buSzPts val="1800"/>
              <a:buChar char="•"/>
            </a:pPr>
            <a:r>
              <a:rPr lang="en-IN" sz="1600"/>
              <a:t>Variety of software/frequent upgradation </a:t>
            </a:r>
            <a:endParaRPr lang="en-IN" sz="1600"/>
          </a:p>
          <a:p>
            <a:pPr marL="457200" lvl="0" indent="-342900" algn="l" rtl="0">
              <a:lnSpc>
                <a:spcPct val="100000"/>
              </a:lnSpc>
              <a:spcBef>
                <a:spcPts val="360"/>
              </a:spcBef>
              <a:spcAft>
                <a:spcPts val="0"/>
              </a:spcAft>
              <a:buSzPts val="1800"/>
              <a:buChar char="•"/>
            </a:pPr>
            <a:r>
              <a:rPr lang="en-IN" sz="1600"/>
              <a:t>Lack of checks on veracity of programs </a:t>
            </a:r>
            <a:endParaRPr lang="en-IN" sz="1600"/>
          </a:p>
          <a:p>
            <a:pPr marL="457200" lvl="0" indent="-342900" algn="l" rtl="0">
              <a:lnSpc>
                <a:spcPct val="100000"/>
              </a:lnSpc>
              <a:spcBef>
                <a:spcPts val="360"/>
              </a:spcBef>
              <a:spcAft>
                <a:spcPts val="0"/>
              </a:spcAft>
              <a:buSzPts val="1800"/>
              <a:buChar char="•"/>
            </a:pPr>
            <a:r>
              <a:rPr lang="en-IN" sz="1600"/>
              <a:t>Absence of technical knowledge/understanding on computer system working </a:t>
            </a:r>
            <a:endParaRPr lang="en-IN" sz="1600"/>
          </a:p>
          <a:p>
            <a:pPr marL="457200" lvl="0" indent="-342900" algn="l" rtl="0">
              <a:lnSpc>
                <a:spcPct val="100000"/>
              </a:lnSpc>
              <a:spcBef>
                <a:spcPts val="360"/>
              </a:spcBef>
              <a:spcAft>
                <a:spcPts val="0"/>
              </a:spcAft>
              <a:buSzPts val="1800"/>
              <a:buChar char="•"/>
            </a:pPr>
            <a:r>
              <a:rPr lang="en-IN" sz="1600"/>
              <a:t>Non-use of analysis, statistics, ratio compatibility provided by the software </a:t>
            </a:r>
            <a:endParaRPr lang="en-IN" sz="1600"/>
          </a:p>
          <a:p>
            <a:pPr marL="457200" lvl="0" indent="-342900" algn="l" rtl="0">
              <a:lnSpc>
                <a:spcPct val="100000"/>
              </a:lnSpc>
              <a:spcBef>
                <a:spcPts val="360"/>
              </a:spcBef>
              <a:spcAft>
                <a:spcPts val="0"/>
              </a:spcAft>
              <a:buSzPts val="1800"/>
              <a:buChar char="•"/>
            </a:pPr>
            <a:r>
              <a:rPr lang="en-IN" sz="1600"/>
              <a:t>Non-compliance of systems instructions </a:t>
            </a:r>
            <a:endParaRPr lang="en-IN" sz="1600"/>
          </a:p>
          <a:p>
            <a:pPr marL="457200" lvl="0" indent="-342900" algn="l" rtl="0">
              <a:lnSpc>
                <a:spcPct val="100000"/>
              </a:lnSpc>
              <a:spcBef>
                <a:spcPts val="360"/>
              </a:spcBef>
              <a:spcAft>
                <a:spcPts val="0"/>
              </a:spcAft>
              <a:buSzPts val="1800"/>
              <a:buChar char="•"/>
            </a:pPr>
            <a:r>
              <a:rPr lang="en-IN" sz="1600"/>
              <a:t>Non-monitoring of audit trails</a:t>
            </a:r>
            <a:endParaRPr lang="en-IN" sz="1600"/>
          </a:p>
        </p:txBody>
      </p:sp>
      <p:sp>
        <p:nvSpPr>
          <p:cNvPr id="134" name="Google Shape;134;p1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35" name="Google Shape;135;p17"/>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18"/>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42" name="Google Shape;142;p18"/>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FRAUD TRIANGLE</a:t>
            </a:r>
            <a:endParaRPr sz="16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143" name="Google Shape;143;p1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44" name="Google Shape;144;p18"/>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145" name="Google Shape;145;p18"/>
          <p:cNvPicPr preferRelativeResize="0"/>
          <p:nvPr/>
        </p:nvPicPr>
        <p:blipFill rotWithShape="1">
          <a:blip r:embed="rId1"/>
          <a:srcRect/>
          <a:stretch>
            <a:fillRect/>
          </a:stretch>
        </p:blipFill>
        <p:spPr>
          <a:xfrm>
            <a:off x="2285682" y="1427584"/>
            <a:ext cx="4572635" cy="31257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51" name="Google Shape;151;p19"/>
          <p:cNvSpPr txBox="1"/>
          <p:nvPr>
            <p:ph type="body" idx="1"/>
          </p:nvPr>
        </p:nvSpPr>
        <p:spPr>
          <a:xfrm>
            <a:off x="457200" y="643812"/>
            <a:ext cx="8229600" cy="408680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The three factors that make up the fraud triangle are:</a:t>
            </a:r>
            <a:endParaRPr sz="1400"/>
          </a:p>
          <a:p>
            <a:pPr marL="114300" lvl="0" indent="0" algn="l" rtl="0">
              <a:lnSpc>
                <a:spcPct val="100000"/>
              </a:lnSpc>
              <a:spcBef>
                <a:spcPts val="360"/>
              </a:spcBef>
              <a:spcAft>
                <a:spcPts val="0"/>
              </a:spcAft>
              <a:buSzPts val="1800"/>
              <a:buNone/>
            </a:pPr>
            <a:r>
              <a:rPr lang="en-IN" sz="1400"/>
              <a:t> </a:t>
            </a:r>
            <a:endParaRPr sz="1400"/>
          </a:p>
          <a:p>
            <a:pPr marL="457200" lvl="0" indent="-342900" algn="l" rtl="0">
              <a:lnSpc>
                <a:spcPct val="100000"/>
              </a:lnSpc>
              <a:spcBef>
                <a:spcPts val="360"/>
              </a:spcBef>
              <a:spcAft>
                <a:spcPts val="0"/>
              </a:spcAft>
              <a:buSzPts val="1800"/>
              <a:buChar char="•"/>
            </a:pPr>
            <a:r>
              <a:rPr lang="en-IN" sz="1400" b="1"/>
              <a:t>Pressure</a:t>
            </a:r>
            <a:r>
              <a:rPr lang="en-IN" sz="1400"/>
              <a:t>:             Most individuals require some form of pressure to commit a criminal act. </a:t>
            </a:r>
            <a:endParaRPr lang="en-IN" sz="1400"/>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b="1"/>
              <a:t>Rationalization</a:t>
            </a:r>
            <a:r>
              <a:rPr lang="en-IN" sz="1400"/>
              <a:t>: The mind-set of a person about to commit an unethical act is one of rationalization.</a:t>
            </a:r>
            <a:endParaRPr lang="en-IN" sz="1400"/>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b="1"/>
              <a:t>Opportunity</a:t>
            </a:r>
            <a:r>
              <a:rPr lang="en-IN" sz="1400"/>
              <a:t>:      An opportunity to commit the act must be present. </a:t>
            </a:r>
            <a:endParaRPr lang="en-IN" sz="1400"/>
          </a:p>
          <a:p>
            <a:pPr marL="457200" lvl="0" indent="-228600" algn="l" rtl="0">
              <a:lnSpc>
                <a:spcPct val="100000"/>
              </a:lnSpc>
              <a:spcBef>
                <a:spcPts val="360"/>
              </a:spcBef>
              <a:spcAft>
                <a:spcPts val="0"/>
              </a:spcAft>
              <a:buClr>
                <a:schemeClr val="dk1"/>
              </a:buClr>
              <a:buSzPts val="1800"/>
              <a:buNone/>
            </a:pPr>
            <a:endParaRPr sz="14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endParaRPr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p>
        </p:txBody>
      </p:sp>
      <p:sp>
        <p:nvSpPr>
          <p:cNvPr id="152" name="Google Shape;152;p1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53" name="Google Shape;153;p19"/>
          <p:cNvSpPr txBox="1"/>
          <p:nvPr>
            <p:ph type="ftr" idx="11"/>
          </p:nvPr>
        </p:nvSpPr>
        <p:spPr>
          <a:xfrm>
            <a:off x="3124200" y="4681538"/>
            <a:ext cx="2895600" cy="27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2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59" name="Google Shape;159;p20"/>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p>
        </p:txBody>
      </p:sp>
      <p:sp>
        <p:nvSpPr>
          <p:cNvPr id="160" name="Google Shape;160;p2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61" name="Google Shape;161;p20"/>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03112019</a:t>
            </a:r>
            <a:endParaRPr lang="en-IN"/>
          </a:p>
        </p:txBody>
      </p:sp>
      <p:pic>
        <p:nvPicPr>
          <p:cNvPr id="162" name="Google Shape;162;p20"/>
          <p:cNvPicPr preferRelativeResize="0"/>
          <p:nvPr/>
        </p:nvPicPr>
        <p:blipFill rotWithShape="1">
          <a:blip r:embed="rId1"/>
          <a:srcRect/>
          <a:stretch>
            <a:fillRect/>
          </a:stretch>
        </p:blipFill>
        <p:spPr>
          <a:xfrm>
            <a:off x="2285682" y="857250"/>
            <a:ext cx="4572635" cy="3429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2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68" name="Google Shape;168;p21"/>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Present Scenario at Financial Institution</a:t>
            </a:r>
            <a:endParaRPr b="1"/>
          </a:p>
        </p:txBody>
      </p:sp>
      <p:sp>
        <p:nvSpPr>
          <p:cNvPr id="169" name="Google Shape;169;p2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70" name="Google Shape;170;p21"/>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171" name="Google Shape;171;p21"/>
          <p:cNvPicPr preferRelativeResize="0"/>
          <p:nvPr/>
        </p:nvPicPr>
        <p:blipFill rotWithShape="1">
          <a:blip r:embed="rId1"/>
          <a:srcRect/>
          <a:stretch>
            <a:fillRect/>
          </a:stretch>
        </p:blipFill>
        <p:spPr>
          <a:xfrm>
            <a:off x="2285682" y="1063690"/>
            <a:ext cx="4572635" cy="3573624"/>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77" name="Google Shape;177;p22"/>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Rationalization</a:t>
            </a:r>
            <a:endParaRPr lang="en-IN" sz="1400" b="1"/>
          </a:p>
          <a:p>
            <a:pPr marL="114300" lvl="0" indent="0" algn="l" rtl="0">
              <a:lnSpc>
                <a:spcPct val="100000"/>
              </a:lnSpc>
              <a:spcBef>
                <a:spcPts val="360"/>
              </a:spcBef>
              <a:spcAft>
                <a:spcPts val="0"/>
              </a:spcAft>
              <a:buSzPts val="1800"/>
              <a:buNone/>
            </a:pPr>
            <a:endParaRPr sz="1400"/>
          </a:p>
          <a:p>
            <a:pPr marL="457200" lvl="0" indent="-342900" algn="just" rtl="0">
              <a:lnSpc>
                <a:spcPct val="100000"/>
              </a:lnSpc>
              <a:spcBef>
                <a:spcPts val="360"/>
              </a:spcBef>
              <a:spcAft>
                <a:spcPts val="0"/>
              </a:spcAft>
              <a:buSzPts val="1800"/>
              <a:buChar char="•"/>
            </a:pPr>
            <a:r>
              <a:rPr lang="en-IN" sz="1400"/>
              <a:t>But rationalization is a psychological state that is very difficult to see. Further, it can be very common - we all rationalize from time to time. Professor Pamela Murphy has studied this mental component of fraud and concluded that many of us - may be most of us - are capable of rationalizing fraud under the right circumstances.</a:t>
            </a:r>
            <a:endParaRPr lang="en-IN" sz="1400"/>
          </a:p>
          <a:p>
            <a:pPr marL="457200" lvl="0" indent="-342900" algn="just" rtl="0">
              <a:lnSpc>
                <a:spcPct val="100000"/>
              </a:lnSpc>
              <a:spcBef>
                <a:spcPts val="360"/>
              </a:spcBef>
              <a:spcAft>
                <a:spcPts val="0"/>
              </a:spcAft>
              <a:buSzPts val="1800"/>
              <a:buChar char="•"/>
            </a:pPr>
            <a:r>
              <a:rPr lang="en-IN" sz="1400"/>
              <a:t>Just as a fraud is committed in secrecy, so the “reason” for it is kept secret.  Sharing it with others would risk exposing the perceptions underlying the rationalization and make it impossible to keep them.  By the same token, the rationalization side of fraud is very difficult to detect and prevent.</a:t>
            </a:r>
            <a:endParaRPr lang="en-IN" sz="1400"/>
          </a:p>
          <a:p>
            <a:pPr marL="457200" lvl="0" indent="-342900" algn="just" rtl="0">
              <a:lnSpc>
                <a:spcPct val="100000"/>
              </a:lnSpc>
              <a:spcBef>
                <a:spcPts val="360"/>
              </a:spcBef>
              <a:spcAft>
                <a:spcPts val="0"/>
              </a:spcAft>
              <a:buSzPts val="1800"/>
              <a:buChar char="•"/>
            </a:pPr>
            <a:r>
              <a:rPr lang="en-IN" sz="1400"/>
              <a:t>The internal dialogue that comforts perpetrators and lets them know it is OK to do this for whatever reason.</a:t>
            </a:r>
            <a:endParaRPr lang="en-IN" sz="1400"/>
          </a:p>
          <a:p>
            <a:pPr marL="457200" lvl="0" indent="-342900" algn="just" rtl="0">
              <a:lnSpc>
                <a:spcPct val="100000"/>
              </a:lnSpc>
              <a:spcBef>
                <a:spcPts val="360"/>
              </a:spcBef>
              <a:spcAft>
                <a:spcPts val="0"/>
              </a:spcAft>
              <a:buSzPts val="1800"/>
              <a:buChar char="•"/>
            </a:pPr>
            <a:r>
              <a:rPr lang="en-IN" sz="1400"/>
              <a:t>This kind of rationalization, particularly on something small, is just the sort of thing that can get the snowball of inappropriate behaviour rolling. This is a case of a non-financial fraud – misuse of property and equipment – but most financial frauds start out with something small like this too.</a:t>
            </a:r>
            <a:endParaRPr lang="en-IN" sz="1400"/>
          </a:p>
          <a:p>
            <a:pPr marL="457200" lvl="0" indent="-342900" algn="just" rtl="0">
              <a:lnSpc>
                <a:spcPct val="100000"/>
              </a:lnSpc>
              <a:spcBef>
                <a:spcPts val="360"/>
              </a:spcBef>
              <a:spcAft>
                <a:spcPts val="0"/>
              </a:spcAft>
              <a:buSzPts val="1800"/>
              <a:buChar char="•"/>
            </a:pPr>
            <a:r>
              <a:rPr lang="en-IN" sz="1400"/>
              <a:t>Often they start out with the perpetrator observing what their boss is doing and then patterning that behaviour.</a:t>
            </a:r>
            <a:endParaRPr lang="en-IN" sz="1400"/>
          </a:p>
          <a:p>
            <a:pPr marL="457200" lvl="0" indent="-228600" algn="l" rtl="0">
              <a:lnSpc>
                <a:spcPct val="100000"/>
              </a:lnSpc>
              <a:spcBef>
                <a:spcPts val="360"/>
              </a:spcBef>
              <a:spcAft>
                <a:spcPts val="0"/>
              </a:spcAft>
              <a:buClr>
                <a:schemeClr val="dk1"/>
              </a:buClr>
              <a:buSzPts val="1800"/>
              <a:buNone/>
            </a:pPr>
            <a:endParaRPr sz="1400"/>
          </a:p>
          <a:p>
            <a:pPr marL="114300" lvl="0" indent="0" algn="l" rtl="0">
              <a:lnSpc>
                <a:spcPct val="100000"/>
              </a:lnSpc>
              <a:spcBef>
                <a:spcPts val="360"/>
              </a:spcBef>
              <a:spcAft>
                <a:spcPts val="0"/>
              </a:spcAft>
              <a:buSzPts val="1800"/>
              <a:buNone/>
            </a:pPr>
          </a:p>
        </p:txBody>
      </p:sp>
      <p:sp>
        <p:nvSpPr>
          <p:cNvPr id="178" name="Google Shape;178;p2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79" name="Google Shape;179;p22"/>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85" name="Google Shape;185;p23"/>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What are some common factors that provide opportunities for fraud</a:t>
            </a:r>
            <a:r>
              <a:rPr lang="en-IN" sz="1400"/>
              <a:t>? </a:t>
            </a:r>
            <a:endParaRPr sz="1400"/>
          </a:p>
          <a:p>
            <a:pPr marL="457200" lvl="0" indent="-342900" algn="l" rtl="0">
              <a:lnSpc>
                <a:spcPct val="100000"/>
              </a:lnSpc>
              <a:spcBef>
                <a:spcPts val="360"/>
              </a:spcBef>
              <a:spcAft>
                <a:spcPts val="0"/>
              </a:spcAft>
              <a:buClr>
                <a:schemeClr val="dk1"/>
              </a:buClr>
              <a:buSzPts val="1800"/>
              <a:buChar char="•"/>
            </a:pPr>
            <a:r>
              <a:rPr lang="en-IN" sz="1400"/>
              <a:t>Many factors provide opportunities for fraud including the inability to judge the quality of performance; failure to discipline fraud perpetrators; lack of access to information; ignorance, apathy, and incapacity; and lack of an audit trail. </a:t>
            </a:r>
            <a:endParaRPr lang="en-IN" sz="1400"/>
          </a:p>
          <a:p>
            <a:pPr marL="114300" lvl="0" indent="0" algn="l" rtl="0">
              <a:lnSpc>
                <a:spcPct val="100000"/>
              </a:lnSpc>
              <a:spcBef>
                <a:spcPts val="360"/>
              </a:spcBef>
              <a:spcAft>
                <a:spcPts val="0"/>
              </a:spcAft>
              <a:buSzPts val="1800"/>
              <a:buNone/>
            </a:pPr>
            <a:r>
              <a:rPr lang="en-IN" sz="1400" b="1"/>
              <a:t>Things that one can avoid fraud – not giving opportunity to the fraudsters from the point of view of individuals</a:t>
            </a:r>
            <a:endParaRPr sz="1400"/>
          </a:p>
          <a:p>
            <a:pPr marL="457200" lvl="0" indent="-342900" algn="l" rtl="0">
              <a:lnSpc>
                <a:spcPct val="100000"/>
              </a:lnSpc>
              <a:spcBef>
                <a:spcPts val="360"/>
              </a:spcBef>
              <a:spcAft>
                <a:spcPts val="0"/>
              </a:spcAft>
              <a:buSzPts val="1800"/>
              <a:buChar char="•"/>
            </a:pPr>
            <a:r>
              <a:rPr lang="en-IN" sz="1400"/>
              <a:t>Spot imposters</a:t>
            </a:r>
            <a:endParaRPr sz="1400"/>
          </a:p>
          <a:p>
            <a:pPr marL="457200" lvl="0" indent="-342900" algn="l" rtl="0">
              <a:lnSpc>
                <a:spcPct val="100000"/>
              </a:lnSpc>
              <a:spcBef>
                <a:spcPts val="360"/>
              </a:spcBef>
              <a:spcAft>
                <a:spcPts val="0"/>
              </a:spcAft>
              <a:buSzPts val="1800"/>
              <a:buChar char="•"/>
            </a:pPr>
            <a:r>
              <a:rPr lang="en-IN" sz="1400"/>
              <a:t>Do online searches</a:t>
            </a:r>
            <a:endParaRPr sz="1400"/>
          </a:p>
          <a:p>
            <a:pPr marL="457200" lvl="0" indent="-342900" algn="l" rtl="0">
              <a:lnSpc>
                <a:spcPct val="100000"/>
              </a:lnSpc>
              <a:spcBef>
                <a:spcPts val="360"/>
              </a:spcBef>
              <a:spcAft>
                <a:spcPts val="0"/>
              </a:spcAft>
              <a:buSzPts val="1800"/>
              <a:buChar char="•"/>
            </a:pPr>
            <a:r>
              <a:rPr lang="en-IN" sz="1400"/>
              <a:t>Don't believe your caller ID </a:t>
            </a:r>
            <a:endParaRPr sz="1400"/>
          </a:p>
          <a:p>
            <a:pPr marL="457200" lvl="0" indent="-342900" algn="l" rtl="0">
              <a:lnSpc>
                <a:spcPct val="100000"/>
              </a:lnSpc>
              <a:spcBef>
                <a:spcPts val="360"/>
              </a:spcBef>
              <a:spcAft>
                <a:spcPts val="0"/>
              </a:spcAft>
              <a:buSzPts val="1800"/>
              <a:buChar char="•"/>
            </a:pPr>
            <a:r>
              <a:rPr lang="en-IN" sz="1400"/>
              <a:t>Don't pay upfront for a promise</a:t>
            </a:r>
            <a:endParaRPr sz="1400"/>
          </a:p>
          <a:p>
            <a:pPr marL="457200" lvl="0" indent="-342900" algn="l" rtl="0">
              <a:lnSpc>
                <a:spcPct val="100000"/>
              </a:lnSpc>
              <a:spcBef>
                <a:spcPts val="360"/>
              </a:spcBef>
              <a:spcAft>
                <a:spcPts val="0"/>
              </a:spcAft>
              <a:buSzPts val="1800"/>
              <a:buChar char="•"/>
            </a:pPr>
            <a:r>
              <a:rPr lang="en-IN" sz="1400"/>
              <a:t>Consider how you pay</a:t>
            </a:r>
            <a:endParaRPr sz="1400"/>
          </a:p>
          <a:p>
            <a:pPr marL="457200" lvl="0" indent="-342900" algn="l" rtl="0">
              <a:lnSpc>
                <a:spcPct val="100000"/>
              </a:lnSpc>
              <a:spcBef>
                <a:spcPts val="360"/>
              </a:spcBef>
              <a:spcAft>
                <a:spcPts val="0"/>
              </a:spcAft>
              <a:buSzPts val="1800"/>
              <a:buChar char="•"/>
            </a:pPr>
            <a:r>
              <a:rPr lang="en-IN" sz="1400"/>
              <a:t>Talk to someone</a:t>
            </a:r>
            <a:endParaRPr sz="1400"/>
          </a:p>
          <a:p>
            <a:pPr marL="457200" lvl="0" indent="-342900" algn="l" rtl="0">
              <a:lnSpc>
                <a:spcPct val="100000"/>
              </a:lnSpc>
              <a:spcBef>
                <a:spcPts val="360"/>
              </a:spcBef>
              <a:spcAft>
                <a:spcPts val="0"/>
              </a:spcAft>
              <a:buSzPts val="1800"/>
              <a:buChar char="•"/>
            </a:pPr>
            <a:r>
              <a:rPr lang="en-IN" sz="1400"/>
              <a:t>Hang up on robocalls </a:t>
            </a:r>
            <a:endParaRPr sz="1400"/>
          </a:p>
          <a:p>
            <a:pPr marL="457200" lvl="0" indent="-342900" algn="l" rtl="0">
              <a:lnSpc>
                <a:spcPct val="100000"/>
              </a:lnSpc>
              <a:spcBef>
                <a:spcPts val="360"/>
              </a:spcBef>
              <a:spcAft>
                <a:spcPts val="0"/>
              </a:spcAft>
              <a:buSzPts val="1800"/>
              <a:buChar char="•"/>
            </a:pPr>
            <a:r>
              <a:rPr lang="en-IN" sz="1400"/>
              <a:t>Be skeptical about free trial offers</a:t>
            </a:r>
            <a:endParaRPr lang="en-IN" sz="1400"/>
          </a:p>
          <a:p>
            <a:pPr marL="114300" lvl="0" indent="0" algn="l" rtl="0">
              <a:lnSpc>
                <a:spcPct val="100000"/>
              </a:lnSpc>
              <a:spcBef>
                <a:spcPts val="360"/>
              </a:spcBef>
              <a:spcAft>
                <a:spcPts val="0"/>
              </a:spcAft>
              <a:buSzPts val="1800"/>
              <a:buNone/>
            </a:pPr>
            <a:r>
              <a:rPr lang="en-IN" sz="1800" b="1">
                <a:solidFill>
                  <a:srgbClr val="C00000"/>
                </a:solidFill>
              </a:rPr>
              <a:t>The above points to be given due consideration when forensic audit is undertaken.</a:t>
            </a:r>
            <a:endParaRPr lang="en-IN" sz="1800" b="1">
              <a:solidFill>
                <a:srgbClr val="C00000"/>
              </a:solidFill>
            </a:endParaRPr>
          </a:p>
        </p:txBody>
      </p:sp>
      <p:sp>
        <p:nvSpPr>
          <p:cNvPr id="186" name="Google Shape;186;p2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87" name="Google Shape;187;p23"/>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24"/>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193" name="Google Shape;193;p24"/>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solidFill>
                  <a:srgbClr val="C00000"/>
                </a:solidFill>
              </a:rPr>
              <a:t>What is the difference between Forensic Auditing and Internal Auditing</a:t>
            </a:r>
            <a:r>
              <a:rPr lang="en-IN" sz="1400" b="1"/>
              <a:t>?</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a:t>A </a:t>
            </a:r>
            <a:r>
              <a:rPr lang="en-IN" sz="1400" b="1"/>
              <a:t>Forensic Audit</a:t>
            </a:r>
            <a:r>
              <a:rPr lang="en-IN" sz="1400"/>
              <a:t>/examination is designed to focus on reconstructing past financial transactions for a specific purpose, such as concerns of fraud, whereas an internal </a:t>
            </a:r>
            <a:r>
              <a:rPr lang="en-IN" sz="1400" b="1"/>
              <a:t>audit</a:t>
            </a:r>
            <a:r>
              <a:rPr lang="en-IN" sz="1400"/>
              <a:t> is typically focused more on compliance and/or the performance of the organization.</a:t>
            </a:r>
            <a:endParaRPr lang="en-IN" sz="1400"/>
          </a:p>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r>
              <a:rPr lang="en-IN" sz="1400" b="1"/>
              <a:t>On the other hand, an Organization may need a forensic Audit/examination if:</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Suspicions of fraud or theft arise.</a:t>
            </a:r>
            <a:endParaRPr lang="en-IN" sz="1400"/>
          </a:p>
          <a:p>
            <a:pPr marL="457200" lvl="0" indent="-342900" algn="l" rtl="0">
              <a:lnSpc>
                <a:spcPct val="100000"/>
              </a:lnSpc>
              <a:spcBef>
                <a:spcPts val="360"/>
              </a:spcBef>
              <a:spcAft>
                <a:spcPts val="0"/>
              </a:spcAft>
              <a:buSzPts val="1800"/>
              <a:buChar char="•"/>
            </a:pPr>
            <a:r>
              <a:rPr lang="en-IN" sz="1400"/>
              <a:t>Turnover has occurred and account balances are not what they should be (positively or negatively).</a:t>
            </a:r>
            <a:endParaRPr lang="en-IN" sz="1400"/>
          </a:p>
          <a:p>
            <a:pPr marL="457200" lvl="0" indent="-342900" algn="l" rtl="0">
              <a:lnSpc>
                <a:spcPct val="100000"/>
              </a:lnSpc>
              <a:spcBef>
                <a:spcPts val="360"/>
              </a:spcBef>
              <a:spcAft>
                <a:spcPts val="0"/>
              </a:spcAft>
              <a:buSzPts val="1800"/>
              <a:buChar char="•"/>
            </a:pPr>
            <a:r>
              <a:rPr lang="en-IN" sz="1400"/>
              <a:t>Accounts that were thought to be in your entity’s name are not really owned by your entity.</a:t>
            </a:r>
            <a:endParaRPr lang="en-IN" sz="1400"/>
          </a:p>
          <a:p>
            <a:pPr marL="457200" lvl="0" indent="-342900" algn="l" rtl="0">
              <a:lnSpc>
                <a:spcPct val="100000"/>
              </a:lnSpc>
              <a:spcBef>
                <a:spcPts val="360"/>
              </a:spcBef>
              <a:spcAft>
                <a:spcPts val="0"/>
              </a:spcAft>
              <a:buSzPts val="1800"/>
              <a:buChar char="•"/>
            </a:pPr>
            <a:r>
              <a:rPr lang="en-IN" sz="1400"/>
              <a:t>Reconciliation procedures result in timing differences or unidentified differences, or they don’t reconcile at all.</a:t>
            </a:r>
            <a:endParaRPr lang="en-IN" sz="1400"/>
          </a:p>
          <a:p>
            <a:pPr marL="457200" lvl="0" indent="-342900" algn="l" rtl="0">
              <a:lnSpc>
                <a:spcPct val="100000"/>
              </a:lnSpc>
              <a:spcBef>
                <a:spcPts val="360"/>
              </a:spcBef>
              <a:spcAft>
                <a:spcPts val="0"/>
              </a:spcAft>
              <a:buSzPts val="1800"/>
              <a:buChar char="•"/>
            </a:pPr>
            <a:r>
              <a:rPr lang="en-IN" sz="1400"/>
              <a:t>Vendors that should have been paid have not been paid, and/or customers that should have paid have not.</a:t>
            </a:r>
            <a:endParaRPr lang="en-IN" sz="1400"/>
          </a:p>
          <a:p>
            <a:pPr marL="457200" lvl="0" indent="-342900" algn="l" rtl="0">
              <a:lnSpc>
                <a:spcPct val="100000"/>
              </a:lnSpc>
              <a:spcBef>
                <a:spcPts val="360"/>
              </a:spcBef>
              <a:spcAft>
                <a:spcPts val="0"/>
              </a:spcAft>
              <a:buSzPts val="1800"/>
              <a:buChar char="•"/>
            </a:pPr>
            <a:r>
              <a:rPr lang="en-IN" sz="1400"/>
              <a:t>Theft of personally identifiable information has occurred or business systems have been hacked.</a:t>
            </a:r>
            <a:endParaRPr lang="en-IN" sz="1400"/>
          </a:p>
          <a:p>
            <a:pPr marL="457200" lvl="0" indent="-228600" algn="l" rtl="0">
              <a:lnSpc>
                <a:spcPct val="100000"/>
              </a:lnSpc>
              <a:spcBef>
                <a:spcPts val="360"/>
              </a:spcBef>
              <a:spcAft>
                <a:spcPts val="0"/>
              </a:spcAft>
              <a:buSzPts val="1800"/>
              <a:buNone/>
            </a:pPr>
            <a:endParaRPr sz="1400"/>
          </a:p>
        </p:txBody>
      </p:sp>
      <p:sp>
        <p:nvSpPr>
          <p:cNvPr id="194" name="Google Shape;194;p2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195" name="Google Shape;195;p24"/>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01" name="Google Shape;201;p25"/>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solidFill>
                  <a:srgbClr val="C00000"/>
                </a:solidFill>
              </a:rPr>
              <a:t>What is the difference between Forensic Auditing and Internal Auditing?</a:t>
            </a:r>
            <a:r>
              <a:rPr lang="en-IN" sz="1400" b="1"/>
              <a:t>   contd….</a:t>
            </a:r>
            <a:endParaRPr sz="1400" b="1"/>
          </a:p>
          <a:p>
            <a:pPr marL="114300" lvl="0" indent="0" algn="l" rtl="0">
              <a:lnSpc>
                <a:spcPct val="100000"/>
              </a:lnSpc>
              <a:spcBef>
                <a:spcPts val="360"/>
              </a:spcBef>
              <a:spcAft>
                <a:spcPts val="0"/>
              </a:spcAft>
              <a:buSzPts val="1800"/>
              <a:buNone/>
            </a:pPr>
            <a:endParaRPr sz="1400"/>
          </a:p>
          <a:p>
            <a:pPr marL="457200" lvl="0" indent="-342900" algn="just" rtl="0">
              <a:lnSpc>
                <a:spcPct val="100000"/>
              </a:lnSpc>
              <a:spcBef>
                <a:spcPts val="360"/>
              </a:spcBef>
              <a:spcAft>
                <a:spcPts val="0"/>
              </a:spcAft>
              <a:buSzPts val="1800"/>
              <a:buChar char="•"/>
            </a:pPr>
            <a:r>
              <a:rPr lang="en-IN" sz="1400"/>
              <a:t>Labour and materials have resulted in poor quality products that are not selling (or worse, are out of compliance with laws and regulations).</a:t>
            </a:r>
            <a:endParaRPr lang="en-IN" sz="1400"/>
          </a:p>
          <a:p>
            <a:pPr marL="457200" lvl="0" indent="-342900" algn="just" rtl="0">
              <a:lnSpc>
                <a:spcPct val="100000"/>
              </a:lnSpc>
              <a:spcBef>
                <a:spcPts val="360"/>
              </a:spcBef>
              <a:spcAft>
                <a:spcPts val="0"/>
              </a:spcAft>
              <a:buSzPts val="1800"/>
              <a:buChar char="•"/>
            </a:pPr>
            <a:r>
              <a:rPr lang="en-IN" sz="1400"/>
              <a:t>A whistle-blower hotline identified issues such as assets stolen or other defalcations (theft, misappropriation, plunderage, thievery, peculation, thieving, larceny, stealing, raid, embezzlement, misapplication).</a:t>
            </a:r>
            <a:endParaRPr lang="en-IN" sz="1400"/>
          </a:p>
          <a:p>
            <a:pPr marL="457200" lvl="0" indent="-342900" algn="just" rtl="0">
              <a:lnSpc>
                <a:spcPct val="100000"/>
              </a:lnSpc>
              <a:spcBef>
                <a:spcPts val="360"/>
              </a:spcBef>
              <a:spcAft>
                <a:spcPts val="0"/>
              </a:spcAft>
              <a:buSzPts val="1800"/>
              <a:buChar char="•"/>
            </a:pPr>
            <a:r>
              <a:rPr lang="en-IN" sz="1400"/>
              <a:t>While some matters require both a forensic audit/examination and an internal audit, the key to determining which service to use is to determine the time and objectives of the project(s). A forensic audit/examination is designed to focus on reconstructing past financial transactions for a specific purpose, such as concerns of fraud, whereas an internal audit is typically focused more on compliance and/or the performance of the organization.</a:t>
            </a:r>
            <a:endParaRPr lang="en-IN" sz="1400"/>
          </a:p>
          <a:p>
            <a:pPr marL="114300" lvl="0" indent="0" algn="l" rtl="0">
              <a:lnSpc>
                <a:spcPct val="100000"/>
              </a:lnSpc>
              <a:spcBef>
                <a:spcPts val="360"/>
              </a:spcBef>
              <a:spcAft>
                <a:spcPts val="0"/>
              </a:spcAft>
              <a:buSzPts val="1800"/>
              <a:buNone/>
            </a:pPr>
            <a:endParaRPr sz="1400"/>
          </a:p>
        </p:txBody>
      </p:sp>
      <p:sp>
        <p:nvSpPr>
          <p:cNvPr id="202" name="Google Shape;202;p2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03" name="Google Shape;203;p25"/>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07" name="Shape 207"/>
        <p:cNvGrpSpPr/>
        <p:nvPr/>
      </p:nvGrpSpPr>
      <p:grpSpPr>
        <a:xfrm>
          <a:off x="0" y="0"/>
          <a:ext cx="0" cy="0"/>
          <a:chOff x="0" y="0"/>
          <a:chExt cx="0" cy="0"/>
        </a:xfrm>
      </p:grpSpPr>
      <p:sp>
        <p:nvSpPr>
          <p:cNvPr id="208" name="Google Shape;208;p26"/>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09" name="Google Shape;209;p26"/>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u="sng">
                <a:solidFill>
                  <a:srgbClr val="C00000"/>
                </a:solidFill>
              </a:rPr>
              <a:t>Forensic Auditors to go through whether the following aspects are observed by the Organisation</a:t>
            </a:r>
            <a:r>
              <a:rPr lang="en-IN" sz="1800" u="sng">
                <a:solidFill>
                  <a:srgbClr val="C00000"/>
                </a:solidFill>
              </a:rPr>
              <a:t>:</a:t>
            </a:r>
            <a:endParaRPr lang="en-IN" sz="1800" u="sng">
              <a:solidFill>
                <a:srgbClr val="C00000"/>
              </a:solidFill>
            </a:endParaRPr>
          </a:p>
          <a:p>
            <a:pPr marL="114300" lvl="0" indent="0" algn="l" rtl="0">
              <a:lnSpc>
                <a:spcPct val="100000"/>
              </a:lnSpc>
              <a:spcBef>
                <a:spcPts val="360"/>
              </a:spcBef>
              <a:spcAft>
                <a:spcPts val="0"/>
              </a:spcAft>
              <a:buSzPts val="1800"/>
              <a:buNone/>
            </a:pPr>
            <a:endParaRPr sz="1400">
              <a:solidFill>
                <a:srgbClr val="FF0000"/>
              </a:solidFill>
            </a:endParaRPr>
          </a:p>
          <a:p>
            <a:pPr marL="114300" lvl="0" indent="0" algn="l" rtl="0">
              <a:lnSpc>
                <a:spcPct val="100000"/>
              </a:lnSpc>
              <a:spcBef>
                <a:spcPts val="360"/>
              </a:spcBef>
              <a:spcAft>
                <a:spcPts val="0"/>
              </a:spcAft>
              <a:buSzPts val="1800"/>
              <a:buNone/>
            </a:pPr>
            <a:endParaRPr sz="1400">
              <a:solidFill>
                <a:srgbClr val="FF0000"/>
              </a:solidFill>
            </a:endParaRPr>
          </a:p>
        </p:txBody>
      </p:sp>
      <p:sp>
        <p:nvSpPr>
          <p:cNvPr id="210" name="Google Shape;210;p2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11" name="Google Shape;211;p26"/>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12" name="Google Shape;212;p26"/>
          <p:cNvPicPr preferRelativeResize="0"/>
          <p:nvPr/>
        </p:nvPicPr>
        <p:blipFill rotWithShape="1">
          <a:blip r:embed="rId1"/>
          <a:srcRect/>
          <a:stretch>
            <a:fillRect/>
          </a:stretch>
        </p:blipFill>
        <p:spPr>
          <a:xfrm>
            <a:off x="2285682" y="1175656"/>
            <a:ext cx="4572635" cy="34896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18" name="Google Shape;218;p27"/>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u="sng">
                <a:solidFill>
                  <a:srgbClr val="C00000"/>
                </a:solidFill>
              </a:rPr>
              <a:t>Forensic Auditors to go through whether the following aspects are observed by the Organisation</a:t>
            </a:r>
            <a:r>
              <a:rPr lang="en-IN" sz="1800" u="sng">
                <a:solidFill>
                  <a:srgbClr val="C00000"/>
                </a:solidFill>
              </a:rPr>
              <a:t>:</a:t>
            </a:r>
            <a:endParaRPr lang="en-IN" sz="1800" u="sng">
              <a:solidFill>
                <a:srgbClr val="C00000"/>
              </a:solidFill>
            </a:endParaRPr>
          </a:p>
          <a:p>
            <a:pPr marL="114300" lvl="0" indent="0" algn="l" rtl="0">
              <a:lnSpc>
                <a:spcPct val="100000"/>
              </a:lnSpc>
              <a:spcBef>
                <a:spcPts val="360"/>
              </a:spcBef>
              <a:spcAft>
                <a:spcPts val="0"/>
              </a:spcAft>
              <a:buSzPts val="1800"/>
              <a:buNone/>
            </a:pPr>
            <a:endParaRPr sz="1400"/>
          </a:p>
        </p:txBody>
      </p:sp>
      <p:sp>
        <p:nvSpPr>
          <p:cNvPr id="219" name="Google Shape;219;p2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20" name="Google Shape;220;p27"/>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03112019</a:t>
            </a:r>
            <a:endParaRPr lang="en-IN"/>
          </a:p>
        </p:txBody>
      </p:sp>
      <p:pic>
        <p:nvPicPr>
          <p:cNvPr id="221" name="Google Shape;221;p27"/>
          <p:cNvPicPr preferRelativeResize="0"/>
          <p:nvPr/>
        </p:nvPicPr>
        <p:blipFill rotWithShape="1">
          <a:blip r:embed="rId1"/>
          <a:srcRect/>
          <a:stretch>
            <a:fillRect/>
          </a:stretch>
        </p:blipFill>
        <p:spPr>
          <a:xfrm>
            <a:off x="2285682" y="1035698"/>
            <a:ext cx="4572635" cy="356429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27" name="Google Shape;227;p28"/>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u="sng">
                <a:solidFill>
                  <a:srgbClr val="C00000"/>
                </a:solidFill>
              </a:rPr>
              <a:t>Fraud Prone Areas as stated by the Regulator</a:t>
            </a:r>
            <a:r>
              <a:rPr lang="en-IN" sz="1800" b="1">
                <a:solidFill>
                  <a:srgbClr val="C00000"/>
                </a:solidFill>
              </a:rPr>
              <a:t>:</a:t>
            </a:r>
            <a:endParaRPr sz="1800">
              <a:solidFill>
                <a:srgbClr val="C00000"/>
              </a:solidFill>
            </a:endParaRPr>
          </a:p>
          <a:p>
            <a:pPr marL="114300" lvl="0" indent="0" algn="l" rtl="0">
              <a:lnSpc>
                <a:spcPct val="100000"/>
              </a:lnSpc>
              <a:spcBef>
                <a:spcPts val="360"/>
              </a:spcBef>
              <a:spcAft>
                <a:spcPts val="0"/>
              </a:spcAft>
              <a:buSzPts val="1800"/>
              <a:buNone/>
            </a:pPr>
            <a:endParaRPr sz="1400"/>
          </a:p>
        </p:txBody>
      </p:sp>
      <p:sp>
        <p:nvSpPr>
          <p:cNvPr id="228" name="Google Shape;228;p2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29" name="Google Shape;229;p28"/>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30" name="Google Shape;230;p28"/>
          <p:cNvPicPr preferRelativeResize="0"/>
          <p:nvPr/>
        </p:nvPicPr>
        <p:blipFill rotWithShape="1">
          <a:blip r:embed="rId1"/>
          <a:srcRect/>
          <a:stretch>
            <a:fillRect/>
          </a:stretch>
        </p:blipFill>
        <p:spPr>
          <a:xfrm>
            <a:off x="2285682" y="1166328"/>
            <a:ext cx="4572635" cy="33216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34" name="Shape 234"/>
        <p:cNvGrpSpPr/>
        <p:nvPr/>
      </p:nvGrpSpPr>
      <p:grpSpPr>
        <a:xfrm>
          <a:off x="0" y="0"/>
          <a:ext cx="0" cy="0"/>
          <a:chOff x="0" y="0"/>
          <a:chExt cx="0" cy="0"/>
        </a:xfrm>
      </p:grpSpPr>
      <p:sp>
        <p:nvSpPr>
          <p:cNvPr id="235" name="Google Shape;235;p2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36" name="Google Shape;236;p29"/>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u="sng">
                <a:solidFill>
                  <a:srgbClr val="C00000"/>
                </a:solidFill>
              </a:rPr>
              <a:t>Fraud Prone Areas as stated by the Study Group on Large Value Bank Frauds</a:t>
            </a:r>
            <a:r>
              <a:rPr lang="en-IN" sz="1800" b="1">
                <a:solidFill>
                  <a:srgbClr val="C00000"/>
                </a:solidFill>
              </a:rPr>
              <a:t>:</a:t>
            </a:r>
            <a:endParaRPr sz="1800">
              <a:solidFill>
                <a:srgbClr val="C00000"/>
              </a:solidFill>
            </a:endParaRPr>
          </a:p>
          <a:p>
            <a:pPr marL="114300" lvl="0" indent="0" algn="l" rtl="0">
              <a:lnSpc>
                <a:spcPct val="100000"/>
              </a:lnSpc>
              <a:spcBef>
                <a:spcPts val="360"/>
              </a:spcBef>
              <a:spcAft>
                <a:spcPts val="0"/>
              </a:spcAft>
              <a:buSzPts val="1800"/>
              <a:buNone/>
            </a:pPr>
            <a:endParaRPr sz="1400"/>
          </a:p>
        </p:txBody>
      </p:sp>
      <p:sp>
        <p:nvSpPr>
          <p:cNvPr id="237" name="Google Shape;237;p2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38" name="Google Shape;238;p29"/>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39" name="Google Shape;239;p29"/>
          <p:cNvPicPr preferRelativeResize="0"/>
          <p:nvPr/>
        </p:nvPicPr>
        <p:blipFill rotWithShape="1">
          <a:blip r:embed="rId1"/>
          <a:srcRect/>
          <a:stretch>
            <a:fillRect/>
          </a:stretch>
        </p:blipFill>
        <p:spPr>
          <a:xfrm>
            <a:off x="2285682" y="1110342"/>
            <a:ext cx="4572635" cy="351764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45" name="Google Shape;245;p30"/>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CRITICAL AREAS – ADVANCES RELATED</a:t>
            </a:r>
            <a:endParaRPr lang="en-IN" sz="1800" b="1">
              <a:solidFill>
                <a:srgbClr val="C00000"/>
              </a:solidFill>
            </a:endParaRPr>
          </a:p>
          <a:p>
            <a:pPr marL="114300" lvl="0" indent="0" algn="l" rtl="0">
              <a:lnSpc>
                <a:spcPct val="100000"/>
              </a:lnSpc>
              <a:spcBef>
                <a:spcPts val="360"/>
              </a:spcBef>
              <a:spcAft>
                <a:spcPts val="0"/>
              </a:spcAft>
              <a:buSzPts val="1800"/>
              <a:buNone/>
            </a:pPr>
            <a:endParaRPr sz="1600" b="1"/>
          </a:p>
        </p:txBody>
      </p:sp>
      <p:sp>
        <p:nvSpPr>
          <p:cNvPr id="246" name="Google Shape;246;p3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47" name="Google Shape;247;p30"/>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48" name="Google Shape;248;p30"/>
          <p:cNvPicPr preferRelativeResize="0"/>
          <p:nvPr/>
        </p:nvPicPr>
        <p:blipFill rotWithShape="1">
          <a:blip r:embed="rId1"/>
          <a:srcRect/>
          <a:stretch>
            <a:fillRect/>
          </a:stretch>
        </p:blipFill>
        <p:spPr>
          <a:xfrm>
            <a:off x="2285682" y="1110343"/>
            <a:ext cx="4572635" cy="35642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3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54" name="Google Shape;254;p31"/>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solidFill>
                  <a:srgbClr val="C00000"/>
                </a:solidFill>
              </a:rPr>
              <a:t>CRITICAL AREAS – ADVANCES RELATED</a:t>
            </a:r>
            <a:endParaRPr lang="en-IN" sz="1600" b="1">
              <a:solidFill>
                <a:srgbClr val="C00000"/>
              </a:solidFill>
            </a:endParaRPr>
          </a:p>
          <a:p>
            <a:pPr marL="114300" lvl="0" indent="0" algn="l" rtl="0">
              <a:lnSpc>
                <a:spcPct val="100000"/>
              </a:lnSpc>
              <a:spcBef>
                <a:spcPts val="360"/>
              </a:spcBef>
              <a:spcAft>
                <a:spcPts val="0"/>
              </a:spcAft>
              <a:buSzPts val="1800"/>
              <a:buNone/>
            </a:pPr>
            <a:endParaRPr sz="1600" b="1"/>
          </a:p>
        </p:txBody>
      </p:sp>
      <p:sp>
        <p:nvSpPr>
          <p:cNvPr id="255" name="Google Shape;255;p3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56" name="Google Shape;256;p31"/>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57" name="Google Shape;257;p31"/>
          <p:cNvPicPr preferRelativeResize="0"/>
          <p:nvPr/>
        </p:nvPicPr>
        <p:blipFill rotWithShape="1">
          <a:blip r:embed="rId1"/>
          <a:srcRect/>
          <a:stretch>
            <a:fillRect/>
          </a:stretch>
        </p:blipFill>
        <p:spPr>
          <a:xfrm>
            <a:off x="2285682" y="1017037"/>
            <a:ext cx="4572635" cy="34989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63" name="Google Shape;263;p32"/>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solidFill>
                  <a:srgbClr val="C00000"/>
                </a:solidFill>
              </a:rPr>
              <a:t>CRITICAL AREAS – ADVANCES RELATED</a:t>
            </a:r>
            <a:endParaRPr lang="en-IN" sz="1400" b="1">
              <a:solidFill>
                <a:srgbClr val="C00000"/>
              </a:solidFill>
            </a:endParaRPr>
          </a:p>
          <a:p>
            <a:pPr marL="114300" lvl="0" indent="0" algn="l" rtl="0">
              <a:lnSpc>
                <a:spcPct val="100000"/>
              </a:lnSpc>
              <a:spcBef>
                <a:spcPts val="360"/>
              </a:spcBef>
              <a:spcAft>
                <a:spcPts val="0"/>
              </a:spcAft>
              <a:buSzPts val="1800"/>
              <a:buNone/>
            </a:pPr>
            <a:r>
              <a:rPr lang="en-IN" sz="1200" b="1"/>
              <a:t> </a:t>
            </a:r>
            <a:endParaRPr sz="1200"/>
          </a:p>
          <a:p>
            <a:pPr marL="114300" lvl="0" indent="0" algn="l" rtl="0">
              <a:lnSpc>
                <a:spcPct val="100000"/>
              </a:lnSpc>
              <a:spcBef>
                <a:spcPts val="360"/>
              </a:spcBef>
              <a:spcAft>
                <a:spcPts val="0"/>
              </a:spcAft>
              <a:buSzPts val="1800"/>
              <a:buNone/>
            </a:pPr>
            <a:endParaRPr sz="1200"/>
          </a:p>
        </p:txBody>
      </p:sp>
      <p:sp>
        <p:nvSpPr>
          <p:cNvPr id="264" name="Google Shape;264;p3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65" name="Google Shape;265;p32"/>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66" name="Google Shape;266;p32"/>
          <p:cNvPicPr preferRelativeResize="0"/>
          <p:nvPr/>
        </p:nvPicPr>
        <p:blipFill rotWithShape="1">
          <a:blip r:embed="rId1"/>
          <a:srcRect/>
          <a:stretch>
            <a:fillRect/>
          </a:stretch>
        </p:blipFill>
        <p:spPr>
          <a:xfrm>
            <a:off x="2285682" y="1017038"/>
            <a:ext cx="4572635" cy="34989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3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72" name="Google Shape;272;p33"/>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solidFill>
                  <a:srgbClr val="C00000"/>
                </a:solidFill>
              </a:rPr>
              <a:t>CRITICAL AREAS – ADVANCES RELATED</a:t>
            </a:r>
            <a:endParaRPr lang="en-IN" sz="1600" b="1">
              <a:solidFill>
                <a:srgbClr val="C00000"/>
              </a:solidFill>
            </a:endParaRPr>
          </a:p>
          <a:p>
            <a:pPr marL="114300" lvl="0" indent="0" algn="l" rtl="0">
              <a:lnSpc>
                <a:spcPct val="100000"/>
              </a:lnSpc>
              <a:spcBef>
                <a:spcPts val="360"/>
              </a:spcBef>
              <a:spcAft>
                <a:spcPts val="0"/>
              </a:spcAft>
              <a:buSzPts val="1800"/>
              <a:buNone/>
            </a:pPr>
            <a:r>
              <a:rPr lang="en-IN" sz="1400" b="1"/>
              <a:t> </a:t>
            </a:r>
            <a:endParaRPr lang="en-IN" sz="1400" b="1"/>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endParaRPr sz="1400"/>
          </a:p>
        </p:txBody>
      </p:sp>
      <p:sp>
        <p:nvSpPr>
          <p:cNvPr id="273" name="Google Shape;273;p3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74" name="Google Shape;274;p33"/>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75" name="Google Shape;275;p33"/>
          <p:cNvPicPr preferRelativeResize="0"/>
          <p:nvPr/>
        </p:nvPicPr>
        <p:blipFill rotWithShape="1">
          <a:blip r:embed="rId1"/>
          <a:srcRect/>
          <a:stretch>
            <a:fillRect/>
          </a:stretch>
        </p:blipFill>
        <p:spPr>
          <a:xfrm>
            <a:off x="2285682" y="1073020"/>
            <a:ext cx="4572635" cy="3657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79" name="Shape 279"/>
        <p:cNvGrpSpPr/>
        <p:nvPr/>
      </p:nvGrpSpPr>
      <p:grpSpPr>
        <a:xfrm>
          <a:off x="0" y="0"/>
          <a:ext cx="0" cy="0"/>
          <a:chOff x="0" y="0"/>
          <a:chExt cx="0" cy="0"/>
        </a:xfrm>
      </p:grpSpPr>
      <p:sp>
        <p:nvSpPr>
          <p:cNvPr id="280" name="Google Shape;280;p34"/>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81" name="Google Shape;281;p34"/>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CRITICAL AREAS – ADVANCES RELATED</a:t>
            </a:r>
            <a:endParaRPr lang="en-IN"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282" name="Google Shape;282;p3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83" name="Google Shape;283;p34"/>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84" name="Google Shape;284;p34"/>
          <p:cNvPicPr preferRelativeResize="0"/>
          <p:nvPr/>
        </p:nvPicPr>
        <p:blipFill rotWithShape="1">
          <a:blip r:embed="rId1"/>
          <a:srcRect/>
          <a:stretch>
            <a:fillRect/>
          </a:stretch>
        </p:blipFill>
        <p:spPr>
          <a:xfrm>
            <a:off x="2285682" y="1101012"/>
            <a:ext cx="4572635" cy="34896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88" name="Shape 288"/>
        <p:cNvGrpSpPr/>
        <p:nvPr/>
      </p:nvGrpSpPr>
      <p:grpSpPr>
        <a:xfrm>
          <a:off x="0" y="0"/>
          <a:ext cx="0" cy="0"/>
          <a:chOff x="0" y="0"/>
          <a:chExt cx="0" cy="0"/>
        </a:xfrm>
      </p:grpSpPr>
      <p:sp>
        <p:nvSpPr>
          <p:cNvPr id="289" name="Google Shape;289;p35"/>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90" name="Google Shape;290;p35"/>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CRITICAL AREAS – ADVANCES RELATED</a:t>
            </a:r>
            <a:endParaRPr lang="en-IN"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291" name="Google Shape;291;p3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292" name="Google Shape;292;p35"/>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293" name="Google Shape;293;p35"/>
          <p:cNvPicPr preferRelativeResize="0"/>
          <p:nvPr/>
        </p:nvPicPr>
        <p:blipFill rotWithShape="1">
          <a:blip r:embed="rId1"/>
          <a:srcRect/>
          <a:stretch>
            <a:fillRect/>
          </a:stretch>
        </p:blipFill>
        <p:spPr>
          <a:xfrm>
            <a:off x="2285682" y="1203650"/>
            <a:ext cx="4572635" cy="34336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
        <p:nvSpPr>
          <p:cNvPr id="298" name="Google Shape;298;p36"/>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299" name="Google Shape;299;p36"/>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CRITICAL AREAS – ADVANCES RELATED</a:t>
            </a:r>
            <a:endParaRPr lang="en-IN"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300" name="Google Shape;300;p3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301" name="Google Shape;301;p36"/>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pic>
        <p:nvPicPr>
          <p:cNvPr id="302" name="Google Shape;302;p36"/>
          <p:cNvPicPr preferRelativeResize="0"/>
          <p:nvPr/>
        </p:nvPicPr>
        <p:blipFill rotWithShape="1">
          <a:blip r:embed="rId1"/>
          <a:srcRect/>
          <a:stretch>
            <a:fillRect/>
          </a:stretch>
        </p:blipFill>
        <p:spPr>
          <a:xfrm>
            <a:off x="2285682" y="1306286"/>
            <a:ext cx="4572635" cy="33590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37"/>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308" name="Google Shape;308;p37"/>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LATEST ONLINE FRAUDS</a:t>
            </a:r>
            <a:endParaRPr lang="en-IN" sz="1800" b="1">
              <a:solidFill>
                <a:srgbClr val="C00000"/>
              </a:solidFill>
            </a:endParaRPr>
          </a:p>
          <a:p>
            <a:pPr marL="114300" lvl="0" indent="0" algn="l" rtl="0">
              <a:lnSpc>
                <a:spcPct val="100000"/>
              </a:lnSpc>
              <a:spcBef>
                <a:spcPts val="360"/>
              </a:spcBef>
              <a:spcAft>
                <a:spcPts val="0"/>
              </a:spcAft>
              <a:buSzPts val="1800"/>
              <a:buNone/>
            </a:pPr>
            <a:endParaRPr sz="1800"/>
          </a:p>
          <a:p>
            <a:pPr marL="457200" lvl="0" indent="-342900" algn="l" rtl="0">
              <a:lnSpc>
                <a:spcPct val="100000"/>
              </a:lnSpc>
              <a:spcBef>
                <a:spcPts val="360"/>
              </a:spcBef>
              <a:spcAft>
                <a:spcPts val="0"/>
              </a:spcAft>
              <a:buSzPts val="1800"/>
              <a:buChar char="•"/>
            </a:pPr>
            <a:r>
              <a:rPr lang="en-IN" sz="1800"/>
              <a:t>Greeting card scams</a:t>
            </a:r>
            <a:endParaRPr sz="1800"/>
          </a:p>
          <a:p>
            <a:pPr marL="457200" lvl="0" indent="-342900" algn="l" rtl="0">
              <a:lnSpc>
                <a:spcPct val="100000"/>
              </a:lnSpc>
              <a:spcBef>
                <a:spcPts val="360"/>
              </a:spcBef>
              <a:spcAft>
                <a:spcPts val="0"/>
              </a:spcAft>
              <a:buSzPts val="1800"/>
              <a:buChar char="•"/>
            </a:pPr>
            <a:r>
              <a:rPr lang="en-IN" sz="1800"/>
              <a:t>Lottery scam</a:t>
            </a:r>
            <a:endParaRPr lang="en-IN" sz="1800"/>
          </a:p>
          <a:p>
            <a:pPr marL="457200" lvl="0" indent="-342900" algn="l" rtl="0">
              <a:lnSpc>
                <a:spcPct val="100000"/>
              </a:lnSpc>
              <a:spcBef>
                <a:spcPts val="360"/>
              </a:spcBef>
              <a:spcAft>
                <a:spcPts val="0"/>
              </a:spcAft>
              <a:buSzPts val="1800"/>
              <a:buChar char="•"/>
            </a:pPr>
            <a:r>
              <a:rPr lang="en-IN" sz="1800"/>
              <a:t>Hitman scam</a:t>
            </a:r>
            <a:endParaRPr lang="en-IN" sz="1800"/>
          </a:p>
          <a:p>
            <a:pPr marL="457200" lvl="0" indent="-342900" algn="l" rtl="0">
              <a:lnSpc>
                <a:spcPct val="100000"/>
              </a:lnSpc>
              <a:spcBef>
                <a:spcPts val="360"/>
              </a:spcBef>
              <a:spcAft>
                <a:spcPts val="0"/>
              </a:spcAft>
              <a:buSzPts val="1800"/>
              <a:buChar char="•"/>
            </a:pPr>
            <a:r>
              <a:rPr lang="en-IN" sz="1800"/>
              <a:t>West African Scam or Nigerian Scam</a:t>
            </a:r>
            <a:endParaRPr lang="en-IN" sz="1800"/>
          </a:p>
          <a:p>
            <a:pPr marL="457200" lvl="0" indent="-342900" algn="l" rtl="0">
              <a:lnSpc>
                <a:spcPct val="100000"/>
              </a:lnSpc>
              <a:spcBef>
                <a:spcPts val="360"/>
              </a:spcBef>
              <a:spcAft>
                <a:spcPts val="0"/>
              </a:spcAft>
              <a:buSzPts val="1800"/>
              <a:buChar char="•"/>
            </a:pPr>
            <a:r>
              <a:rPr lang="en-IN" sz="1800"/>
              <a:t>Sweepstakes Scam</a:t>
            </a:r>
            <a:endParaRPr lang="en-IN" sz="1800"/>
          </a:p>
          <a:p>
            <a:pPr marL="457200" lvl="0" indent="-342900" algn="l" rtl="0">
              <a:lnSpc>
                <a:spcPct val="100000"/>
              </a:lnSpc>
              <a:spcBef>
                <a:spcPts val="360"/>
              </a:spcBef>
              <a:spcAft>
                <a:spcPts val="0"/>
              </a:spcAft>
              <a:buSzPts val="1800"/>
              <a:buChar char="•"/>
            </a:pPr>
            <a:r>
              <a:rPr lang="en-IN" sz="1800"/>
              <a:t>Bank loan or Credit Card Fraud</a:t>
            </a:r>
            <a:endParaRPr lang="en-IN" sz="1800"/>
          </a:p>
          <a:p>
            <a:pPr marL="457200" lvl="0" indent="-342900" algn="l" rtl="0">
              <a:lnSpc>
                <a:spcPct val="100000"/>
              </a:lnSpc>
              <a:spcBef>
                <a:spcPts val="360"/>
              </a:spcBef>
              <a:spcAft>
                <a:spcPts val="0"/>
              </a:spcAft>
              <a:buSzPts val="1800"/>
              <a:buChar char="•"/>
            </a:pPr>
            <a:r>
              <a:rPr lang="en-IN" sz="1800"/>
              <a:t>Auction Fraud</a:t>
            </a:r>
            <a:endParaRPr lang="en-IN" sz="1800"/>
          </a:p>
          <a:p>
            <a:pPr marL="457200" lvl="0" indent="-342900" algn="l" rtl="0">
              <a:lnSpc>
                <a:spcPct val="100000"/>
              </a:lnSpc>
              <a:spcBef>
                <a:spcPts val="360"/>
              </a:spcBef>
              <a:spcAft>
                <a:spcPts val="0"/>
              </a:spcAft>
              <a:buSzPts val="1800"/>
              <a:buChar char="•"/>
            </a:pPr>
            <a:r>
              <a:rPr lang="en-IN" sz="1800"/>
              <a:t>Investment Fraud</a:t>
            </a:r>
            <a:endParaRPr lang="en-IN" sz="1800"/>
          </a:p>
          <a:p>
            <a:pPr marL="457200" lvl="0" indent="-342900" algn="l" rtl="0">
              <a:lnSpc>
                <a:spcPct val="100000"/>
              </a:lnSpc>
              <a:spcBef>
                <a:spcPts val="360"/>
              </a:spcBef>
              <a:spcAft>
                <a:spcPts val="0"/>
              </a:spcAft>
              <a:buSzPts val="1800"/>
              <a:buChar char="•"/>
            </a:pPr>
            <a:r>
              <a:rPr lang="en-IN" sz="1800"/>
              <a:t>Work-at-Home Scam</a:t>
            </a:r>
            <a:endParaRPr lang="en-IN" sz="1800"/>
          </a:p>
          <a:p>
            <a:pPr marL="114300" lvl="0" indent="0" algn="l" rtl="0">
              <a:lnSpc>
                <a:spcPct val="100000"/>
              </a:lnSpc>
              <a:spcBef>
                <a:spcPts val="360"/>
              </a:spcBef>
              <a:spcAft>
                <a:spcPts val="0"/>
              </a:spcAft>
              <a:buSzPts val="1800"/>
              <a:buNone/>
            </a:pPr>
            <a:endParaRPr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309" name="Google Shape;309;p3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310" name="Google Shape;310;p37"/>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14" name="Shape 314"/>
        <p:cNvGrpSpPr/>
        <p:nvPr/>
      </p:nvGrpSpPr>
      <p:grpSpPr>
        <a:xfrm>
          <a:off x="0" y="0"/>
          <a:ext cx="0" cy="0"/>
          <a:chOff x="0" y="0"/>
          <a:chExt cx="0" cy="0"/>
        </a:xfrm>
      </p:grpSpPr>
      <p:sp>
        <p:nvSpPr>
          <p:cNvPr id="315" name="Google Shape;315;p38"/>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316" name="Google Shape;316;p38"/>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LATEST ONLINE FRAUDS</a:t>
            </a:r>
            <a:endParaRPr lang="en-IN" sz="1800" b="1">
              <a:solidFill>
                <a:srgbClr val="C00000"/>
              </a:solidFill>
            </a:endParaRPr>
          </a:p>
          <a:p>
            <a:pPr marL="114300" lvl="0" indent="0" algn="l" rtl="0">
              <a:lnSpc>
                <a:spcPct val="100000"/>
              </a:lnSpc>
              <a:spcBef>
                <a:spcPts val="360"/>
              </a:spcBef>
              <a:spcAft>
                <a:spcPts val="0"/>
              </a:spcAft>
              <a:buSzPts val="1800"/>
              <a:buNone/>
            </a:pPr>
            <a:endParaRPr sz="1800"/>
          </a:p>
          <a:p>
            <a:pPr marL="457200" lvl="0" indent="-342900" algn="l" rtl="0">
              <a:lnSpc>
                <a:spcPct val="100000"/>
              </a:lnSpc>
              <a:spcBef>
                <a:spcPts val="360"/>
              </a:spcBef>
              <a:spcAft>
                <a:spcPts val="0"/>
              </a:spcAft>
              <a:buSzPts val="1800"/>
              <a:buChar char="•"/>
            </a:pPr>
            <a:r>
              <a:rPr lang="en-IN" sz="1800"/>
              <a:t>Online Dating Scam or ‘Catfishing’ Scam</a:t>
            </a:r>
            <a:endParaRPr lang="en-IN" sz="1800"/>
          </a:p>
          <a:p>
            <a:pPr marL="457200" lvl="0" indent="-342900" algn="l" rtl="0">
              <a:lnSpc>
                <a:spcPct val="100000"/>
              </a:lnSpc>
              <a:spcBef>
                <a:spcPts val="360"/>
              </a:spcBef>
              <a:spcAft>
                <a:spcPts val="0"/>
              </a:spcAft>
              <a:buSzPts val="1800"/>
              <a:buChar char="•"/>
            </a:pPr>
            <a:r>
              <a:rPr lang="en-IN" sz="1800"/>
              <a:t>Identity Theft - Using malware or computer intrusion techniques, cybercriminals steal personally identifiable information to assume someone else's identity.</a:t>
            </a:r>
            <a:endParaRPr lang="en-IN" sz="1800"/>
          </a:p>
          <a:p>
            <a:pPr marL="457200" lvl="0" indent="-342900" algn="l" rtl="0">
              <a:lnSpc>
                <a:spcPct val="100000"/>
              </a:lnSpc>
              <a:spcBef>
                <a:spcPts val="360"/>
              </a:spcBef>
              <a:spcAft>
                <a:spcPts val="0"/>
              </a:spcAft>
              <a:buSzPts val="1800"/>
              <a:buChar char="•"/>
            </a:pPr>
            <a:r>
              <a:rPr lang="en-IN" sz="1800"/>
              <a:t>Fake antivirus software</a:t>
            </a:r>
            <a:endParaRPr lang="en-IN" sz="1800"/>
          </a:p>
          <a:p>
            <a:pPr marL="457200" lvl="0" indent="-342900" algn="l" rtl="0">
              <a:lnSpc>
                <a:spcPct val="100000"/>
              </a:lnSpc>
              <a:spcBef>
                <a:spcPts val="360"/>
              </a:spcBef>
              <a:spcAft>
                <a:spcPts val="0"/>
              </a:spcAft>
              <a:buSzPts val="1800"/>
              <a:buChar char="•"/>
            </a:pPr>
            <a:r>
              <a:rPr lang="en-IN" sz="1800"/>
              <a:t>Phishing email scam</a:t>
            </a:r>
            <a:endParaRPr lang="en-IN" sz="1800"/>
          </a:p>
          <a:p>
            <a:pPr marL="114300" lvl="0" indent="0" algn="l" rtl="0">
              <a:lnSpc>
                <a:spcPct val="100000"/>
              </a:lnSpc>
              <a:spcBef>
                <a:spcPts val="360"/>
              </a:spcBef>
              <a:spcAft>
                <a:spcPts val="0"/>
              </a:spcAft>
              <a:buSzPts val="1800"/>
              <a:buNone/>
            </a:pPr>
            <a:endParaRPr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317" name="Google Shape;317;p3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318" name="Google Shape;318;p38"/>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22" name="Shape 322"/>
        <p:cNvGrpSpPr/>
        <p:nvPr/>
      </p:nvGrpSpPr>
      <p:grpSpPr>
        <a:xfrm>
          <a:off x="0" y="0"/>
          <a:ext cx="0" cy="0"/>
          <a:chOff x="0" y="0"/>
          <a:chExt cx="0" cy="0"/>
        </a:xfrm>
      </p:grpSpPr>
      <p:sp>
        <p:nvSpPr>
          <p:cNvPr id="323" name="Google Shape;323;p3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FRAUDS</a:t>
            </a:r>
            <a:endParaRPr sz="1800"/>
          </a:p>
        </p:txBody>
      </p:sp>
      <p:sp>
        <p:nvSpPr>
          <p:cNvPr id="324" name="Google Shape;324;p39"/>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b="1">
                <a:solidFill>
                  <a:srgbClr val="C00000"/>
                </a:solidFill>
              </a:rPr>
              <a:t>FRAUDS AT VARIOUS PLACES</a:t>
            </a:r>
            <a:endParaRPr lang="en-IN" sz="1800" b="1">
              <a:solidFill>
                <a:srgbClr val="C00000"/>
              </a:solidFill>
            </a:endParaRPr>
          </a:p>
          <a:p>
            <a:pPr marL="114300" lvl="0" indent="0" algn="l" rtl="0">
              <a:lnSpc>
                <a:spcPct val="100000"/>
              </a:lnSpc>
              <a:spcBef>
                <a:spcPts val="360"/>
              </a:spcBef>
              <a:spcAft>
                <a:spcPts val="0"/>
              </a:spcAft>
              <a:buSzPts val="1800"/>
              <a:buNone/>
            </a:pPr>
            <a:endParaRPr sz="1800"/>
          </a:p>
          <a:p>
            <a:pPr marL="457200" lvl="0" indent="-342900" algn="l" rtl="0">
              <a:lnSpc>
                <a:spcPct val="100000"/>
              </a:lnSpc>
              <a:spcBef>
                <a:spcPts val="360"/>
              </a:spcBef>
              <a:spcAft>
                <a:spcPts val="0"/>
              </a:spcAft>
              <a:buSzPts val="1800"/>
              <a:buChar char="•"/>
            </a:pPr>
            <a:r>
              <a:rPr lang="en-IN" sz="1800" u="sng"/>
              <a:t>At Branches</a:t>
            </a:r>
            <a:r>
              <a:rPr lang="en-IN" sz="1800"/>
              <a:t>: Customer, Non Customer, Insider, Collusion with an outsider or gang – Various areas may be covered</a:t>
            </a:r>
            <a:endParaRPr lang="en-IN" sz="1800"/>
          </a:p>
          <a:p>
            <a:pPr marL="457200" lvl="0" indent="-342900" algn="l" rtl="0">
              <a:lnSpc>
                <a:spcPct val="100000"/>
              </a:lnSpc>
              <a:spcBef>
                <a:spcPts val="360"/>
              </a:spcBef>
              <a:spcAft>
                <a:spcPts val="0"/>
              </a:spcAft>
              <a:buSzPts val="1800"/>
              <a:buChar char="•"/>
            </a:pPr>
            <a:r>
              <a:rPr lang="en-IN" sz="1800" u="sng"/>
              <a:t>At ATM</a:t>
            </a:r>
            <a:r>
              <a:rPr lang="en-IN" sz="1800"/>
              <a:t>: Customer, Non Customer, Insider, Tech Experts</a:t>
            </a:r>
            <a:endParaRPr lang="en-IN" sz="1800"/>
          </a:p>
          <a:p>
            <a:pPr marL="457200" lvl="0" indent="-342900" algn="l" rtl="0">
              <a:lnSpc>
                <a:spcPct val="100000"/>
              </a:lnSpc>
              <a:spcBef>
                <a:spcPts val="360"/>
              </a:spcBef>
              <a:spcAft>
                <a:spcPts val="0"/>
              </a:spcAft>
              <a:buSzPts val="1800"/>
              <a:buChar char="•"/>
            </a:pPr>
            <a:r>
              <a:rPr lang="en-IN" sz="1800" u="sng"/>
              <a:t>At POS</a:t>
            </a:r>
            <a:r>
              <a:rPr lang="en-IN" sz="1800"/>
              <a:t>:  Debit Card, Credit Card, Merchant Establishments, Fradulant staff at the Establishments, Outsider</a:t>
            </a:r>
            <a:endParaRPr lang="en-IN" sz="1800"/>
          </a:p>
          <a:p>
            <a:pPr marL="457200" lvl="0" indent="-342900" algn="l" rtl="0">
              <a:lnSpc>
                <a:spcPct val="100000"/>
              </a:lnSpc>
              <a:spcBef>
                <a:spcPts val="360"/>
              </a:spcBef>
              <a:spcAft>
                <a:spcPts val="0"/>
              </a:spcAft>
              <a:buSzPts val="1800"/>
              <a:buChar char="•"/>
            </a:pPr>
            <a:r>
              <a:rPr lang="en-IN" sz="1800" u="sng"/>
              <a:t>Net Banking</a:t>
            </a:r>
            <a:r>
              <a:rPr lang="en-IN" sz="1800"/>
              <a:t>: Worms, unwarranted links, online purchases, OTP related, cypher cafes, Open Source wifi</a:t>
            </a:r>
            <a:endParaRPr sz="1800"/>
          </a:p>
          <a:p>
            <a:pPr marL="457200" lvl="0" indent="-342900" algn="l" rtl="0">
              <a:lnSpc>
                <a:spcPct val="100000"/>
              </a:lnSpc>
              <a:spcBef>
                <a:spcPts val="360"/>
              </a:spcBef>
              <a:spcAft>
                <a:spcPts val="0"/>
              </a:spcAft>
              <a:buSzPts val="1800"/>
              <a:buChar char="•"/>
            </a:pPr>
            <a:r>
              <a:rPr lang="en-IN" sz="1800"/>
              <a:t>Pishing, Smear Pishing, Vishing, Telecom Frauds etc.</a:t>
            </a:r>
            <a:endParaRPr lang="en-IN" sz="1800"/>
          </a:p>
          <a:p>
            <a:pPr marL="457200" lvl="0" indent="-342900" algn="l" rtl="0">
              <a:lnSpc>
                <a:spcPct val="100000"/>
              </a:lnSpc>
              <a:spcBef>
                <a:spcPts val="360"/>
              </a:spcBef>
              <a:spcAft>
                <a:spcPts val="0"/>
              </a:spcAft>
              <a:buSzPts val="1800"/>
              <a:buChar char="•"/>
            </a:pPr>
            <a:r>
              <a:rPr lang="en-IN" sz="1800"/>
              <a:t>At Organisation level </a:t>
            </a:r>
            <a:endParaRPr lang="en-IN" sz="1800"/>
          </a:p>
          <a:p>
            <a:pPr marL="114300" lvl="0" indent="0" algn="l" rtl="0">
              <a:lnSpc>
                <a:spcPct val="100000"/>
              </a:lnSpc>
              <a:spcBef>
                <a:spcPts val="360"/>
              </a:spcBef>
              <a:spcAft>
                <a:spcPts val="0"/>
              </a:spcAft>
              <a:buSzPts val="1800"/>
              <a:buNone/>
            </a:pPr>
            <a:endParaRPr sz="1800"/>
          </a:p>
          <a:p>
            <a:pPr marL="457200" lvl="0" indent="-228600" algn="l" rtl="0">
              <a:lnSpc>
                <a:spcPct val="100000"/>
              </a:lnSpc>
              <a:spcBef>
                <a:spcPts val="360"/>
              </a:spcBef>
              <a:spcAft>
                <a:spcPts val="0"/>
              </a:spcAft>
              <a:buSzPts val="1800"/>
              <a:buNone/>
            </a:pPr>
            <a:endParaRPr sz="1800"/>
          </a:p>
          <a:p>
            <a:pPr marL="114300" lvl="0" indent="0" algn="l" rtl="0">
              <a:lnSpc>
                <a:spcPct val="100000"/>
              </a:lnSpc>
              <a:spcBef>
                <a:spcPts val="360"/>
              </a:spcBef>
              <a:spcAft>
                <a:spcPts val="0"/>
              </a:spcAft>
              <a:buSzPts val="1800"/>
              <a:buNone/>
            </a:pPr>
            <a:endParaRPr sz="1800"/>
          </a:p>
          <a:p>
            <a:pPr marL="114300" lvl="0" indent="0" algn="l" rtl="0">
              <a:lnSpc>
                <a:spcPct val="100000"/>
              </a:lnSpc>
              <a:spcBef>
                <a:spcPts val="360"/>
              </a:spcBef>
              <a:spcAft>
                <a:spcPts val="0"/>
              </a:spcAft>
              <a:buSzPts val="1800"/>
              <a:buNone/>
            </a:pPr>
            <a:r>
              <a:rPr lang="en-IN" sz="1800"/>
              <a:t> </a:t>
            </a:r>
            <a:endParaRPr lang="en-IN" sz="1800"/>
          </a:p>
          <a:p>
            <a:pPr marL="114300" lvl="0" indent="0" algn="l" rtl="0">
              <a:lnSpc>
                <a:spcPct val="100000"/>
              </a:lnSpc>
              <a:spcBef>
                <a:spcPts val="360"/>
              </a:spcBef>
              <a:spcAft>
                <a:spcPts val="0"/>
              </a:spcAft>
              <a:buSzPts val="1800"/>
              <a:buNone/>
            </a:pPr>
            <a:endParaRPr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325" name="Google Shape;325;p3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326" name="Google Shape;326;p39"/>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30" name="Shape 330"/>
        <p:cNvGrpSpPr/>
        <p:nvPr/>
      </p:nvGrpSpPr>
      <p:grpSpPr>
        <a:xfrm>
          <a:off x="0" y="0"/>
          <a:ext cx="0" cy="0"/>
          <a:chOff x="0" y="0"/>
          <a:chExt cx="0" cy="0"/>
        </a:xfrm>
      </p:grpSpPr>
      <p:sp>
        <p:nvSpPr>
          <p:cNvPr id="331" name="Google Shape;331;p4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endParaRPr sz="1800"/>
          </a:p>
        </p:txBody>
      </p:sp>
      <p:sp>
        <p:nvSpPr>
          <p:cNvPr id="332" name="Google Shape;332;p40"/>
          <p:cNvSpPr txBox="1"/>
          <p:nvPr>
            <p:ph type="body" idx="1"/>
          </p:nvPr>
        </p:nvSpPr>
        <p:spPr>
          <a:xfrm>
            <a:off x="457200" y="643812"/>
            <a:ext cx="8229600" cy="41148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sz="1800"/>
          </a:p>
          <a:p>
            <a:pPr marL="114300" lvl="0" indent="0" algn="l" rtl="0">
              <a:lnSpc>
                <a:spcPct val="100000"/>
              </a:lnSpc>
              <a:spcBef>
                <a:spcPts val="360"/>
              </a:spcBef>
              <a:spcAft>
                <a:spcPts val="0"/>
              </a:spcAft>
              <a:buSzPts val="1800"/>
              <a:buNone/>
            </a:pPr>
            <a:endParaRPr sz="1800"/>
          </a:p>
          <a:p>
            <a:pPr marL="114300" lvl="0" indent="0" algn="l" rtl="0">
              <a:lnSpc>
                <a:spcPct val="100000"/>
              </a:lnSpc>
              <a:spcBef>
                <a:spcPts val="360"/>
              </a:spcBef>
              <a:spcAft>
                <a:spcPts val="0"/>
              </a:spcAft>
              <a:buSzPts val="1800"/>
              <a:buNone/>
            </a:pPr>
            <a:endParaRPr sz="1800"/>
          </a:p>
          <a:p>
            <a:pPr marL="114300" lvl="0" indent="0" algn="ctr" rtl="0">
              <a:lnSpc>
                <a:spcPct val="100000"/>
              </a:lnSpc>
              <a:spcBef>
                <a:spcPts val="360"/>
              </a:spcBef>
              <a:spcAft>
                <a:spcPts val="0"/>
              </a:spcAft>
              <a:buSzPts val="1800"/>
              <a:buNone/>
            </a:pPr>
            <a:r>
              <a:rPr lang="en-IN" sz="4000"/>
              <a:t>THANK YOU ALL</a:t>
            </a:r>
            <a:endParaRPr lang="en-IN" sz="4000"/>
          </a:p>
          <a:p>
            <a:pPr marL="114300" lvl="0" indent="0" algn="ctr" rtl="0">
              <a:lnSpc>
                <a:spcPct val="100000"/>
              </a:lnSpc>
              <a:spcBef>
                <a:spcPts val="360"/>
              </a:spcBef>
              <a:spcAft>
                <a:spcPts val="0"/>
              </a:spcAft>
              <a:buSzPts val="1800"/>
              <a:buNone/>
            </a:pPr>
            <a:r>
              <a:rPr lang="en-IN" sz="1600"/>
              <a:t>BY</a:t>
            </a:r>
            <a:endParaRPr lang="en-IN" sz="1600"/>
          </a:p>
          <a:p>
            <a:pPr marL="114300" lvl="0" indent="0" algn="ctr" rtl="0">
              <a:lnSpc>
                <a:spcPct val="100000"/>
              </a:lnSpc>
              <a:spcBef>
                <a:spcPts val="360"/>
              </a:spcBef>
              <a:spcAft>
                <a:spcPts val="0"/>
              </a:spcAft>
              <a:buSzPts val="1800"/>
              <a:buNone/>
            </a:pPr>
            <a:r>
              <a:rPr lang="en-US" altLang="en-IN" sz="1800"/>
              <a:t>SUDHAN VENU</a:t>
            </a:r>
            <a:endParaRPr lang="en-IN" sz="1800"/>
          </a:p>
          <a:p>
            <a:pPr marL="457200" lvl="0" indent="-228600" algn="l" rtl="0">
              <a:lnSpc>
                <a:spcPct val="100000"/>
              </a:lnSpc>
              <a:spcBef>
                <a:spcPts val="360"/>
              </a:spcBef>
              <a:spcAft>
                <a:spcPts val="0"/>
              </a:spcAft>
              <a:buSzPts val="1800"/>
              <a:buNone/>
            </a:pPr>
            <a:endParaRPr sz="1800"/>
          </a:p>
          <a:p>
            <a:pPr marL="114300" lvl="0" indent="0" algn="l" rtl="0">
              <a:lnSpc>
                <a:spcPct val="100000"/>
              </a:lnSpc>
              <a:spcBef>
                <a:spcPts val="360"/>
              </a:spcBef>
              <a:spcAft>
                <a:spcPts val="0"/>
              </a:spcAft>
              <a:buSzPts val="1800"/>
              <a:buNone/>
            </a:pPr>
            <a:endParaRPr sz="1800"/>
          </a:p>
          <a:p>
            <a:pPr marL="114300" lvl="0" indent="0" algn="l" rtl="0">
              <a:lnSpc>
                <a:spcPct val="100000"/>
              </a:lnSpc>
              <a:spcBef>
                <a:spcPts val="360"/>
              </a:spcBef>
              <a:spcAft>
                <a:spcPts val="0"/>
              </a:spcAft>
              <a:buSzPts val="1800"/>
              <a:buNone/>
            </a:pPr>
            <a:r>
              <a:rPr lang="en-IN" sz="1800"/>
              <a:t> </a:t>
            </a:r>
            <a:endParaRPr lang="en-IN" sz="1800"/>
          </a:p>
          <a:p>
            <a:pPr marL="114300" lvl="0" indent="0" algn="l" rtl="0">
              <a:lnSpc>
                <a:spcPct val="100000"/>
              </a:lnSpc>
              <a:spcBef>
                <a:spcPts val="360"/>
              </a:spcBef>
              <a:spcAft>
                <a:spcPts val="0"/>
              </a:spcAft>
              <a:buSzPts val="1800"/>
              <a:buNone/>
            </a:pPr>
            <a:endParaRPr sz="1800" b="1">
              <a:solidFill>
                <a:srgbClr val="C00000"/>
              </a:solidFill>
            </a:endParaRPr>
          </a:p>
          <a:p>
            <a:pPr marL="114300" lvl="0" indent="0" algn="l" rtl="0">
              <a:lnSpc>
                <a:spcPct val="100000"/>
              </a:lnSpc>
              <a:spcBef>
                <a:spcPts val="360"/>
              </a:spcBef>
              <a:spcAft>
                <a:spcPts val="0"/>
              </a:spcAft>
              <a:buSzPts val="1800"/>
              <a:buNone/>
            </a:pPr>
            <a:endParaRPr sz="1600"/>
          </a:p>
        </p:txBody>
      </p:sp>
      <p:sp>
        <p:nvSpPr>
          <p:cNvPr id="333" name="Google Shape;333;p4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334" name="Google Shape;334;p40"/>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9977</Words>
  <Application>WPS Presentation</Application>
  <PresentationFormat/>
  <Paragraphs>396</Paragraphs>
  <Slides>32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Arial</vt:lpstr>
      <vt:lpstr>SimSun</vt:lpstr>
      <vt:lpstr>Wingdings</vt:lpstr>
      <vt:lpstr>Arial</vt:lpstr>
      <vt:lpstr>Calibri</vt:lpstr>
      <vt:lpstr>Noto Sans Symbols</vt:lpstr>
      <vt:lpstr>Noto Sans</vt:lpstr>
      <vt:lpstr>Microsoft YaHei</vt:lpstr>
      <vt:lpstr>Arial Unicode MS</vt:lpstr>
      <vt:lpstr>Office Theme</vt:lpstr>
      <vt:lpstr>M.Sc. - Cyber Forensics &amp; Information Security </vt:lpstr>
      <vt:lpstr>INSURANCE</vt:lpstr>
      <vt:lpstr>INSURANCE</vt:lpstr>
      <vt:lpstr>INSURANCE</vt:lpstr>
      <vt:lpstr>INSURANCE</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FRAUDS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 Cyber Forensics &amp; Information Security </dc:title>
  <dc:creator/>
  <cp:lastModifiedBy>Sudhan Venu</cp:lastModifiedBy>
  <cp:revision>2</cp:revision>
  <dcterms:created xsi:type="dcterms:W3CDTF">2025-09-14T05:36:40Z</dcterms:created>
  <dcterms:modified xsi:type="dcterms:W3CDTF">2025-09-14T05:37:07Z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BAE69A0D7D46489BABA5936904434432_12</vt:lpwstr>
  </property>
  <property fmtid="{D5CDD505-2E9C-101B-9397-08002B2CF9AE}" pid="3" name="KSOProductBuildVer">
    <vt:lpwstr>1033-12.2.0.22549</vt:lpwstr>
  </property>
</Properties>
</file>